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-1234440"/>
            <a:ext cx="5120640" cy="5120640"/>
          </a:xfrm>
          <a:prstGeom prst="ellipse">
            <a:avLst/>
          </a:prstGeom>
          <a:solidFill>
            <a:srgbClr val="7C947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108960"/>
            <a:ext cx="2926080" cy="2926080"/>
          </a:xfrm>
          <a:prstGeom prst="ellipse">
            <a:avLst/>
          </a:prstGeom>
          <a:solidFill>
            <a:srgbClr val="C9A66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89520" y="4480560"/>
            <a:ext cx="1371600" cy="1371600"/>
          </a:xfrm>
          <a:prstGeom prst="ellipse">
            <a:avLst/>
          </a:prstGeom>
          <a:solidFill>
            <a:srgbClr val="7C947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spc="350">
                <a:solidFill>
                  <a:srgbClr val="C9A66B"/>
                </a:solidFill>
                <a:latin typeface="Calibri"/>
              </a:rPr>
              <a:t>HALTEV STUDY 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6F3E7"/>
                </a:solidFill>
                <a:latin typeface="Poppin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61488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C9473"/>
                </a:solidFill>
                <a:latin typeface="Poppins"/>
              </a:rPr>
              <a:t>ANALYST UNSIKA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77056"/>
            <a:ext cx="7132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7C9A8"/>
                </a:solidFill>
                <a:latin typeface="Calibri"/>
              </a:rPr>
              <a:t>Pertemuan 2 — Logika, Perulangan, dan 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230368"/>
            <a:ext cx="214884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30368"/>
            <a:ext cx="2148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B7C9A8"/>
                </a:solidFill>
                <a:latin typeface="Calibri"/>
              </a:rPr>
              <a:t>19.30–21.00 WIB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5230368"/>
            <a:ext cx="214884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5230368"/>
            <a:ext cx="2148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B7C9A8"/>
                </a:solidFill>
                <a:latin typeface="Calibri"/>
              </a:rPr>
              <a:t>Google Colab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5230368"/>
            <a:ext cx="214884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5230368"/>
            <a:ext cx="2148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B7C9A8"/>
                </a:solidFill>
                <a:latin typeface="Calibri"/>
              </a:rPr>
              <a:t>Python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144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F8264"/>
                </a:solidFill>
                <a:latin typeface="Calibri"/>
              </a:rPr>
              <a:t>Tutor: Vanya Mayazura  ·  Software Engineer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PERTEMUAN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Gambaran Sesi 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63040"/>
            <a:ext cx="3977639" cy="8686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spc="150">
                <a:solidFill>
                  <a:srgbClr val="C9A66B"/>
                </a:solidFill>
                <a:latin typeface="Calibri"/>
              </a:rPr>
              <a:t>DURASI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6F3E7"/>
                </a:solidFill>
                <a:latin typeface="Calibri"/>
              </a:rPr>
              <a:t>19.30–21.00 WIB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450592"/>
            <a:ext cx="3977639" cy="8686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spc="150">
                <a:solidFill>
                  <a:srgbClr val="C9A66B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6F3E7"/>
                </a:solidFill>
                <a:latin typeface="Calibri"/>
              </a:rPr>
              <a:t>Google Colab, Python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438144"/>
            <a:ext cx="3977639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21024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spc="150">
                <a:solidFill>
                  <a:srgbClr val="C9A66B"/>
                </a:solidFill>
                <a:latin typeface="Calibri"/>
              </a:rPr>
              <a:t>OUTPUT SESI 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95344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Peserta dapat membuat program yang mengambil keputusan sendiri (if), mengulang pekerjaan (for/while), dan membungkus kode berulang jadi function yang bisa dipakai lagi.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63040"/>
            <a:ext cx="6720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6F3E7"/>
                </a:solidFill>
                <a:latin typeface="Poppins"/>
              </a:rPr>
              <a:t>Tujuan Belajar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1975104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1956816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Menggunakan if/elif/else untuk mengambil keputusan.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2770632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752344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Menggunakan operator logika and, or, not untuk mengecek beberapa syarat sekaligus.</a:t>
            </a:r>
          </a:p>
        </p:txBody>
      </p:sp>
      <p:sp>
        <p:nvSpPr>
          <p:cNvPr id="18" name="Oval 17"/>
          <p:cNvSpPr/>
          <p:nvPr/>
        </p:nvSpPr>
        <p:spPr>
          <a:xfrm>
            <a:off x="4892040" y="3566160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3547872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Menggunakan for dan while secara tepat, termasuk range(), enumerate(), break, dan continue.</a:t>
            </a:r>
          </a:p>
        </p:txBody>
      </p:sp>
      <p:sp>
        <p:nvSpPr>
          <p:cNvPr id="20" name="Oval 19"/>
          <p:cNvSpPr/>
          <p:nvPr/>
        </p:nvSpPr>
        <p:spPr>
          <a:xfrm>
            <a:off x="4892040" y="4361688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4343400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Membuat function dengan parameter, nilai default, dan return.</a:t>
            </a:r>
          </a:p>
        </p:txBody>
      </p:sp>
      <p:sp>
        <p:nvSpPr>
          <p:cNvPr id="22" name="Oval 21"/>
          <p:cNvSpPr/>
          <p:nvPr/>
        </p:nvSpPr>
        <p:spPr>
          <a:xfrm>
            <a:off x="4892040" y="5157216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5138928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Menulis list comprehension sebagai bentuk ringkas dari for yang sudah dipahami.</a:t>
            </a:r>
          </a:p>
        </p:txBody>
      </p:sp>
      <p:sp>
        <p:nvSpPr>
          <p:cNvPr id="24" name="Oval 23"/>
          <p:cNvSpPr/>
          <p:nvPr/>
        </p:nvSpPr>
        <p:spPr>
          <a:xfrm>
            <a:off x="4892040" y="5952744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4104" y="5934456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Mengenal konsep class/object sebagai pengantar OOP.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PERTEMUAN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Rundown Sesi 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2194560" cy="457200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spc="100">
                <a:solidFill>
                  <a:srgbClr val="C9A66B"/>
                </a:solidFill>
                <a:latin typeface="Calibri"/>
              </a:rPr>
              <a:t>WAKTU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1488" y="1536192"/>
            <a:ext cx="8860536" cy="457200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4368" y="1536192"/>
            <a:ext cx="85862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spc="100">
                <a:solidFill>
                  <a:srgbClr val="C9A66B"/>
                </a:solidFill>
                <a:latin typeface="Calibri"/>
              </a:rPr>
              <a:t>AKTIVITAS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93392"/>
            <a:ext cx="2194560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19.30–19.40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93392"/>
            <a:ext cx="8860536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9933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Review dan bedah satu jawaban kuis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50592"/>
            <a:ext cx="2194560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505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19.40–20.05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450592"/>
            <a:ext cx="8860536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4505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Conditional dengan kasus diskon toko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07792"/>
            <a:ext cx="2194560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9077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20.05–20.30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2907792"/>
            <a:ext cx="8860536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29077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for, while, range, dan enumerate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64992"/>
            <a:ext cx="2194560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649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20.30–20.50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3364992"/>
            <a:ext cx="8860536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33649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Function, parameter, return, latihan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822192"/>
            <a:ext cx="2194560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8221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20.50–20.55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822192"/>
            <a:ext cx="8860536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4368" y="38221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Wawasan OOP: class dan object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279392"/>
            <a:ext cx="2194560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2793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20.55–21.00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61488" y="4279392"/>
            <a:ext cx="8860536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42793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Rangkuman dan kuis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Dari Data ke Keputusan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Sejauh ini di pertemuan 1, program kita cuma menjalankan kode dari atas ke bawah tanpa memilih apa-apa — apa pun datanya, alurnya selalu sama. Padahal program yang berguna biasanya perlu </a:t>
            </a:r>
            <a:r>
              <a:rPr sz="1450" b="1">
                <a:solidFill>
                  <a:srgbClr val="F6F3E7"/>
                </a:solidFill>
                <a:latin typeface="Calibri"/>
              </a:rPr>
              <a:t>mengambil keputusan</a:t>
            </a:r>
            <a:r>
              <a:rPr sz="1450">
                <a:solidFill>
                  <a:srgbClr val="F6F3E7"/>
                </a:solidFill>
                <a:latin typeface="Calibri"/>
              </a:rPr>
              <a:t>: kasir perlu tahu apakah pembeli dapat diskon atau tidak, sistem perlu tahu apakah stok masih ada atau habis.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2322575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304287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Operator perbandingan yang sudah dipelajari (</a:t>
            </a:r>
            <a:r>
              <a:rPr sz="1250">
                <a:solidFill>
                  <a:srgbClr val="C9A66B"/>
                </a:solidFill>
                <a:latin typeface="Consolas"/>
              </a:rPr>
              <a:t>&gt;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&lt;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&gt;=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&lt;=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==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!=</a:t>
            </a:r>
            <a:r>
              <a:rPr sz="1350">
                <a:solidFill>
                  <a:srgbClr val="B7C9A8"/>
                </a:solidFill>
                <a:latin typeface="Calibri"/>
              </a:rPr>
              <a:t>) menghasilkan </a:t>
            </a:r>
            <a:r>
              <a:rPr sz="1250">
                <a:solidFill>
                  <a:srgbClr val="C9A66B"/>
                </a:solidFill>
                <a:latin typeface="Consolas"/>
              </a:rPr>
              <a:t>True</a:t>
            </a:r>
            <a:r>
              <a:rPr sz="1350">
                <a:solidFill>
                  <a:srgbClr val="B7C9A8"/>
                </a:solidFill>
                <a:latin typeface="Calibri"/>
              </a:rPr>
              <a:t> atau </a:t>
            </a:r>
            <a:r>
              <a:rPr sz="1250">
                <a:solidFill>
                  <a:srgbClr val="C9A66B"/>
                </a:solidFill>
                <a:latin typeface="Consolas"/>
              </a:rPr>
              <a:t>False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118103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099815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True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False</a:t>
            </a:r>
            <a:r>
              <a:rPr sz="1350">
                <a:solidFill>
                  <a:srgbClr val="B7C9A8"/>
                </a:solidFill>
                <a:latin typeface="Calibri"/>
              </a:rPr>
              <a:t> inilah yang dipakai program untuk memutuskan jalur mana yang dijalankan — disebut </a:t>
            </a:r>
            <a:r>
              <a:rPr sz="1350" b="1">
                <a:solidFill>
                  <a:srgbClr val="F6F3E7"/>
                </a:solidFill>
                <a:latin typeface="Calibri"/>
              </a:rPr>
              <a:t>conditional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13631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895343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Bayangkan lampu lalu lintas: programnya sama, tapi jalur yang diambil beda tergantung warna lampu saat itu.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2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if dan else: Dua Jalur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F6F3E7"/>
                </a:solidFill>
                <a:latin typeface="Calibri"/>
              </a:rPr>
              <a:t>if</a:t>
            </a:r>
            <a:r>
              <a:rPr sz="1450">
                <a:solidFill>
                  <a:srgbClr val="F6F3E7"/>
                </a:solidFill>
                <a:latin typeface="Calibri"/>
              </a:rPr>
              <a:t> menjalankan sebuah blok kode hanya kalau kondisinya </a:t>
            </a:r>
            <a:r>
              <a:rPr sz="1350">
                <a:solidFill>
                  <a:srgbClr val="C9A66B"/>
                </a:solidFill>
                <a:latin typeface="Consolas"/>
              </a:rPr>
              <a:t>True</a:t>
            </a:r>
            <a:r>
              <a:rPr sz="1450">
                <a:solidFill>
                  <a:srgbClr val="F6F3E7"/>
                </a:solidFill>
                <a:latin typeface="Calibri"/>
              </a:rPr>
              <a:t>. </a:t>
            </a:r>
            <a:r>
              <a:rPr sz="1450" b="1">
                <a:solidFill>
                  <a:srgbClr val="F6F3E7"/>
                </a:solidFill>
                <a:latin typeface="Calibri"/>
              </a:rPr>
              <a:t>else</a:t>
            </a:r>
            <a:r>
              <a:rPr sz="1450">
                <a:solidFill>
                  <a:srgbClr val="F6F3E7"/>
                </a:solidFill>
                <a:latin typeface="Calibri"/>
              </a:rPr>
              <a:t> menampung jalur satunya, kalau kondisinya </a:t>
            </a:r>
            <a:r>
              <a:rPr sz="1350">
                <a:solidFill>
                  <a:srgbClr val="C9A66B"/>
                </a:solidFill>
                <a:latin typeface="Consolas"/>
              </a:rPr>
              <a:t>False</a:t>
            </a:r>
            <a:r>
              <a:rPr sz="1450">
                <a:solidFill>
                  <a:srgbClr val="F6F3E7"/>
                </a:solidFill>
                <a:latin typeface="Calibr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48256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48256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stok = 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if stok &gt; 0: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print("Barang tersedia")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else: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print("Stok habis")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82219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80390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Baris di dalam </a:t>
            </a:r>
            <a:r>
              <a:rPr sz="1250">
                <a:solidFill>
                  <a:srgbClr val="C9A66B"/>
                </a:solidFill>
                <a:latin typeface="Consolas"/>
              </a:rPr>
              <a:t>if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else</a:t>
            </a:r>
            <a:r>
              <a:rPr sz="1350">
                <a:solidFill>
                  <a:srgbClr val="B7C9A8"/>
                </a:solidFill>
                <a:latin typeface="Calibri"/>
              </a:rPr>
              <a:t> harus </a:t>
            </a:r>
            <a:r>
              <a:rPr sz="1350" b="1">
                <a:solidFill>
                  <a:srgbClr val="F6F3E7"/>
                </a:solidFill>
                <a:latin typeface="Calibri"/>
              </a:rPr>
              <a:t>menjorok ke dalam</a:t>
            </a:r>
            <a:r>
              <a:rPr sz="1350">
                <a:solidFill>
                  <a:srgbClr val="B7C9A8"/>
                </a:solidFill>
                <a:latin typeface="Calibri"/>
              </a:rPr>
              <a:t> (indentasi) — dibahas lebih detail di sub-bab berikutnya.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6177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5994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Kalau cuma ada </a:t>
            </a:r>
            <a:r>
              <a:rPr sz="1250">
                <a:solidFill>
                  <a:srgbClr val="C9A66B"/>
                </a:solidFill>
                <a:latin typeface="Consolas"/>
              </a:rPr>
              <a:t>if</a:t>
            </a:r>
            <a:r>
              <a:rPr sz="1350">
                <a:solidFill>
                  <a:srgbClr val="B7C9A8"/>
                </a:solidFill>
                <a:latin typeface="Calibri"/>
              </a:rPr>
              <a:t> tanpa </a:t>
            </a:r>
            <a:r>
              <a:rPr sz="1250">
                <a:solidFill>
                  <a:srgbClr val="C9A66B"/>
                </a:solidFill>
                <a:latin typeface="Consolas"/>
              </a:rPr>
              <a:t>else</a:t>
            </a:r>
            <a:r>
              <a:rPr sz="1350">
                <a:solidFill>
                  <a:srgbClr val="B7C9A8"/>
                </a:solidFill>
                <a:latin typeface="Calibri"/>
              </a:rPr>
              <a:t>, program tetap jalan seperti biasa saat kondisinya </a:t>
            </a:r>
            <a:r>
              <a:rPr sz="1250">
                <a:solidFill>
                  <a:srgbClr val="C9A66B"/>
                </a:solidFill>
                <a:latin typeface="Consolas"/>
              </a:rPr>
              <a:t>False</a:t>
            </a:r>
            <a:r>
              <a:rPr sz="1350">
                <a:solidFill>
                  <a:srgbClr val="B7C9A8"/>
                </a:solidFill>
                <a:latin typeface="Calibri"/>
              </a:rPr>
              <a:t>, cuma blok </a:t>
            </a:r>
            <a:r>
              <a:rPr sz="1250">
                <a:solidFill>
                  <a:srgbClr val="C9A66B"/>
                </a:solidFill>
                <a:latin typeface="Consolas"/>
              </a:rPr>
              <a:t>if</a:t>
            </a:r>
            <a:r>
              <a:rPr sz="1350">
                <a:solidFill>
                  <a:srgbClr val="B7C9A8"/>
                </a:solidFill>
                <a:latin typeface="Calibri"/>
              </a:rPr>
              <a:t>-nya dilewati.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2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if dan else: Dua Jalur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Analoginya seperti pintu otomatis: kalau ada orang (</a:t>
            </a:r>
            <a:r>
              <a:rPr sz="1250">
                <a:solidFill>
                  <a:srgbClr val="C9A66B"/>
                </a:solidFill>
                <a:latin typeface="Consolas"/>
              </a:rPr>
              <a:t>True</a:t>
            </a:r>
            <a:r>
              <a:rPr sz="1350">
                <a:solidFill>
                  <a:srgbClr val="B7C9A8"/>
                </a:solidFill>
                <a:latin typeface="Calibri"/>
              </a:rPr>
              <a:t>) pintu terbuka, kalau tidak (</a:t>
            </a:r>
            <a:r>
              <a:rPr sz="1250">
                <a:solidFill>
                  <a:srgbClr val="C9A66B"/>
                </a:solidFill>
                <a:latin typeface="Consolas"/>
              </a:rPr>
              <a:t>False</a:t>
            </a:r>
            <a:r>
              <a:rPr sz="1350">
                <a:solidFill>
                  <a:srgbClr val="B7C9A8"/>
                </a:solidFill>
                <a:latin typeface="Calibri"/>
              </a:rPr>
              <a:t>) pintu tetap tertutup — tidak ada jalur ketiga.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3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if/elif/else: Banyak Jalur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Kalau pilihannya lebih dari dua, tambahkan </a:t>
            </a:r>
            <a:r>
              <a:rPr sz="1450" b="1">
                <a:solidFill>
                  <a:srgbClr val="F6F3E7"/>
                </a:solidFill>
                <a:latin typeface="Calibri"/>
              </a:rPr>
              <a:t>elif</a:t>
            </a:r>
            <a:r>
              <a:rPr sz="1450">
                <a:solidFill>
                  <a:srgbClr val="F6F3E7"/>
                </a:solidFill>
                <a:latin typeface="Calibri"/>
              </a:rPr>
              <a:t> (singkatan dari "else if") di antara </a:t>
            </a:r>
            <a:r>
              <a:rPr sz="1350">
                <a:solidFill>
                  <a:srgbClr val="C9A66B"/>
                </a:solidFill>
                <a:latin typeface="Consolas"/>
              </a:rPr>
              <a:t>if</a:t>
            </a:r>
            <a:r>
              <a:rPr sz="1450">
                <a:solidFill>
                  <a:srgbClr val="F6F3E7"/>
                </a:solidFill>
                <a:latin typeface="Calibri"/>
              </a:rPr>
              <a:t> dan </a:t>
            </a:r>
            <a:r>
              <a:rPr sz="1350">
                <a:solidFill>
                  <a:srgbClr val="C9A66B"/>
                </a:solidFill>
                <a:latin typeface="Consolas"/>
              </a:rPr>
              <a:t>else</a:t>
            </a:r>
            <a:r>
              <a:rPr sz="1450">
                <a:solidFill>
                  <a:srgbClr val="F6F3E7"/>
                </a:solidFill>
                <a:latin typeface="Calibr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73936"/>
            <a:ext cx="11055096" cy="24688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54864" cy="246888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978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total_belanja = 175000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if total_belanja &gt;= 200000: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diskon = 0.15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elif total_belanja &gt;= 100000: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diskon = 0.10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else: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diskon = 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print(f"Diskon: {diskon:.0%}")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3891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43708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Python mengecek dari atas: </a:t>
            </a:r>
            <a:r>
              <a:rPr sz="1250">
                <a:solidFill>
                  <a:srgbClr val="C9A66B"/>
                </a:solidFill>
                <a:latin typeface="Consolas"/>
              </a:rPr>
              <a:t>if</a:t>
            </a:r>
            <a:r>
              <a:rPr sz="1350">
                <a:solidFill>
                  <a:srgbClr val="B7C9A8"/>
                </a:solidFill>
                <a:latin typeface="Calibri"/>
              </a:rPr>
              <a:t> dulu, kalau </a:t>
            </a:r>
            <a:r>
              <a:rPr sz="1250">
                <a:solidFill>
                  <a:srgbClr val="C9A66B"/>
                </a:solidFill>
                <a:latin typeface="Consolas"/>
              </a:rPr>
              <a:t>False</a:t>
            </a:r>
            <a:r>
              <a:rPr sz="1350">
                <a:solidFill>
                  <a:srgbClr val="B7C9A8"/>
                </a:solidFill>
                <a:latin typeface="Calibri"/>
              </a:rPr>
              <a:t> baru cek </a:t>
            </a:r>
            <a:r>
              <a:rPr sz="1250">
                <a:solidFill>
                  <a:srgbClr val="C9A66B"/>
                </a:solidFill>
                <a:latin typeface="Consolas"/>
              </a:rPr>
              <a:t>elif</a:t>
            </a:r>
            <a:r>
              <a:rPr sz="1350">
                <a:solidFill>
                  <a:srgbClr val="B7C9A8"/>
                </a:solidFill>
                <a:latin typeface="Calibri"/>
              </a:rPr>
              <a:t> berikutnya, begitu seterusnya sampai ada yang </a:t>
            </a:r>
            <a:r>
              <a:rPr sz="1250">
                <a:solidFill>
                  <a:srgbClr val="C9A66B"/>
                </a:solidFill>
                <a:latin typeface="Consolas"/>
              </a:rPr>
              <a:t>True</a:t>
            </a:r>
            <a:r>
              <a:rPr sz="1350">
                <a:solidFill>
                  <a:srgbClr val="B7C9A8"/>
                </a:solidFill>
                <a:latin typeface="Calibri"/>
              </a:rPr>
              <a:t> atau sampai jatuh ke </a:t>
            </a:r>
            <a:r>
              <a:rPr sz="1250">
                <a:solidFill>
                  <a:srgbClr val="C9A66B"/>
                </a:solidFill>
                <a:latin typeface="Consolas"/>
              </a:rPr>
              <a:t>else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535838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534009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elif</a:t>
            </a:r>
            <a:r>
              <a:rPr sz="1350">
                <a:solidFill>
                  <a:srgbClr val="B7C9A8"/>
                </a:solidFill>
                <a:latin typeface="Calibri"/>
              </a:rPr>
              <a:t> boleh ditulis berkali-kali, tapi </a:t>
            </a:r>
            <a:r>
              <a:rPr sz="1250">
                <a:solidFill>
                  <a:srgbClr val="C9A66B"/>
                </a:solidFill>
                <a:latin typeface="Consolas"/>
              </a:rPr>
              <a:t>else</a:t>
            </a:r>
            <a:r>
              <a:rPr sz="1350">
                <a:solidFill>
                  <a:srgbClr val="B7C9A8"/>
                </a:solidFill>
                <a:latin typeface="Calibri"/>
              </a:rPr>
              <a:t> di paling akhir maksimal satu dan sifatnya opsional.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3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if/elif/else: Banyak Jalur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Begitu satu kondisi ketemu </a:t>
            </a:r>
            <a:r>
              <a:rPr sz="1250">
                <a:solidFill>
                  <a:srgbClr val="C9A66B"/>
                </a:solidFill>
                <a:latin typeface="Consolas"/>
              </a:rPr>
              <a:t>True</a:t>
            </a:r>
            <a:r>
              <a:rPr sz="1350">
                <a:solidFill>
                  <a:srgbClr val="B7C9A8"/>
                </a:solidFill>
                <a:latin typeface="Calibri"/>
              </a:rPr>
              <a:t>, sisanya otomatis dilewati — tidak dicek lagi meski sebenarnya juga </a:t>
            </a:r>
            <a:r>
              <a:rPr sz="1250">
                <a:solidFill>
                  <a:srgbClr val="C9A66B"/>
                </a:solidFill>
                <a:latin typeface="Consolas"/>
              </a:rPr>
              <a:t>True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157984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diagram alur (flowchart) kotak if → panah "False" ke elif → panah "False" ke else, tiap kotak kondisi bercabang ke kotak hasil.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3 DARI 15 —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Alur if / elif / else</a:t>
            </a:r>
          </a:p>
        </p:txBody>
      </p:sp>
      <p:pic>
        <p:nvPicPr>
          <p:cNvPr id="4" name="Picture 3" descr="diagram_ifelife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09" y="1417320"/>
            <a:ext cx="820747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4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Indentasi: Aturan Main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Python </a:t>
            </a:r>
            <a:r>
              <a:rPr sz="1450" b="1">
                <a:solidFill>
                  <a:srgbClr val="F6F3E7"/>
                </a:solidFill>
                <a:latin typeface="Calibri"/>
              </a:rPr>
              <a:t>tidak pakai</a:t>
            </a:r>
            <a:r>
              <a:rPr sz="1450">
                <a:solidFill>
                  <a:srgbClr val="F6F3E7"/>
                </a:solidFill>
                <a:latin typeface="Calibri"/>
              </a:rPr>
              <a:t> kurung kurawal </a:t>
            </a:r>
            <a:r>
              <a:rPr sz="1350">
                <a:solidFill>
                  <a:srgbClr val="C9A66B"/>
                </a:solidFill>
                <a:latin typeface="Consolas"/>
              </a:rPr>
              <a:t>{ }</a:t>
            </a:r>
            <a:r>
              <a:rPr sz="1450">
                <a:solidFill>
                  <a:srgbClr val="F6F3E7"/>
                </a:solidFill>
                <a:latin typeface="Calibri"/>
              </a:rPr>
              <a:t> untuk menandai isi sebuah blok kode seperti banyak bahasa lain — Python pakai </a:t>
            </a:r>
            <a:r>
              <a:rPr sz="1450" b="1">
                <a:solidFill>
                  <a:srgbClr val="F6F3E7"/>
                </a:solidFill>
                <a:latin typeface="Calibri"/>
              </a:rPr>
              <a:t>indentasi</a:t>
            </a:r>
            <a:r>
              <a:rPr sz="1450">
                <a:solidFill>
                  <a:srgbClr val="F6F3E7"/>
                </a:solidFill>
                <a:latin typeface="Calibri"/>
              </a:rPr>
              <a:t> (spasi di awal baris).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48256"/>
            <a:ext cx="11055096" cy="135331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48256"/>
            <a:ext cx="54864" cy="135331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105978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if total_belanja &gt;= 100000: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diskon = 0.10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print("Selamat, dapat diskon!")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print("Transaksi selesai")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54787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52958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Baris </a:t>
            </a:r>
            <a:r>
              <a:rPr sz="1250">
                <a:solidFill>
                  <a:srgbClr val="C9A66B"/>
                </a:solidFill>
                <a:latin typeface="Consolas"/>
              </a:rPr>
              <a:t>diskon = 0.10</a:t>
            </a:r>
            <a:r>
              <a:rPr sz="1350">
                <a:solidFill>
                  <a:srgbClr val="B7C9A8"/>
                </a:solidFill>
                <a:latin typeface="Calibri"/>
              </a:rPr>
              <a:t> dan </a:t>
            </a:r>
            <a:r>
              <a:rPr sz="1250">
                <a:solidFill>
                  <a:srgbClr val="C9A66B"/>
                </a:solidFill>
                <a:latin typeface="Consolas"/>
              </a:rPr>
              <a:t>print("Selamat...")</a:t>
            </a:r>
            <a:r>
              <a:rPr sz="1350">
                <a:solidFill>
                  <a:srgbClr val="B7C9A8"/>
                </a:solidFill>
                <a:latin typeface="Calibri"/>
              </a:rPr>
              <a:t> sama-sama menjorok — keduanya </a:t>
            </a:r>
            <a:r>
              <a:rPr sz="1350" b="1">
                <a:solidFill>
                  <a:srgbClr val="F6F3E7"/>
                </a:solidFill>
                <a:latin typeface="Calibri"/>
              </a:rPr>
              <a:t>bagian dari</a:t>
            </a:r>
            <a:r>
              <a:rPr sz="1350">
                <a:solidFill>
                  <a:srgbClr val="B7C9A8"/>
                </a:solidFill>
                <a:latin typeface="Calibri"/>
              </a:rPr>
              <a:t> blok </a:t>
            </a:r>
            <a:r>
              <a:rPr sz="1250">
                <a:solidFill>
                  <a:srgbClr val="C9A66B"/>
                </a:solidFill>
                <a:latin typeface="Consolas"/>
              </a:rPr>
              <a:t>if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34340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32511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Baris terakhir </a:t>
            </a:r>
            <a:r>
              <a:rPr sz="1250">
                <a:solidFill>
                  <a:srgbClr val="C9A66B"/>
                </a:solidFill>
                <a:latin typeface="Consolas"/>
              </a:rPr>
              <a:t>print("Transaksi selesai")</a:t>
            </a:r>
            <a:r>
              <a:rPr sz="1350">
                <a:solidFill>
                  <a:srgbClr val="B7C9A8"/>
                </a:solidFill>
                <a:latin typeface="Calibri"/>
              </a:rPr>
              <a:t> tidak menjorok — artinya dia </a:t>
            </a:r>
            <a:r>
              <a:rPr sz="1350" b="1">
                <a:solidFill>
                  <a:srgbClr val="F6F3E7"/>
                </a:solidFill>
                <a:latin typeface="Calibri"/>
              </a:rPr>
              <a:t>selalu</a:t>
            </a:r>
            <a:r>
              <a:rPr sz="1350">
                <a:solidFill>
                  <a:srgbClr val="B7C9A8"/>
                </a:solidFill>
                <a:latin typeface="Calibri"/>
              </a:rPr>
              <a:t> jalan, di luar blok </a:t>
            </a:r>
            <a:r>
              <a:rPr sz="1250">
                <a:solidFill>
                  <a:srgbClr val="C9A66B"/>
                </a:solidFill>
                <a:latin typeface="Consolas"/>
              </a:rPr>
              <a:t>if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513892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512064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Indentasi yang tidak konsisten (misalnya campur tab dan spasi, atau lupa menjorok) menghasilkan </a:t>
            </a:r>
            <a:r>
              <a:rPr sz="1250">
                <a:solidFill>
                  <a:srgbClr val="C9A66B"/>
                </a:solidFill>
                <a:latin typeface="Consolas"/>
              </a:rPr>
              <a:t>IndentationError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4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Indentasi: Aturan Main Python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Jebakan umum lain: menulis </a:t>
            </a:r>
            <a:r>
              <a:rPr sz="1250">
                <a:solidFill>
                  <a:srgbClr val="C9A66B"/>
                </a:solidFill>
                <a:latin typeface="Consolas"/>
              </a:rPr>
              <a:t>if nilai = 80:</a:t>
            </a:r>
            <a:r>
              <a:rPr sz="1350">
                <a:solidFill>
                  <a:srgbClr val="B7C9A8"/>
                </a:solidFill>
                <a:latin typeface="Calibri"/>
              </a:rPr>
              <a:t> (satu sama dengan) padahal maksudnya membandingkan, bukan mengisi nilai. Tanda </a:t>
            </a:r>
            <a:r>
              <a:rPr sz="1250">
                <a:solidFill>
                  <a:srgbClr val="C9A66B"/>
                </a:solidFill>
                <a:latin typeface="Consolas"/>
              </a:rPr>
              <a:t>=</a:t>
            </a:r>
            <a:r>
              <a:rPr sz="1350">
                <a:solidFill>
                  <a:srgbClr val="B7C9A8"/>
                </a:solidFill>
                <a:latin typeface="Calibri"/>
              </a:rPr>
              <a:t> itu untuk </a:t>
            </a:r>
            <a:r>
              <a:rPr sz="1350" b="1">
                <a:solidFill>
                  <a:srgbClr val="F6F3E7"/>
                </a:solidFill>
                <a:latin typeface="Calibri"/>
              </a:rPr>
              <a:t>menyimpan</a:t>
            </a:r>
            <a:r>
              <a:rPr sz="1350">
                <a:solidFill>
                  <a:srgbClr val="B7C9A8"/>
                </a:solidFill>
                <a:latin typeface="Calibri"/>
              </a:rPr>
              <a:t> nilai, tanda </a:t>
            </a:r>
            <a:r>
              <a:rPr sz="1250">
                <a:solidFill>
                  <a:srgbClr val="C9A66B"/>
                </a:solidFill>
                <a:latin typeface="Consolas"/>
              </a:rPr>
              <a:t>==</a:t>
            </a:r>
            <a:r>
              <a:rPr sz="1350">
                <a:solidFill>
                  <a:srgbClr val="B7C9A8"/>
                </a:solidFill>
                <a:latin typeface="Calibri"/>
              </a:rPr>
              <a:t> untuk </a:t>
            </a:r>
            <a:r>
              <a:rPr sz="1350" b="1">
                <a:solidFill>
                  <a:srgbClr val="F6F3E7"/>
                </a:solidFill>
                <a:latin typeface="Calibri"/>
              </a:rPr>
              <a:t>membandingkan</a:t>
            </a:r>
            <a:r>
              <a:rPr sz="1350">
                <a:solidFill>
                  <a:srgbClr val="B7C9A8"/>
                </a:solidFill>
                <a:latin typeface="Calibri"/>
              </a:rPr>
              <a:t> — keduanya beda tombol, beda arti, dan sering tertukar bahkan oleh yang sudah lama coding.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5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Operator Logika: and, or,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Kadang satu kondisi saja tidak cukup — perlu mengecek </a:t>
            </a:r>
            <a:r>
              <a:rPr sz="1450" b="1">
                <a:solidFill>
                  <a:srgbClr val="F6F3E7"/>
                </a:solidFill>
                <a:latin typeface="Calibri"/>
              </a:rPr>
              <a:t>beberapa syarat sekaligus</a:t>
            </a:r>
            <a:r>
              <a:rPr sz="1450">
                <a:solidFill>
                  <a:srgbClr val="F6F3E7"/>
                </a:solidFill>
                <a:latin typeface="Calibri"/>
              </a:rPr>
              <a:t>. Di sinilah operator logika dipakai.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73936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member = True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total_belanja = 120000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if member and total_belanja &gt;= 100000: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print("Dapat promo member!")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547872"/>
            <a:ext cx="128016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547872"/>
            <a:ext cx="1097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C9A66B"/>
                </a:solidFill>
                <a:latin typeface="Calibri"/>
              </a:rPr>
              <a:t>OPERATOR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7088" y="3547872"/>
            <a:ext cx="237744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56816" y="3547872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C9A66B"/>
                </a:solidFill>
                <a:latin typeface="Calibri"/>
              </a:rPr>
              <a:t>ARTINYA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3547872"/>
            <a:ext cx="7397496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3547872"/>
            <a:ext cx="72146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C9A66B"/>
                </a:solidFill>
                <a:latin typeface="Calibri"/>
              </a:rPr>
              <a:t>HASIL TRUE KALAU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68496"/>
            <a:ext cx="1280160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968496"/>
            <a:ext cx="1097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6F3E7"/>
                </a:solidFill>
                <a:latin typeface="Calibri"/>
              </a:rPr>
              <a:t>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7088" y="3968496"/>
            <a:ext cx="2377440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6816" y="3968496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DAN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3968496"/>
            <a:ext cx="7397496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3968496"/>
            <a:ext cx="72146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kedua kondisi True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389120"/>
            <a:ext cx="1280160" cy="420624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389120"/>
            <a:ext cx="1097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6F3E7"/>
                </a:solidFill>
                <a:latin typeface="Calibri"/>
              </a:rPr>
              <a:t>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7088" y="4389120"/>
            <a:ext cx="2377440" cy="420624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56816" y="4389120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ATAU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4389120"/>
            <a:ext cx="7397496" cy="420624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4389120"/>
            <a:ext cx="72146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salah satu (atau keduanya) True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809744"/>
            <a:ext cx="1280160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809744"/>
            <a:ext cx="1097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6F3E7"/>
                </a:solidFill>
                <a:latin typeface="Calibri"/>
              </a:rPr>
              <a:t>not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47088" y="4809744"/>
            <a:ext cx="2377440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56816" y="4809744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KEBALIKAN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4528" y="4809744"/>
            <a:ext cx="7397496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34256" y="4809744"/>
            <a:ext cx="72146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membalik True jadi False, atau sebaliknya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5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Operator Logika: and, or, not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Analoginya seperti syarat promo di kasir: "member </a:t>
            </a:r>
            <a:r>
              <a:rPr sz="1350" b="1">
                <a:solidFill>
                  <a:srgbClr val="F6F3E7"/>
                </a:solidFill>
                <a:latin typeface="Calibri"/>
              </a:rPr>
              <a:t>dan</a:t>
            </a:r>
            <a:r>
              <a:rPr sz="1350">
                <a:solidFill>
                  <a:srgbClr val="B7C9A8"/>
                </a:solidFill>
                <a:latin typeface="Calibri"/>
              </a:rPr>
              <a:t> belanja minimal 100rb" — dua-duanya harus terpenuhi, kalau cuma satu tetap tidak dapat promo.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30428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8600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or</a:t>
            </a:r>
            <a:r>
              <a:rPr sz="1350">
                <a:solidFill>
                  <a:srgbClr val="B7C9A8"/>
                </a:solidFill>
                <a:latin typeface="Calibri"/>
              </a:rPr>
              <a:t> lebih longgar: "member </a:t>
            </a:r>
            <a:r>
              <a:rPr sz="1350" b="1">
                <a:solidFill>
                  <a:srgbClr val="F6F3E7"/>
                </a:solidFill>
                <a:latin typeface="Calibri"/>
              </a:rPr>
              <a:t>atau</a:t>
            </a:r>
            <a:r>
              <a:rPr sz="1350">
                <a:solidFill>
                  <a:srgbClr val="B7C9A8"/>
                </a:solidFill>
                <a:latin typeface="Calibri"/>
              </a:rPr>
              <a:t> belanja minimal 200rb" — cukup salah satu saja.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09981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08152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not member</a:t>
            </a:r>
            <a:r>
              <a:rPr sz="1350">
                <a:solidFill>
                  <a:srgbClr val="B7C9A8"/>
                </a:solidFill>
                <a:latin typeface="Calibri"/>
              </a:rPr>
              <a:t> berarti "bukan member" — membalik nilai </a:t>
            </a:r>
            <a:r>
              <a:rPr sz="1250">
                <a:solidFill>
                  <a:srgbClr val="C9A66B"/>
                </a:solidFill>
                <a:latin typeface="Consolas"/>
              </a:rPr>
              <a:t>True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False</a:t>
            </a:r>
            <a:r>
              <a:rPr sz="1350">
                <a:solidFill>
                  <a:srgbClr val="B7C9A8"/>
                </a:solidFill>
                <a:latin typeface="Calibri"/>
              </a:rPr>
              <a:t> yang 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6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Kenapa Perlu Loop?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Bayangkan mau menampilkan 100 nama kategori produk satu per satu pakai </a:t>
            </a:r>
            <a:r>
              <a:rPr sz="1350">
                <a:solidFill>
                  <a:srgbClr val="C9A66B"/>
                </a:solidFill>
                <a:latin typeface="Consolas"/>
              </a:rPr>
              <a:t>print()</a:t>
            </a:r>
            <a:r>
              <a:rPr sz="1450">
                <a:solidFill>
                  <a:srgbClr val="F6F3E7"/>
                </a:solidFill>
                <a:latin typeface="Calibri"/>
              </a:rPr>
              <a:t> — menulis 100 baris </a:t>
            </a:r>
            <a:r>
              <a:rPr sz="1350">
                <a:solidFill>
                  <a:srgbClr val="C9A66B"/>
                </a:solidFill>
                <a:latin typeface="Consolas"/>
              </a:rPr>
              <a:t>print()</a:t>
            </a:r>
            <a:r>
              <a:rPr sz="1450">
                <a:solidFill>
                  <a:srgbClr val="F6F3E7"/>
                </a:solidFill>
                <a:latin typeface="Calibri"/>
              </a:rPr>
              <a:t> jelas tidak masuk akal. </a:t>
            </a:r>
            <a:r>
              <a:rPr sz="1450" b="1">
                <a:solidFill>
                  <a:srgbClr val="F6F3E7"/>
                </a:solidFill>
                <a:latin typeface="Calibri"/>
              </a:rPr>
              <a:t>Loop</a:t>
            </a:r>
            <a:r>
              <a:rPr sz="1450">
                <a:solidFill>
                  <a:srgbClr val="F6F3E7"/>
                </a:solidFill>
                <a:latin typeface="Calibri"/>
              </a:rPr>
              <a:t> (perulangan) memungkinkan satu blok kode dijalankan berkali-kali tanpa menulis ulang.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204825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02996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List dari pertemuan 1 (</a:t>
            </a:r>
            <a:r>
              <a:rPr sz="1250">
                <a:solidFill>
                  <a:srgbClr val="C9A66B"/>
                </a:solidFill>
                <a:latin typeface="Consolas"/>
              </a:rPr>
              <a:t>kategori = ["Elektronik", "Fashion", "Makanan"]</a:t>
            </a:r>
            <a:r>
              <a:rPr sz="1350">
                <a:solidFill>
                  <a:srgbClr val="B7C9A8"/>
                </a:solidFill>
                <a:latin typeface="Calibri"/>
              </a:rPr>
              <a:t>) jadi jauh lebih berguna kalau bisa "dijalani" satu per satu secara otomatis, bukan diambil manual lewat index satu-satu (</a:t>
            </a:r>
            <a:r>
              <a:rPr sz="1250">
                <a:solidFill>
                  <a:srgbClr val="C9A66B"/>
                </a:solidFill>
                <a:latin typeface="Consolas"/>
              </a:rPr>
              <a:t>kategori[0]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kategori[1]</a:t>
            </a:r>
            <a:r>
              <a:rPr sz="1350">
                <a:solidFill>
                  <a:srgbClr val="B7C9A8"/>
                </a:solidFill>
                <a:latin typeface="Calibri"/>
              </a:rPr>
              <a:t>, ...).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0175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9992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Python punya dua jenis loop utama: </a:t>
            </a:r>
            <a:r>
              <a:rPr sz="1250">
                <a:solidFill>
                  <a:srgbClr val="C9A66B"/>
                </a:solidFill>
                <a:latin typeface="Consolas"/>
              </a:rPr>
              <a:t>for</a:t>
            </a:r>
            <a:r>
              <a:rPr sz="1350">
                <a:solidFill>
                  <a:srgbClr val="B7C9A8"/>
                </a:solidFill>
                <a:latin typeface="Calibri"/>
              </a:rPr>
              <a:t> dan </a:t>
            </a:r>
            <a:r>
              <a:rPr sz="1250">
                <a:solidFill>
                  <a:srgbClr val="C9A66B"/>
                </a:solidFill>
                <a:latin typeface="Consolas"/>
              </a:rPr>
              <a:t>while</a:t>
            </a:r>
            <a:r>
              <a:rPr sz="1350">
                <a:solidFill>
                  <a:srgbClr val="B7C9A8"/>
                </a:solidFill>
                <a:latin typeface="Calibri"/>
              </a:rPr>
              <a:t>, dipakai di situasi yang berbeda.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7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for dan range()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F6F3E7"/>
                </a:solidFill>
                <a:latin typeface="Calibri"/>
              </a:rPr>
              <a:t>for</a:t>
            </a:r>
            <a:r>
              <a:rPr sz="1450">
                <a:solidFill>
                  <a:srgbClr val="F6F3E7"/>
                </a:solidFill>
                <a:latin typeface="Calibri"/>
              </a:rPr>
              <a:t> dipakai ketika jumlah perulangan sudah pasti — misalnya sebanyak jumlah item dalam 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73936"/>
            <a:ext cx="11055096" cy="107899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54864" cy="107899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9789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kategori = ["Elektronik", "Fashion", "Makanan"]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for nama in kategori: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print(nama)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99923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98094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for nama in kategori</a:t>
            </a:r>
            <a:r>
              <a:rPr sz="1350">
                <a:solidFill>
                  <a:srgbClr val="B7C9A8"/>
                </a:solidFill>
                <a:latin typeface="Calibri"/>
              </a:rPr>
              <a:t> artinya "untuk setiap item di dalam </a:t>
            </a:r>
            <a:r>
              <a:rPr sz="1250">
                <a:solidFill>
                  <a:srgbClr val="C9A66B"/>
                </a:solidFill>
                <a:latin typeface="Consolas"/>
              </a:rPr>
              <a:t>kategori</a:t>
            </a:r>
            <a:r>
              <a:rPr sz="1350">
                <a:solidFill>
                  <a:srgbClr val="B7C9A8"/>
                </a:solidFill>
                <a:latin typeface="Calibri"/>
              </a:rPr>
              <a:t>, sebut sementara namanya </a:t>
            </a:r>
            <a:r>
              <a:rPr sz="1250">
                <a:solidFill>
                  <a:srgbClr val="C9A66B"/>
                </a:solidFill>
                <a:latin typeface="Consolas"/>
              </a:rPr>
              <a:t>nama</a:t>
            </a:r>
            <a:r>
              <a:rPr sz="1350">
                <a:solidFill>
                  <a:srgbClr val="B7C9A8"/>
                </a:solidFill>
                <a:latin typeface="Calibri"/>
              </a:rPr>
              <a:t>, lalu jalankan bloknya".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79476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77647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Kalau cuma butuh angka berurutan (bukan isi list), pakai </a:t>
            </a:r>
            <a:r>
              <a:rPr sz="1250">
                <a:solidFill>
                  <a:srgbClr val="C9A66B"/>
                </a:solidFill>
                <a:latin typeface="Consolas"/>
              </a:rPr>
              <a:t>range()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590288"/>
            <a:ext cx="11055096" cy="80467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590288"/>
            <a:ext cx="54864" cy="80467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00016"/>
            <a:ext cx="10597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for i in range(1, 5):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7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for dan range()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range(1, 5)</a:t>
            </a:r>
            <a:r>
              <a:rPr sz="1350">
                <a:solidFill>
                  <a:srgbClr val="B7C9A8"/>
                </a:solidFill>
                <a:latin typeface="Calibri"/>
              </a:rPr>
              <a:t> menghasilkan angka </a:t>
            </a:r>
            <a:r>
              <a:rPr sz="1250">
                <a:solidFill>
                  <a:srgbClr val="C9A66B"/>
                </a:solidFill>
                <a:latin typeface="Consolas"/>
              </a:rPr>
              <a:t>1, 2, 3, 4</a:t>
            </a:r>
            <a:r>
              <a:rPr sz="1350">
                <a:solidFill>
                  <a:srgbClr val="B7C9A8"/>
                </a:solidFill>
                <a:latin typeface="Calibri"/>
              </a:rPr>
              <a:t> — </a:t>
            </a:r>
            <a:r>
              <a:rPr sz="1350" b="1">
                <a:solidFill>
                  <a:srgbClr val="F6F3E7"/>
                </a:solidFill>
                <a:latin typeface="Calibri"/>
              </a:rPr>
              <a:t>berhenti sebelum</a:t>
            </a:r>
            <a:r>
              <a:rPr sz="1350">
                <a:solidFill>
                  <a:srgbClr val="B7C9A8"/>
                </a:solidFill>
                <a:latin typeface="Calibri"/>
              </a:rPr>
              <a:t> angka batas atas (</a:t>
            </a:r>
            <a:r>
              <a:rPr sz="1250">
                <a:solidFill>
                  <a:srgbClr val="C9A66B"/>
                </a:solidFill>
                <a:latin typeface="Consolas"/>
              </a:rPr>
              <a:t>5</a:t>
            </a:r>
            <a:r>
              <a:rPr sz="1350">
                <a:solidFill>
                  <a:srgbClr val="B7C9A8"/>
                </a:solidFill>
                <a:latin typeface="Calibri"/>
              </a:rPr>
              <a:t> tidak ikut). Ini jebakan umum: dikira sampai </a:t>
            </a:r>
            <a:r>
              <a:rPr sz="1250">
                <a:solidFill>
                  <a:srgbClr val="C9A66B"/>
                </a:solidFill>
                <a:latin typeface="Consolas"/>
              </a:rPr>
              <a:t>5</a:t>
            </a:r>
            <a:r>
              <a:rPr sz="1350">
                <a:solidFill>
                  <a:srgbClr val="B7C9A8"/>
                </a:solidFill>
                <a:latin typeface="Calibri"/>
              </a:rPr>
              <a:t>, ternyata cuma sampai </a:t>
            </a:r>
            <a:r>
              <a:rPr sz="1250">
                <a:solidFill>
                  <a:srgbClr val="C9A66B"/>
                </a:solidFill>
                <a:latin typeface="Consolas"/>
              </a:rPr>
              <a:t>4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30428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8600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range(5)</a:t>
            </a:r>
            <a:r>
              <a:rPr sz="1350">
                <a:solidFill>
                  <a:srgbClr val="B7C9A8"/>
                </a:solidFill>
                <a:latin typeface="Calibri"/>
              </a:rPr>
              <a:t> (satu argumen saja) sama dengan </a:t>
            </a:r>
            <a:r>
              <a:rPr sz="1250">
                <a:solidFill>
                  <a:srgbClr val="C9A66B"/>
                </a:solidFill>
                <a:latin typeface="Consolas"/>
              </a:rPr>
              <a:t>range(0, 5)</a:t>
            </a:r>
            <a:r>
              <a:rPr sz="1350">
                <a:solidFill>
                  <a:srgbClr val="B7C9A8"/>
                </a:solidFill>
                <a:latin typeface="Calibri"/>
              </a:rPr>
              <a:t> — mulai dari </a:t>
            </a:r>
            <a:r>
              <a:rPr sz="1250">
                <a:solidFill>
                  <a:srgbClr val="C9A66B"/>
                </a:solidFill>
                <a:latin typeface="Consolas"/>
              </a:rPr>
              <a:t>0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7 DARI 15 —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range(1, 5) di Papan</a:t>
            </a:r>
          </a:p>
        </p:txBody>
      </p:sp>
      <p:pic>
        <p:nvPicPr>
          <p:cNvPr id="4" name="Picture 3" descr="diagram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639606"/>
            <a:ext cx="10058400" cy="44017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8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enumerate(): Loop Sambil Bawa Nomor Urut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Kadang selain isi datanya, kita juga butuh </a:t>
            </a:r>
            <a:r>
              <a:rPr sz="1450" b="1">
                <a:solidFill>
                  <a:srgbClr val="F6F3E7"/>
                </a:solidFill>
                <a:latin typeface="Calibri"/>
              </a:rPr>
              <a:t>nomor urutnya</a:t>
            </a:r>
            <a:r>
              <a:rPr sz="1450">
                <a:solidFill>
                  <a:srgbClr val="F6F3E7"/>
                </a:solidFill>
                <a:latin typeface="Calibri"/>
              </a:rPr>
              <a:t> saat loop — misalnya menampilkan "Hari ke berapa" untuk tiap data penjualan.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48256"/>
            <a:ext cx="11055096" cy="107899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48256"/>
            <a:ext cx="54864" cy="107899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1059789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penjualan = [120, 80, 150]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for nomor, nilai in enumerate(penjualan, start=1):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print(f"Hari {nomor}: {nilai} transaksi")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27355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25526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enumerate(penjualan, start=1)</a:t>
            </a:r>
            <a:r>
              <a:rPr sz="1350">
                <a:solidFill>
                  <a:srgbClr val="B7C9A8"/>
                </a:solidFill>
                <a:latin typeface="Calibri"/>
              </a:rPr>
              <a:t> menghasilkan pasangan </a:t>
            </a:r>
            <a:r>
              <a:rPr sz="1250">
                <a:solidFill>
                  <a:srgbClr val="C9A66B"/>
                </a:solidFill>
                <a:latin typeface="Consolas"/>
              </a:rPr>
              <a:t>(nomor, nilai)</a:t>
            </a:r>
            <a:r>
              <a:rPr sz="1350">
                <a:solidFill>
                  <a:srgbClr val="B7C9A8"/>
                </a:solidFill>
                <a:latin typeface="Calibri"/>
              </a:rPr>
              <a:t> untuk tiap item — nomornya mulai dari </a:t>
            </a:r>
            <a:r>
              <a:rPr sz="1250">
                <a:solidFill>
                  <a:srgbClr val="C9A66B"/>
                </a:solidFill>
                <a:latin typeface="Consolas"/>
              </a:rPr>
              <a:t>1</a:t>
            </a:r>
            <a:r>
              <a:rPr sz="1350">
                <a:solidFill>
                  <a:srgbClr val="B7C9A8"/>
                </a:solidFill>
                <a:latin typeface="Calibri"/>
              </a:rPr>
              <a:t> karena ada </a:t>
            </a:r>
            <a:r>
              <a:rPr sz="1250">
                <a:solidFill>
                  <a:srgbClr val="C9A66B"/>
                </a:solidFill>
                <a:latin typeface="Consolas"/>
              </a:rPr>
              <a:t>start=1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24281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22452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Tanpa </a:t>
            </a:r>
            <a:r>
              <a:rPr sz="1250">
                <a:solidFill>
                  <a:srgbClr val="C9A66B"/>
                </a:solidFill>
                <a:latin typeface="Consolas"/>
              </a:rPr>
              <a:t>start=1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enumerate()</a:t>
            </a:r>
            <a:r>
              <a:rPr sz="1350">
                <a:solidFill>
                  <a:srgbClr val="B7C9A8"/>
                </a:solidFill>
                <a:latin typeface="Calibri"/>
              </a:rPr>
              <a:t> mulai menghitung dari </a:t>
            </a:r>
            <a:r>
              <a:rPr sz="1250">
                <a:solidFill>
                  <a:srgbClr val="C9A66B"/>
                </a:solidFill>
                <a:latin typeface="Consolas"/>
              </a:rPr>
              <a:t>0</a:t>
            </a:r>
            <a:r>
              <a:rPr sz="1350">
                <a:solidFill>
                  <a:srgbClr val="B7C9A8"/>
                </a:solidFill>
                <a:latin typeface="Calibri"/>
              </a:rPr>
              <a:t> (default).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503834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502005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Ini menghindari cara manual yang lebih ribet (bikin variabel counter sendiri, </a:t>
            </a:r>
            <a:r>
              <a:rPr sz="1250">
                <a:solidFill>
                  <a:srgbClr val="C9A66B"/>
                </a:solidFill>
                <a:latin typeface="Consolas"/>
              </a:rPr>
              <a:t>+= 1</a:t>
            </a:r>
            <a:r>
              <a:rPr sz="1350">
                <a:solidFill>
                  <a:srgbClr val="B7C9A8"/>
                </a:solidFill>
                <a:latin typeface="Calibri"/>
              </a:rPr>
              <a:t> setiap iterasi).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9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Akumulasi dalam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Pola yang sangat sering dipakai: menjumlahkan semua nilai dalam list jadi satu total, sambil loop berjalan.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73936"/>
            <a:ext cx="11055096" cy="190195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54864" cy="190195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9789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penjualan = [120000, 85000, 200000]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total = 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for nilai in penjualan: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total += nilai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print(f"Total penjualan: {total}")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82219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80390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total = 0</a:t>
            </a:r>
            <a:r>
              <a:rPr sz="1350">
                <a:solidFill>
                  <a:srgbClr val="B7C9A8"/>
                </a:solidFill>
                <a:latin typeface="Calibri"/>
              </a:rPr>
              <a:t> disiapkan </a:t>
            </a:r>
            <a:r>
              <a:rPr sz="1350" b="1">
                <a:solidFill>
                  <a:srgbClr val="F6F3E7"/>
                </a:solidFill>
                <a:latin typeface="Calibri"/>
              </a:rPr>
              <a:t>sebelum</a:t>
            </a:r>
            <a:r>
              <a:rPr sz="1350">
                <a:solidFill>
                  <a:srgbClr val="B7C9A8"/>
                </a:solidFill>
                <a:latin typeface="Calibri"/>
              </a:rPr>
              <a:t> loop dimulai — ini disebut nilai awal (initial value).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6177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5994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total += nilai</a:t>
            </a:r>
            <a:r>
              <a:rPr sz="1350">
                <a:solidFill>
                  <a:srgbClr val="B7C9A8"/>
                </a:solidFill>
                <a:latin typeface="Calibri"/>
              </a:rPr>
              <a:t> artinya "ambil </a:t>
            </a:r>
            <a:r>
              <a:rPr sz="1250">
                <a:solidFill>
                  <a:srgbClr val="C9A66B"/>
                </a:solidFill>
                <a:latin typeface="Consolas"/>
              </a:rPr>
              <a:t>total</a:t>
            </a:r>
            <a:r>
              <a:rPr sz="1350">
                <a:solidFill>
                  <a:srgbClr val="B7C9A8"/>
                </a:solidFill>
                <a:latin typeface="Calibri"/>
              </a:rPr>
              <a:t> sekarang, tambahkan </a:t>
            </a:r>
            <a:r>
              <a:rPr sz="1250">
                <a:solidFill>
                  <a:srgbClr val="C9A66B"/>
                </a:solidFill>
                <a:latin typeface="Consolas"/>
              </a:rPr>
              <a:t>nilai</a:t>
            </a:r>
            <a:r>
              <a:rPr sz="1350">
                <a:solidFill>
                  <a:srgbClr val="B7C9A8"/>
                </a:solidFill>
                <a:latin typeface="Calibri"/>
              </a:rPr>
              <a:t>, simpan lagi ke </a:t>
            </a:r>
            <a:r>
              <a:rPr sz="1250">
                <a:solidFill>
                  <a:srgbClr val="C9A66B"/>
                </a:solidFill>
                <a:latin typeface="Consolas"/>
              </a:rPr>
              <a:t>total</a:t>
            </a:r>
            <a:r>
              <a:rPr sz="1350">
                <a:solidFill>
                  <a:srgbClr val="B7C9A8"/>
                </a:solidFill>
                <a:latin typeface="Calibri"/>
              </a:rPr>
              <a:t>" — bentuk singkat dari </a:t>
            </a:r>
            <a:r>
              <a:rPr sz="1250">
                <a:solidFill>
                  <a:srgbClr val="C9A66B"/>
                </a:solidFill>
                <a:latin typeface="Consolas"/>
              </a:rPr>
              <a:t>total = total + nilai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9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Akumulasi dalam Loop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Pola "siapkan nilai awal → loop → update tiap iterasi" ini adalah dasar dari yang nanti disebut </a:t>
            </a:r>
            <a:r>
              <a:rPr sz="1350" b="1">
                <a:solidFill>
                  <a:srgbClr val="F6F3E7"/>
                </a:solidFill>
                <a:latin typeface="Calibri"/>
              </a:rPr>
              <a:t>agregasi</a:t>
            </a:r>
            <a:r>
              <a:rPr sz="1350">
                <a:solidFill>
                  <a:srgbClr val="B7C9A8"/>
                </a:solidFill>
                <a:latin typeface="Calibri"/>
              </a:rPr>
              <a:t> (menjumlahkan, merata-rata, dst) saat mengolah data beneran dengan Pandas di pertemuan 4 — bedanya nanti Pandas sudah punya fungsi siap pakai, tapi konsepnya identik.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10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while: Ulang Selama Kondisi Masih Benar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F6F3E7"/>
                </a:solidFill>
                <a:latin typeface="Calibri"/>
              </a:rPr>
              <a:t>while</a:t>
            </a:r>
            <a:r>
              <a:rPr sz="1450">
                <a:solidFill>
                  <a:srgbClr val="F6F3E7"/>
                </a:solidFill>
                <a:latin typeface="Calibri"/>
              </a:rPr>
              <a:t> cocok saat jumlah perulangan </a:t>
            </a:r>
            <a:r>
              <a:rPr sz="1450" b="1">
                <a:solidFill>
                  <a:srgbClr val="F6F3E7"/>
                </a:solidFill>
                <a:latin typeface="Calibri"/>
              </a:rPr>
              <a:t>belum pasti</a:t>
            </a:r>
            <a:r>
              <a:rPr sz="1450">
                <a:solidFill>
                  <a:srgbClr val="F6F3E7"/>
                </a:solidFill>
                <a:latin typeface="Calibri"/>
              </a:rPr>
              <a:t> dari awal — loop terus berjalan selama kondisinya masih </a:t>
            </a:r>
            <a:r>
              <a:rPr sz="1350">
                <a:solidFill>
                  <a:srgbClr val="C9A66B"/>
                </a:solidFill>
                <a:latin typeface="Consolas"/>
              </a:rPr>
              <a:t>True</a:t>
            </a:r>
            <a:r>
              <a:rPr sz="1450">
                <a:solidFill>
                  <a:srgbClr val="F6F3E7"/>
                </a:solidFill>
                <a:latin typeface="Calibr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73936"/>
            <a:ext cx="11055096" cy="24688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54864" cy="246888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978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target = 500000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total_terkumpul = 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hari = 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while total_terkumpul &lt; target: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total_terkumpul += 100000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hari += 1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print(f"Target tercapai dalam {hari} hari")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3891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43708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Setiap kali sebelum menjalankan blok, Python cek dulu kondisinya — kalau masih </a:t>
            </a:r>
            <a:r>
              <a:rPr sz="1250">
                <a:solidFill>
                  <a:srgbClr val="C9A66B"/>
                </a:solidFill>
                <a:latin typeface="Consolas"/>
              </a:rPr>
              <a:t>True</a:t>
            </a:r>
            <a:r>
              <a:rPr sz="1350">
                <a:solidFill>
                  <a:srgbClr val="B7C9A8"/>
                </a:solidFill>
                <a:latin typeface="Calibri"/>
              </a:rPr>
              <a:t>, jalankan lagi; kalau sudah </a:t>
            </a:r>
            <a:r>
              <a:rPr sz="1250">
                <a:solidFill>
                  <a:srgbClr val="C9A66B"/>
                </a:solidFill>
                <a:latin typeface="Consolas"/>
              </a:rPr>
              <a:t>False</a:t>
            </a:r>
            <a:r>
              <a:rPr sz="1350">
                <a:solidFill>
                  <a:srgbClr val="B7C9A8"/>
                </a:solidFill>
                <a:latin typeface="Calibri"/>
              </a:rPr>
              <a:t>, berhenti.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10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while: Ulang Selama Kondisi Masih Benar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Jebakan besar:</a:t>
            </a:r>
            <a:r>
              <a:rPr sz="1350">
                <a:solidFill>
                  <a:srgbClr val="B7C9A8"/>
                </a:solidFill>
                <a:latin typeface="Calibri"/>
              </a:rPr>
              <a:t> kalau di dalam loop lupa mengubah nilai yang dicek (di contoh ini </a:t>
            </a:r>
            <a:r>
              <a:rPr sz="1250">
                <a:solidFill>
                  <a:srgbClr val="C9A66B"/>
                </a:solidFill>
                <a:latin typeface="Consolas"/>
              </a:rPr>
              <a:t>total_terkumpul</a:t>
            </a:r>
            <a:r>
              <a:rPr sz="1350">
                <a:solidFill>
                  <a:srgbClr val="B7C9A8"/>
                </a:solidFill>
                <a:latin typeface="Calibri"/>
              </a:rPr>
              <a:t>), kondisinya tidak akan pernah jadi </a:t>
            </a:r>
            <a:r>
              <a:rPr sz="1250">
                <a:solidFill>
                  <a:srgbClr val="C9A66B"/>
                </a:solidFill>
                <a:latin typeface="Consolas"/>
              </a:rPr>
              <a:t>False</a:t>
            </a:r>
            <a:r>
              <a:rPr sz="1350">
                <a:solidFill>
                  <a:srgbClr val="B7C9A8"/>
                </a:solidFill>
                <a:latin typeface="Calibri"/>
              </a:rPr>
              <a:t> — program terjebak jalan selamanya, disebut </a:t>
            </a:r>
            <a:r>
              <a:rPr sz="1350" b="1">
                <a:solidFill>
                  <a:srgbClr val="F6F3E7"/>
                </a:solidFill>
                <a:latin typeface="Calibri"/>
              </a:rPr>
              <a:t>infinite loop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30428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8600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Kalau ini terjadi di Colab, cell akan terus menampilkan </a:t>
            </a:r>
            <a:r>
              <a:rPr sz="1250">
                <a:solidFill>
                  <a:srgbClr val="C9A66B"/>
                </a:solidFill>
                <a:latin typeface="Consolas"/>
              </a:rPr>
              <a:t>[*]</a:t>
            </a:r>
            <a:r>
              <a:rPr sz="1350">
                <a:solidFill>
                  <a:srgbClr val="B7C9A8"/>
                </a:solidFill>
                <a:latin typeface="Calibri"/>
              </a:rPr>
              <a:t> tanpa selesai — hentikan manual lewat tombol stop (kotak) di sebelah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11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break dan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Dua kata kunci ini mengatur alur di dalam loop tanpa harus mengubah kondisinya: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73936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stok = [5, 3, 0, 8]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for jumlah in stok: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if jumlah == 0: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    break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print(f"Sisa stok: {jumlah}")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547872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547872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penjualan = [120000, 0, 95000, 0, 200000]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for nilai in penjualan: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if nilai == 0: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    continue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print(f"Transaksi: {nilai}")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11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break dan continue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break</a:t>
            </a:r>
            <a:r>
              <a:rPr sz="1350">
                <a:solidFill>
                  <a:srgbClr val="B7C9A8"/>
                </a:solidFill>
                <a:latin typeface="Calibri"/>
              </a:rPr>
              <a:t> langsung </a:t>
            </a:r>
            <a:r>
              <a:rPr sz="1350" b="1">
                <a:solidFill>
                  <a:srgbClr val="F6F3E7"/>
                </a:solidFill>
                <a:latin typeface="Calibri"/>
              </a:rPr>
              <a:t>menghentikan seluruh loop</a:t>
            </a:r>
            <a:r>
              <a:rPr sz="1350">
                <a:solidFill>
                  <a:srgbClr val="B7C9A8"/>
                </a:solidFill>
                <a:latin typeface="Calibri"/>
              </a:rPr>
              <a:t>, sisa item tidak diproses sama sekali — dipakai di contoh pertama begitu ketemu stok </a:t>
            </a:r>
            <a:r>
              <a:rPr sz="1250">
                <a:solidFill>
                  <a:srgbClr val="C9A66B"/>
                </a:solidFill>
                <a:latin typeface="Consolas"/>
              </a:rPr>
              <a:t>0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30428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8600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continue</a:t>
            </a:r>
            <a:r>
              <a:rPr sz="1350">
                <a:solidFill>
                  <a:srgbClr val="B7C9A8"/>
                </a:solidFill>
                <a:latin typeface="Calibri"/>
              </a:rPr>
              <a:t> cuma </a:t>
            </a:r>
            <a:r>
              <a:rPr sz="1350" b="1">
                <a:solidFill>
                  <a:srgbClr val="F6F3E7"/>
                </a:solidFill>
                <a:latin typeface="Calibri"/>
              </a:rPr>
              <a:t>melewati iterasi saat itu</a:t>
            </a:r>
            <a:r>
              <a:rPr sz="1350">
                <a:solidFill>
                  <a:srgbClr val="B7C9A8"/>
                </a:solidFill>
                <a:latin typeface="Calibri"/>
              </a:rPr>
              <a:t>, lalu lanjut ke item berikutnya — loop tetap jalan sampai selesai, dipakai di contoh kedua untuk melewati data penjualan kosong (</a:t>
            </a:r>
            <a:r>
              <a:rPr sz="1250">
                <a:solidFill>
                  <a:srgbClr val="C9A66B"/>
                </a:solidFill>
                <a:latin typeface="Consolas"/>
              </a:rPr>
              <a:t>0</a:t>
            </a:r>
            <a:r>
              <a:rPr sz="1350">
                <a:solidFill>
                  <a:srgbClr val="B7C9A8"/>
                </a:solidFill>
                <a:latin typeface="Calibri"/>
              </a:rPr>
              <a:t>).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27355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25526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Ini nanti sangat berguna saat data cleaning di pertemuan 4 — data mentah sering punya baris kosong atau tidak valid yang perlu dilewati, bukan menghentikan seluruh proses.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12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Function: def, Parameter, dan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F6F3E7"/>
                </a:solidFill>
                <a:latin typeface="Calibri"/>
              </a:rPr>
              <a:t>Function</a:t>
            </a:r>
            <a:r>
              <a:rPr sz="1450">
                <a:solidFill>
                  <a:srgbClr val="F6F3E7"/>
                </a:solidFill>
                <a:latin typeface="Calibri"/>
              </a:rPr>
              <a:t> adalah blok kode yang diberi nama, bisa dipanggil ulang kapan pun tanpa menulis ulang isinya — analoginya seperti mesin: masukkan bahan (parameter), mesin memproses, keluar hasil (</a:t>
            </a:r>
            <a:r>
              <a:rPr sz="1350">
                <a:solidFill>
                  <a:srgbClr val="C9A66B"/>
                </a:solidFill>
                <a:latin typeface="Consolas"/>
              </a:rPr>
              <a:t>return</a:t>
            </a:r>
            <a:r>
              <a:rPr sz="1450">
                <a:solidFill>
                  <a:srgbClr val="F6F3E7"/>
                </a:solidFill>
                <a:latin typeface="Calibri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48256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48256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def hitung_total(harga, jumlah):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return harga * jumlah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hasil = hitung_total(15000, 3)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print(hasil)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82219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80390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def nama_function(parameter):</a:t>
            </a:r>
            <a:r>
              <a:rPr sz="1350">
                <a:solidFill>
                  <a:srgbClr val="B7C9A8"/>
                </a:solidFill>
                <a:latin typeface="Calibri"/>
              </a:rPr>
              <a:t> mendefinisikan function baru — belum dijalankan sampai </a:t>
            </a:r>
            <a:r>
              <a:rPr sz="1350" b="1">
                <a:solidFill>
                  <a:srgbClr val="F6F3E7"/>
                </a:solidFill>
                <a:latin typeface="Calibri"/>
              </a:rPr>
              <a:t>dipanggil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6177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5994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harga</a:t>
            </a:r>
            <a:r>
              <a:rPr sz="1350">
                <a:solidFill>
                  <a:srgbClr val="B7C9A8"/>
                </a:solidFill>
                <a:latin typeface="Calibri"/>
              </a:rPr>
              <a:t> dan </a:t>
            </a:r>
            <a:r>
              <a:rPr sz="1250">
                <a:solidFill>
                  <a:srgbClr val="C9A66B"/>
                </a:solidFill>
                <a:latin typeface="Consolas"/>
              </a:rPr>
              <a:t>jumlah</a:t>
            </a:r>
            <a:r>
              <a:rPr sz="1350">
                <a:solidFill>
                  <a:srgbClr val="B7C9A8"/>
                </a:solidFill>
                <a:latin typeface="Calibri"/>
              </a:rPr>
              <a:t> adalah </a:t>
            </a:r>
            <a:r>
              <a:rPr sz="1350" b="1">
                <a:solidFill>
                  <a:srgbClr val="F6F3E7"/>
                </a:solidFill>
                <a:latin typeface="Calibri"/>
              </a:rPr>
              <a:t>parameter</a:t>
            </a:r>
            <a:r>
              <a:rPr sz="1350">
                <a:solidFill>
                  <a:srgbClr val="B7C9A8"/>
                </a:solidFill>
                <a:latin typeface="Calibri"/>
              </a:rPr>
              <a:t> — nilai yang "dimasukkan" saat function dipanggil.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541324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539496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return</a:t>
            </a:r>
            <a:r>
              <a:rPr sz="1350">
                <a:solidFill>
                  <a:srgbClr val="B7C9A8"/>
                </a:solidFill>
                <a:latin typeface="Calibri"/>
              </a:rPr>
              <a:t> mengirim hasil keluar dari function, supaya bisa disimpan ke variabel (</a:t>
            </a:r>
            <a:r>
              <a:rPr sz="1250">
                <a:solidFill>
                  <a:srgbClr val="C9A66B"/>
                </a:solidFill>
                <a:latin typeface="Consolas"/>
              </a:rPr>
              <a:t>hasil</a:t>
            </a:r>
            <a:r>
              <a:rPr sz="1350">
                <a:solidFill>
                  <a:srgbClr val="B7C9A8"/>
                </a:solidFill>
                <a:latin typeface="Calibri"/>
              </a:rPr>
              <a:t>) dan dipakai lagi di tempat 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12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Function: def, Parameter, dan return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Function yang sama bisa dipanggil berkali-kali dengan nilai berbeda-beda, tanpa menulis ulang logikanya.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12 DARI 15 —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Function Sebagai Mesin</a:t>
            </a:r>
          </a:p>
        </p:txBody>
      </p:sp>
      <p:pic>
        <p:nvPicPr>
          <p:cNvPr id="4" name="Picture 3" descr="diagram_f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639606"/>
            <a:ext cx="10058400" cy="44017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13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Default Parameter dan print() vs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Parameter bisa diberi </a:t>
            </a:r>
            <a:r>
              <a:rPr sz="1450" b="1">
                <a:solidFill>
                  <a:srgbClr val="F6F3E7"/>
                </a:solidFill>
                <a:latin typeface="Calibri"/>
              </a:rPr>
              <a:t>nilai default</a:t>
            </a:r>
            <a:r>
              <a:rPr sz="1450">
                <a:solidFill>
                  <a:srgbClr val="F6F3E7"/>
                </a:solidFill>
                <a:latin typeface="Calibri"/>
              </a:rPr>
              <a:t>, dipakai otomatis kalau saat pemanggilan nilainya tidak diisi.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73936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73936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def hitung_diskon(total, persen=0.10):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return total * persen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print(hitung_diskon(200000))          # pakai default: 0.10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print(hitung_diskon(200000, 0.20))    # override jadi 0.20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54787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52958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persen=0.10</a:t>
            </a:r>
            <a:r>
              <a:rPr sz="1350">
                <a:solidFill>
                  <a:srgbClr val="B7C9A8"/>
                </a:solidFill>
                <a:latin typeface="Calibri"/>
              </a:rPr>
              <a:t> di definisi function berarti "kalau saat dipanggil </a:t>
            </a:r>
            <a:r>
              <a:rPr sz="1250">
                <a:solidFill>
                  <a:srgbClr val="C9A66B"/>
                </a:solidFill>
                <a:latin typeface="Consolas"/>
              </a:rPr>
              <a:t>persen</a:t>
            </a:r>
            <a:r>
              <a:rPr sz="1350">
                <a:solidFill>
                  <a:srgbClr val="B7C9A8"/>
                </a:solidFill>
                <a:latin typeface="Calibri"/>
              </a:rPr>
              <a:t> tidak diisi, anggap saja </a:t>
            </a:r>
            <a:r>
              <a:rPr sz="1250">
                <a:solidFill>
                  <a:srgbClr val="C9A66B"/>
                </a:solidFill>
                <a:latin typeface="Consolas"/>
              </a:rPr>
              <a:t>0.10</a:t>
            </a:r>
            <a:r>
              <a:rPr sz="1350">
                <a:solidFill>
                  <a:srgbClr val="B7C9A8"/>
                </a:solidFill>
                <a:latin typeface="Calibri"/>
              </a:rPr>
              <a:t>".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34340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32511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Ini beda dari </a:t>
            </a:r>
            <a:r>
              <a:rPr sz="1250">
                <a:solidFill>
                  <a:srgbClr val="C9A66B"/>
                </a:solidFill>
                <a:latin typeface="Consolas"/>
              </a:rPr>
              <a:t>print()</a:t>
            </a:r>
            <a:r>
              <a:rPr sz="1350">
                <a:solidFill>
                  <a:srgbClr val="B7C9A8"/>
                </a:solidFill>
                <a:latin typeface="Calibri"/>
              </a:rPr>
              <a:t> yang cuma </a:t>
            </a:r>
            <a:r>
              <a:rPr sz="1350" b="1">
                <a:solidFill>
                  <a:srgbClr val="F6F3E7"/>
                </a:solidFill>
                <a:latin typeface="Calibri"/>
              </a:rPr>
              <a:t>menampilkan</a:t>
            </a:r>
            <a:r>
              <a:rPr sz="1350">
                <a:solidFill>
                  <a:srgbClr val="B7C9A8"/>
                </a:solidFill>
                <a:latin typeface="Calibri"/>
              </a:rPr>
              <a:t> nilai ke layar — hasilnya tidak bisa disimpan atau dipakai lagi.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513892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512064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return</a:t>
            </a:r>
            <a:r>
              <a:rPr sz="1350">
                <a:solidFill>
                  <a:srgbClr val="B7C9A8"/>
                </a:solidFill>
                <a:latin typeface="Calibri"/>
              </a:rPr>
              <a:t> </a:t>
            </a:r>
            <a:r>
              <a:rPr sz="1350" b="1">
                <a:solidFill>
                  <a:srgbClr val="F6F3E7"/>
                </a:solidFill>
                <a:latin typeface="Calibri"/>
              </a:rPr>
              <a:t>mengirim</a:t>
            </a:r>
            <a:r>
              <a:rPr sz="1350">
                <a:solidFill>
                  <a:srgbClr val="B7C9A8"/>
                </a:solidFill>
                <a:latin typeface="Calibri"/>
              </a:rPr>
              <a:t> nilai keluar dari function sehingga bisa ditampung variabel, dihitung lebih lanjut, atau dipakai sebagai bahan function 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13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Default Parameter dan print() vs return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Function tanpa </a:t>
            </a:r>
            <a:r>
              <a:rPr sz="1250">
                <a:solidFill>
                  <a:srgbClr val="C9A66B"/>
                </a:solidFill>
                <a:latin typeface="Consolas"/>
              </a:rPr>
              <a:t>return</a:t>
            </a:r>
            <a:r>
              <a:rPr sz="1350">
                <a:solidFill>
                  <a:srgbClr val="B7C9A8"/>
                </a:solidFill>
                <a:latin typeface="Calibri"/>
              </a:rPr>
              <a:t> otomatis menghasilkan </a:t>
            </a:r>
            <a:r>
              <a:rPr sz="1250">
                <a:solidFill>
                  <a:srgbClr val="C9A66B"/>
                </a:solidFill>
                <a:latin typeface="Consolas"/>
              </a:rPr>
              <a:t>None</a:t>
            </a:r>
            <a:r>
              <a:rPr sz="1350">
                <a:solidFill>
                  <a:srgbClr val="B7C9A8"/>
                </a:solidFill>
                <a:latin typeface="Calibri"/>
              </a:rPr>
              <a:t> kalau hasilnya coba disimpan ke variabel — pengingat bahwa </a:t>
            </a:r>
            <a:r>
              <a:rPr sz="1250">
                <a:solidFill>
                  <a:srgbClr val="C9A66B"/>
                </a:solidFill>
                <a:latin typeface="Consolas"/>
              </a:rPr>
              <a:t>print()</a:t>
            </a:r>
            <a:r>
              <a:rPr sz="1350">
                <a:solidFill>
                  <a:srgbClr val="B7C9A8"/>
                </a:solidFill>
                <a:latin typeface="Calibri"/>
              </a:rPr>
              <a:t> dan </a:t>
            </a:r>
            <a:r>
              <a:rPr sz="1250">
                <a:solidFill>
                  <a:srgbClr val="C9A66B"/>
                </a:solidFill>
                <a:latin typeface="Consolas"/>
              </a:rPr>
              <a:t>return</a:t>
            </a:r>
            <a:r>
              <a:rPr sz="1350">
                <a:solidFill>
                  <a:srgbClr val="B7C9A8"/>
                </a:solidFill>
                <a:latin typeface="Calibri"/>
              </a:rPr>
              <a:t> bukan hal yang sama.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14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List Comprehension: Bentuk Ringkas dari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Kalau isi sebuah loop hanya untuk membuat list baru dari list yang sudah ada, Python punya bentuk yang lebih ringkas: </a:t>
            </a:r>
            <a:r>
              <a:rPr sz="1450" b="1">
                <a:solidFill>
                  <a:srgbClr val="F6F3E7"/>
                </a:solidFill>
                <a:latin typeface="Calibri"/>
              </a:rPr>
              <a:t>list comprehension</a:t>
            </a:r>
            <a:r>
              <a:rPr sz="1450">
                <a:solidFill>
                  <a:srgbClr val="F6F3E7"/>
                </a:solidFill>
                <a:latin typeface="Calibr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48256"/>
            <a:ext cx="11055096" cy="24688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48256"/>
            <a:ext cx="54864" cy="246888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105978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penjualan = [120000, 85000, 200000]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# Cara biasa dengan for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hasil_pajak = []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for nilai in penjualan: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hasil_pajak.append(nilai * 1.11)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# Cara ringkas dengan list comprehension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hasil_pajak = [nilai * 1.11 for nilai in penjualan]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66344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464515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Polanya: </a:t>
            </a:r>
            <a:r>
              <a:rPr sz="1250">
                <a:solidFill>
                  <a:srgbClr val="C9A66B"/>
                </a:solidFill>
                <a:latin typeface="Consolas"/>
              </a:rPr>
              <a:t>[ekspresi for item in list_asal]</a:t>
            </a:r>
            <a:r>
              <a:rPr sz="1350">
                <a:solidFill>
                  <a:srgbClr val="B7C9A8"/>
                </a:solidFill>
                <a:latin typeface="Calibri"/>
              </a:rPr>
              <a:t> — baca dari kiri ke kanan: "buat list baru berisi </a:t>
            </a:r>
            <a:r>
              <a:rPr sz="1250">
                <a:solidFill>
                  <a:srgbClr val="C9A66B"/>
                </a:solidFill>
                <a:latin typeface="Consolas"/>
              </a:rPr>
              <a:t>ekspresi</a:t>
            </a:r>
            <a:r>
              <a:rPr sz="1350">
                <a:solidFill>
                  <a:srgbClr val="B7C9A8"/>
                </a:solidFill>
                <a:latin typeface="Calibri"/>
              </a:rPr>
              <a:t>, untuk tiap </a:t>
            </a:r>
            <a:r>
              <a:rPr sz="1250">
                <a:solidFill>
                  <a:srgbClr val="C9A66B"/>
                </a:solidFill>
                <a:latin typeface="Consolas"/>
              </a:rPr>
              <a:t>item</a:t>
            </a:r>
            <a:r>
              <a:rPr sz="1350">
                <a:solidFill>
                  <a:srgbClr val="B7C9A8"/>
                </a:solidFill>
                <a:latin typeface="Calibri"/>
              </a:rPr>
              <a:t> di </a:t>
            </a:r>
            <a:r>
              <a:rPr sz="1250">
                <a:solidFill>
                  <a:srgbClr val="C9A66B"/>
                </a:solidFill>
                <a:latin typeface="Consolas"/>
              </a:rPr>
              <a:t>list_asal</a:t>
            </a:r>
            <a:r>
              <a:rPr sz="1350">
                <a:solidFill>
                  <a:srgbClr val="B7C9A8"/>
                </a:solidFill>
                <a:latin typeface="Calibri"/>
              </a:rPr>
              <a:t>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14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List Comprehension: Bentuk Ringkas dari for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Hasilnya identik dengan loop biasa di atasnya, cuma ditulis dalam satu baris.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13055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11226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Berguna untuk transformasi sederhana; kalau logikanya sudah rumit (banyak </a:t>
            </a:r>
            <a:r>
              <a:rPr sz="1250">
                <a:solidFill>
                  <a:srgbClr val="C9A66B"/>
                </a:solidFill>
                <a:latin typeface="Consolas"/>
              </a:rPr>
              <a:t>if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elif</a:t>
            </a:r>
            <a:r>
              <a:rPr sz="1350">
                <a:solidFill>
                  <a:srgbClr val="B7C9A8"/>
                </a:solidFill>
                <a:latin typeface="Calibri"/>
              </a:rPr>
              <a:t>, banyak baris), loop biasa yang ditulis panjang biasanya lebih gampang dibaca — list comprehension bukan keharusan, cuma alternatif yang lebih ringkas.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15 DARI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Sekilas OOP: Class dan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F6F3E7"/>
                </a:solidFill>
                <a:latin typeface="Calibri"/>
              </a:rPr>
              <a:t>OOP</a:t>
            </a:r>
            <a:r>
              <a:rPr sz="1450">
                <a:solidFill>
                  <a:srgbClr val="F6F3E7"/>
                </a:solidFill>
                <a:latin typeface="Calibri"/>
              </a:rPr>
              <a:t> (Object-Oriented Programming) cukup dikenalkan sebagai pola berpikir dulu — dibahas lebih dalam di materi lanjutan lain, bukan fokus pertemuan ini.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48256"/>
            <a:ext cx="11055096" cy="24688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48256"/>
            <a:ext cx="54864" cy="246888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105978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class Produk: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def __init__(self, nama, harga):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    self.nama = nama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    self.harga = harga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def info(self):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    return f"{self.nama} - Rp {self.harga}"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produk1 = Produk("Headset", 250000)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66344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464515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class</a:t>
            </a:r>
            <a:r>
              <a:rPr sz="1350">
                <a:solidFill>
                  <a:srgbClr val="B7C9A8"/>
                </a:solidFill>
                <a:latin typeface="Calibri"/>
              </a:rPr>
              <a:t> adalah cetakan/blueprint untuk membuat </a:t>
            </a:r>
            <a:r>
              <a:rPr sz="1350" b="1">
                <a:solidFill>
                  <a:srgbClr val="F6F3E7"/>
                </a:solidFill>
                <a:latin typeface="Calibri"/>
              </a:rPr>
              <a:t>object</a:t>
            </a:r>
            <a:r>
              <a:rPr sz="1350">
                <a:solidFill>
                  <a:srgbClr val="B7C9A8"/>
                </a:solidFill>
                <a:latin typeface="Calibri"/>
              </a:rPr>
              <a:t>. </a:t>
            </a:r>
            <a:r>
              <a:rPr sz="1250">
                <a:solidFill>
                  <a:srgbClr val="C9A66B"/>
                </a:solidFill>
                <a:latin typeface="Consolas"/>
              </a:rPr>
              <a:t>Produk</a:t>
            </a:r>
            <a:r>
              <a:rPr sz="1350">
                <a:solidFill>
                  <a:srgbClr val="B7C9A8"/>
                </a:solidFill>
                <a:latin typeface="Calibri"/>
              </a:rPr>
              <a:t> di atas adalah cetakannya.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15 DARI 15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Sekilas OOP: Class dan Object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produk1 = Produk("Headset", 250000)</a:t>
            </a:r>
            <a:r>
              <a:rPr sz="1350">
                <a:solidFill>
                  <a:srgbClr val="B7C9A8"/>
                </a:solidFill>
                <a:latin typeface="Calibri"/>
              </a:rPr>
              <a:t> membuat satu </a:t>
            </a:r>
            <a:r>
              <a:rPr sz="1350" b="1">
                <a:solidFill>
                  <a:srgbClr val="F6F3E7"/>
                </a:solidFill>
                <a:latin typeface="Calibri"/>
              </a:rPr>
              <a:t>object</a:t>
            </a:r>
            <a:r>
              <a:rPr sz="1350">
                <a:solidFill>
                  <a:srgbClr val="B7C9A8"/>
                </a:solidFill>
                <a:latin typeface="Calibri"/>
              </a:rPr>
              <a:t> nyata dari cetakan itu — bisa dibuat berkali-kali dengan data berbeda (</a:t>
            </a:r>
            <a:r>
              <a:rPr sz="1250">
                <a:solidFill>
                  <a:srgbClr val="C9A66B"/>
                </a:solidFill>
                <a:latin typeface="Consolas"/>
              </a:rPr>
              <a:t>produk2 = Produk("Mouse", 150000)</a:t>
            </a:r>
            <a:r>
              <a:rPr sz="1350">
                <a:solidFill>
                  <a:srgbClr val="B7C9A8"/>
                </a:solidFill>
                <a:latin typeface="Calibri"/>
              </a:rPr>
              <a:t>, dst).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30428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8600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Object punya </a:t>
            </a:r>
            <a:r>
              <a:rPr sz="1350" b="1">
                <a:solidFill>
                  <a:srgbClr val="F6F3E7"/>
                </a:solidFill>
                <a:latin typeface="Calibri"/>
              </a:rPr>
              <a:t>data miliknya sendiri</a:t>
            </a:r>
            <a:r>
              <a:rPr sz="1350">
                <a:solidFill>
                  <a:srgbClr val="B7C9A8"/>
                </a:solidFill>
                <a:latin typeface="Calibri"/>
              </a:rPr>
              <a:t> (</a:t>
            </a:r>
            <a:r>
              <a:rPr sz="1250">
                <a:solidFill>
                  <a:srgbClr val="C9A66B"/>
                </a:solidFill>
                <a:latin typeface="Consolas"/>
              </a:rPr>
              <a:t>self.nama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self.harga</a:t>
            </a:r>
            <a:r>
              <a:rPr sz="1350">
                <a:solidFill>
                  <a:srgbClr val="B7C9A8"/>
                </a:solidFill>
                <a:latin typeface="Calibri"/>
              </a:rPr>
              <a:t>) dan </a:t>
            </a:r>
            <a:r>
              <a:rPr sz="1350" b="1">
                <a:solidFill>
                  <a:srgbClr val="F6F3E7"/>
                </a:solidFill>
                <a:latin typeface="Calibri"/>
              </a:rPr>
              <a:t>method</a:t>
            </a:r>
            <a:r>
              <a:rPr sz="1350">
                <a:solidFill>
                  <a:srgbClr val="B7C9A8"/>
                </a:solidFill>
                <a:latin typeface="Calibri"/>
              </a:rPr>
              <a:t> — function yang menempel di object itu (</a:t>
            </a:r>
            <a:r>
              <a:rPr sz="1250">
                <a:solidFill>
                  <a:srgbClr val="C9A66B"/>
                </a:solidFill>
                <a:latin typeface="Consolas"/>
              </a:rPr>
              <a:t>info()</a:t>
            </a:r>
            <a:r>
              <a:rPr sz="1350">
                <a:solidFill>
                  <a:srgbClr val="B7C9A8"/>
                </a:solidFill>
                <a:latin typeface="Calibri"/>
              </a:rPr>
              <a:t>).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27355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25526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Kenapa ini penting sekarang: </a:t>
            </a:r>
            <a:r>
              <a:rPr sz="1250">
                <a:solidFill>
                  <a:srgbClr val="C9A66B"/>
                </a:solidFill>
                <a:latin typeface="Consolas"/>
              </a:rPr>
              <a:t>DataFrame</a:t>
            </a:r>
            <a:r>
              <a:rPr sz="1350">
                <a:solidFill>
                  <a:srgbClr val="B7C9A8"/>
                </a:solidFill>
                <a:latin typeface="Calibri"/>
              </a:rPr>
              <a:t> di Pandas (dipakai mulai pertemuan 3) sebenarnya adalah </a:t>
            </a:r>
            <a:r>
              <a:rPr sz="1350" b="1">
                <a:solidFill>
                  <a:srgbClr val="F6F3E7"/>
                </a:solidFill>
                <a:latin typeface="Calibri"/>
              </a:rPr>
              <a:t>object</a:t>
            </a:r>
            <a:r>
              <a:rPr sz="1350">
                <a:solidFill>
                  <a:srgbClr val="B7C9A8"/>
                </a:solidFill>
                <a:latin typeface="Calibri"/>
              </a:rPr>
              <a:t> — dia punya data (isi tabel) sekaligus method siap pakai (</a:t>
            </a:r>
            <a:r>
              <a:rPr sz="1250">
                <a:solidFill>
                  <a:srgbClr val="C9A66B"/>
                </a:solidFill>
                <a:latin typeface="Consolas"/>
              </a:rPr>
              <a:t>.head()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.describe()</a:t>
            </a:r>
            <a:r>
              <a:rPr sz="1350">
                <a:solidFill>
                  <a:srgbClr val="B7C9A8"/>
                </a:solidFill>
                <a:latin typeface="Calibri"/>
              </a:rPr>
              <a:t>, dst). Memahami "object = data + method miliknya sendiri" sekarang membuat Pandas nanti terasa lebih masuk akal, bukan sekadar dihafal.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15 DARI 15 —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Class = Cetakan, Object = Hasilnya</a:t>
            </a:r>
          </a:p>
        </p:txBody>
      </p:sp>
      <p:pic>
        <p:nvPicPr>
          <p:cNvPr id="4" name="Picture 3" descr="diagram_class_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22" y="1417320"/>
            <a:ext cx="908685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Rangkuman &amp; Istilah Penting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63040"/>
            <a:ext cx="5577840" cy="1207008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737360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71907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6F3E7"/>
                </a:solidFill>
                <a:latin typeface="Calibri"/>
              </a:rPr>
              <a:t>Conditional (if/elif/else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579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Conditional (if/elif/else, operator logika and/or/not) membuat program memilih tindakan sesuai kondisi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44368"/>
            <a:ext cx="5577840" cy="1207008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218688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32004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6F3E7"/>
                </a:solidFill>
                <a:latin typeface="Calibri"/>
              </a:rPr>
              <a:t>Loop (for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39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loop (for, while, break, continue) mengulang proses tanpa menulis ulang kode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25696"/>
            <a:ext cx="5577840" cy="1207008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700016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68172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6F3E7"/>
                </a:solidFill>
                <a:latin typeface="Calibri"/>
              </a:rPr>
              <a:t>Function (parameter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1206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function (parameter, return, default parameter) menghindari penulisan kode yang sama berkali-kali dan bisa dipanggil ulang kapan pun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42646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6F3E7"/>
                </a:solidFill>
                <a:latin typeface="Poppins"/>
              </a:rPr>
              <a:t>Istilah Penting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8836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Conditional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836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Struktur kode (if/elif/else) yang membuat program memilih jalur berdasarkan kondisi True/False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1762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408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Indentasi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408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Spasi di awal baris yang menandai suatu baris adalah bagian dari sebuah blok kode di Python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6334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980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Operator logika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980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and, or, not — dipakai untuk mengecek beberapa kondisi sekaligus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0906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2552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552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Struktur kode (for/while) yang menjalankan satu blok berkali-kali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5478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7124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range()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7124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Function yang menghasilkan deret angka berurutan, berhenti sebelum angka batas atas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0050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1696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enumerate()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696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Function yang menghasilkan pasangan (nomor urut, nilai) saat looping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4622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6268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Akumulasi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268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Pola menjumlahkan nilai satu per satu dalam loop ke sebuah variabel total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49194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0840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Infinite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0840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Loop while yang tidak pernah berhenti karena kondisinya tidak pernah jadi False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53766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383280"/>
            <a:ext cx="4937760" cy="4937760"/>
          </a:xfrm>
          <a:prstGeom prst="ellipse">
            <a:avLst/>
          </a:prstGeom>
          <a:solidFill>
            <a:srgbClr val="7C947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005840"/>
            <a:ext cx="4206240" cy="4206240"/>
          </a:xfrm>
          <a:prstGeom prst="ellipse">
            <a:avLst/>
          </a:prstGeom>
          <a:solidFill>
            <a:srgbClr val="C9A66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spc="300">
                <a:solidFill>
                  <a:srgbClr val="C9A66B"/>
                </a:solidFill>
                <a:latin typeface="Calibri"/>
              </a:rPr>
              <a:t>MINGGU DEPAN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6F3E7"/>
                </a:solidFill>
                <a:latin typeface="Poppins"/>
              </a:rPr>
              <a:t>Minggu depan kita mulai mengolah data beneran dari file CSV memakai NumPy dan Pandas.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Data Analyst UNSIKA  ·  Pertemuan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