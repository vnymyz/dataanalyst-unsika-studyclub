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lsx" ContentType="application/vnd.openxmlformats-officedocument.spreadsheetml.sheet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charts/chart1.xml" ContentType="application/vnd.openxmlformats-officedocument.drawingml.chart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24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</p:sld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 horzBarState="maximized">
    <p:restoredLeft sz="15611"/>
    <p:restoredTop sz="94610"/>
  </p:normalViewPr>
  <p:slideViewPr>
    <p:cSldViewPr snapToGrid="0" snapToObjects="1">
      <p:cViewPr varScale="1">
        <p:scale>
          <a:sx n="82" d="100"/>
          <a:sy n="82" d="100"/>
        </p:scale>
        <p:origin x="691" y="7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viewProps" Target="viewProps.xml"/><Relationship Id="rId3" Type="http://schemas.openxmlformats.org/officeDocument/2006/relationships/slide" Target="slides/slide2.xml"/><Relationship Id="rId21" Type="http://schemas.openxmlformats.org/officeDocument/2006/relationships/slide" Target="slides/slide20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presProps" Target="presProps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notesMaster" Target="notesMasters/notesMaster1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tableStyles" Target="tableStyles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theme" Target="theme/theme1.xml"/></Relationships>
</file>

<file path=ppt/charts/_rels/chart1.xml.rels><?xml version="1.0" encoding="UTF-8" standalone="yes"?>
<Relationships xmlns="http://schemas.openxmlformats.org/package/2006/relationships"><Relationship Id="rId1" Type="http://schemas.openxmlformats.org/officeDocument/2006/relationships/package" Target="../embeddings/Microsoft_Excel_Worksheet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1"/>
  <c:style val="2"/>
  <c:chart>
    <c:title>
      <c:tx>
        <c:rich>
          <a:bodyPr/>
          <a:lstStyle/>
          <a:p>
            <a:pPr>
              <a:defRPr sz="1100" b="0" i="0" u="none" strike="noStrike">
                <a:solidFill>
                  <a:srgbClr val="F6F3E7"/>
                </a:solidFill>
                <a:latin typeface="Calibri"/>
              </a:defRPr>
            </a:pPr>
            <a:r>
              <a:rPr sz="1100" b="0" i="0" u="none" strike="noStrike">
                <a:solidFill>
                  <a:srgbClr val="F6F3E7"/>
                </a:solidFill>
                <a:latin typeface="Calibri"/>
              </a:rPr>
              <a:t>Total Penjualan per Kategori (juta Rp)</a:t>
            </a:r>
          </a:p>
        </c:rich>
      </c:tx>
      <c:overlay val="0"/>
    </c:title>
    <c:autoTitleDeleted val="0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Total Penjualan</c:v>
                </c:pt>
              </c:strCache>
            </c:strRef>
          </c:tx>
          <c:spPr>
            <a:solidFill>
              <a:srgbClr val="7C9473"/>
            </a:solidFill>
            <a:effectLst/>
          </c:spPr>
          <c:invertIfNegative val="0"/>
          <c:dPt>
            <c:idx val="0"/>
            <c:invertIfNegative val="0"/>
            <c:bubble3D val="0"/>
            <c:extLst>
              <c:ext xmlns:c16="http://schemas.microsoft.com/office/drawing/2014/chart" uri="{C3380CC4-5D6E-409C-BE32-E72D297353CC}">
                <c16:uniqueId val="{00000001-1BBB-4F65-B63E-B847669CE610}"/>
              </c:ext>
            </c:extLst>
          </c:dPt>
          <c:dPt>
            <c:idx val="1"/>
            <c:invertIfNegative val="0"/>
            <c:bubble3D val="0"/>
            <c:extLst>
              <c:ext xmlns:c16="http://schemas.microsoft.com/office/drawing/2014/chart" uri="{C3380CC4-5D6E-409C-BE32-E72D297353CC}">
                <c16:uniqueId val="{00000003-1BBB-4F65-B63E-B847669CE610}"/>
              </c:ext>
            </c:extLst>
          </c:dPt>
          <c:dPt>
            <c:idx val="2"/>
            <c:invertIfNegative val="0"/>
            <c:bubble3D val="0"/>
            <c:extLst>
              <c:ext xmlns:c16="http://schemas.microsoft.com/office/drawing/2014/chart" uri="{C3380CC4-5D6E-409C-BE32-E72D297353CC}">
                <c16:uniqueId val="{00000005-1BBB-4F65-B63E-B847669CE610}"/>
              </c:ext>
            </c:extLst>
          </c:dPt>
          <c:dPt>
            <c:idx val="3"/>
            <c:invertIfNegative val="0"/>
            <c:bubble3D val="0"/>
            <c:spPr>
              <a:solidFill>
                <a:srgbClr val="C9A66B"/>
              </a:solidFill>
              <a:effectLst/>
            </c:spPr>
            <c:extLst>
              <c:ext xmlns:c16="http://schemas.microsoft.com/office/drawing/2014/chart" uri="{C3380CC4-5D6E-409C-BE32-E72D297353CC}">
                <c16:uniqueId val="{00000007-1BBB-4F65-B63E-B847669CE610}"/>
              </c:ext>
            </c:extLst>
          </c:dPt>
          <c:dLbls>
            <c:numFmt formatCode="#,##0" sourceLinked="0"/>
            <c:spPr>
              <a:noFill/>
              <a:ln>
                <a:noFill/>
              </a:ln>
              <a:effectLst/>
            </c:spPr>
            <c:txPr>
              <a:bodyPr/>
              <a:lstStyle/>
              <a:p>
                <a:pPr>
                  <a:defRPr sz="900" b="0" i="0" u="none" strike="noStrike">
                    <a:solidFill>
                      <a:srgbClr val="B7C9A8"/>
                    </a:solidFill>
                    <a:latin typeface="Arial"/>
                  </a:defRPr>
                </a:pPr>
                <a:endParaRPr lang="en-US"/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Sheet1!$A$2:$A$5</c:f>
              <c:strCache>
                <c:ptCount val="4"/>
                <c:pt idx="0">
                  <c:v>Elektronik</c:v>
                </c:pt>
                <c:pt idx="1">
                  <c:v>Fashion</c:v>
                </c:pt>
                <c:pt idx="2">
                  <c:v>Makanan</c:v>
                </c:pt>
                <c:pt idx="3">
                  <c:v>Buku</c:v>
                </c:pt>
              </c:strCache>
            </c:strRef>
          </c:cat>
          <c:val>
            <c:numRef>
              <c:f>Sheet1!$B$2:$B$5</c:f>
              <c:numCache>
                <c:formatCode>General</c:formatCode>
                <c:ptCount val="4"/>
                <c:pt idx="0">
                  <c:v>48</c:v>
                </c:pt>
                <c:pt idx="1">
                  <c:v>31</c:v>
                </c:pt>
                <c:pt idx="2">
                  <c:v>22</c:v>
                </c:pt>
                <c:pt idx="3">
                  <c:v>14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8-1BBB-4F65-B63E-B847669CE610}"/>
            </c:ext>
          </c:extLst>
        </c:ser>
        <c:dLbls>
          <c:showLegendKey val="0"/>
          <c:showVal val="1"/>
          <c:showCatName val="0"/>
          <c:showSerName val="0"/>
          <c:showPercent val="0"/>
          <c:showBubbleSize val="0"/>
        </c:dLbls>
        <c:gapWidth val="60"/>
        <c:axId val="2094734554"/>
        <c:axId val="2094734552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900" b="0" i="0" u="none" strike="noStrike">
                <a:solidFill>
                  <a:srgbClr val="B7C9A8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lblOffset val="100"/>
        <c:noMultiLvlLbl val="1"/>
      </c:catAx>
      <c:valAx>
        <c:axId val="2094734552"/>
        <c:scaling>
          <c:orientation val="minMax"/>
          <c:max val="60"/>
        </c:scaling>
        <c:delete val="0"/>
        <c:axPos val="l"/>
        <c:majorGridlines>
          <c:spPr>
            <a:ln w="12700" cap="flat">
              <a:solidFill>
                <a:srgbClr val="3A4C30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900" b="0" i="0" u="none" strike="noStrike">
                <a:solidFill>
                  <a:srgbClr val="B7C9A8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solidFill>
          <a:srgbClr val="22301C"/>
        </a:solidFill>
        <a:ln>
          <a:noFill/>
        </a:ln>
        <a:effectLst/>
      </c:spPr>
    </c:plotArea>
    <c:plotVisOnly val="1"/>
    <c:dispBlanksAs val="span"/>
    <c:showDLblsOverMax val="1"/>
  </c:chart>
  <c:spPr>
    <a:solidFill>
      <a:srgbClr val="22301C"/>
    </a:solidFill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41336694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.xml"/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.xml"/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9.xml"/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0.xml"/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1.xml"/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2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2" Type="http://schemas.openxmlformats.org/officeDocument/2006/relationships/theme" Target="../theme/theme1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7" Type="http://schemas.openxmlformats.org/officeDocument/2006/relationships/image" Target="../media/image5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4.png"/><Relationship Id="rId5" Type="http://schemas.openxmlformats.org/officeDocument/2006/relationships/image" Target="../media/image3.png"/><Relationship Id="rId4" Type="http://schemas.openxmlformats.org/officeDocument/2006/relationships/image" Target="../media/image2.png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chart" Target="../charts/chart1.xml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1.xml"/></Relationships>
</file>

<file path=ppt/slides/_rels/slide8.xml.rels><?xml version="1.0" encoding="UTF-8" standalone="yes"?>
<Relationships xmlns="http://schemas.openxmlformats.org/package/2006/relationships"><Relationship Id="rId8" Type="http://schemas.openxmlformats.org/officeDocument/2006/relationships/image" Target="../media/image11.png"/><Relationship Id="rId3" Type="http://schemas.openxmlformats.org/officeDocument/2006/relationships/image" Target="../media/image6.png"/><Relationship Id="rId7" Type="http://schemas.openxmlformats.org/officeDocument/2006/relationships/image" Target="../media/image10.pn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9.png"/><Relationship Id="rId5" Type="http://schemas.openxmlformats.org/officeDocument/2006/relationships/image" Target="../media/image8.png"/><Relationship Id="rId4" Type="http://schemas.openxmlformats.org/officeDocument/2006/relationships/image" Target="../media/image7.png"/><Relationship Id="rId9" Type="http://schemas.openxmlformats.org/officeDocument/2006/relationships/image" Target="../media/image12.png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1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13.png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4.png"/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12.png"/><Relationship Id="rId4" Type="http://schemas.openxmlformats.org/officeDocument/2006/relationships/image" Target="../media/image1.png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1.xml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1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1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1.xml"/></Relationships>
</file>

<file path=ppt/slides/_rels/slide1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5.png"/><Relationship Id="rId2" Type="http://schemas.openxmlformats.org/officeDocument/2006/relationships/notesSlide" Target="../notesSlides/notesSlide16.xml"/><Relationship Id="rId1" Type="http://schemas.openxmlformats.org/officeDocument/2006/relationships/slideLayout" Target="../slideLayouts/slideLayout1.xml"/></Relationships>
</file>

<file path=ppt/slides/_rels/slide1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4.png"/><Relationship Id="rId2" Type="http://schemas.openxmlformats.org/officeDocument/2006/relationships/notesSlide" Target="../notesSlides/notesSlide17.xml"/><Relationship Id="rId1" Type="http://schemas.openxmlformats.org/officeDocument/2006/relationships/slideLayout" Target="../slideLayouts/slideLayout1.xml"/></Relationships>
</file>

<file path=ppt/slides/_rels/slide18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notesSlide" Target="../notesSlides/notesSlide18.xml"/><Relationship Id="rId1" Type="http://schemas.openxmlformats.org/officeDocument/2006/relationships/slideLayout" Target="../slideLayouts/slideLayout1.xml"/></Relationships>
</file>

<file path=ppt/slides/_rels/slide19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notesSlide" Target="../notesSlides/notesSlide19.xml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16.png"/><Relationship Id="rId4" Type="http://schemas.openxmlformats.org/officeDocument/2006/relationships/image" Target="../media/image5.png"/></Relationships>
</file>

<file path=ppt/slides/_rels/slide2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0.xml"/><Relationship Id="rId1" Type="http://schemas.openxmlformats.org/officeDocument/2006/relationships/slideLayout" Target="../slideLayouts/slideLayout1.xml"/></Relationships>
</file>

<file path=ppt/slides/_rels/slide2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1.xml"/><Relationship Id="rId1" Type="http://schemas.openxmlformats.org/officeDocument/2006/relationships/slideLayout" Target="../slideLayouts/slideLayout1.xml"/></Relationships>
</file>

<file path=ppt/slides/_rels/slide2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2.xml"/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A231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321040" y="-1234440"/>
            <a:ext cx="5120640" cy="5120640"/>
          </a:xfrm>
          <a:prstGeom prst="ellipse">
            <a:avLst/>
          </a:prstGeom>
          <a:solidFill>
            <a:srgbClr val="7C9473">
              <a:alpha val="10000"/>
            </a:srgbClr>
          </a:solidFill>
          <a:ln w="12700">
            <a:solidFill>
              <a:srgbClr val="7C9473">
                <a:alpha val="10000"/>
              </a:srgbClr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9692640" y="3108960"/>
            <a:ext cx="2926080" cy="2926080"/>
          </a:xfrm>
          <a:prstGeom prst="ellipse">
            <a:avLst/>
          </a:prstGeom>
          <a:solidFill>
            <a:srgbClr val="C9A66B">
              <a:alpha val="8000"/>
            </a:srgbClr>
          </a:solidFill>
          <a:ln w="12700">
            <a:solidFill>
              <a:srgbClr val="C9A66B">
                <a:alpha val="8000"/>
              </a:srgbClr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7589520" y="4480560"/>
            <a:ext cx="1371600" cy="1371600"/>
          </a:xfrm>
          <a:prstGeom prst="ellipse">
            <a:avLst/>
          </a:prstGeom>
          <a:solidFill>
            <a:srgbClr val="7C9473">
              <a:alpha val="18000"/>
            </a:srgbClr>
          </a:solidFill>
          <a:ln w="12700">
            <a:solidFill>
              <a:srgbClr val="7C9473">
                <a:alpha val="18000"/>
              </a:srgbClr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868680" y="1572768"/>
            <a:ext cx="64008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200" b="1" kern="0" spc="350" dirty="0">
                <a:solidFill>
                  <a:srgbClr val="C9A6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HALTEV STUDY CLUB</a:t>
            </a:r>
            <a:endParaRPr lang="en-US" sz="1200" dirty="0"/>
          </a:p>
        </p:txBody>
      </p:sp>
      <p:sp>
        <p:nvSpPr>
          <p:cNvPr id="6" name="Text 4"/>
          <p:cNvSpPr txBox="1"/>
          <p:nvPr/>
        </p:nvSpPr>
        <p:spPr>
          <a:xfrm>
            <a:off x="868680" y="1938528"/>
            <a:ext cx="731520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5200" b="1" dirty="0">
                <a:solidFill>
                  <a:srgbClr val="F6F3E7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DATA</a:t>
            </a:r>
            <a:endParaRPr lang="en-US" sz="5200" dirty="0"/>
          </a:p>
        </p:txBody>
      </p:sp>
      <p:sp>
        <p:nvSpPr>
          <p:cNvPr id="7" name="Text 5"/>
          <p:cNvSpPr txBox="1"/>
          <p:nvPr/>
        </p:nvSpPr>
        <p:spPr>
          <a:xfrm>
            <a:off x="868680" y="2761488"/>
            <a:ext cx="731520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5200" b="1" dirty="0">
                <a:solidFill>
                  <a:srgbClr val="7C9473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ANALYST</a:t>
            </a:r>
            <a:endParaRPr lang="en-US" sz="5200" dirty="0"/>
          </a:p>
        </p:txBody>
      </p:sp>
      <p:sp>
        <p:nvSpPr>
          <p:cNvPr id="8" name="Text 6"/>
          <p:cNvSpPr txBox="1"/>
          <p:nvPr/>
        </p:nvSpPr>
        <p:spPr>
          <a:xfrm>
            <a:off x="868680" y="3877056"/>
            <a:ext cx="68580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20000"/>
              </a:lnSpc>
              <a:buNone/>
            </a:pPr>
            <a:r>
              <a:rPr lang="en-US" sz="1700" dirty="0">
                <a:solidFill>
                  <a:srgbClr val="B7C9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Pertemuan 1 — Kenalan dengan Data Analyst &amp; Python Dasar</a:t>
            </a:r>
            <a:endParaRPr lang="en-US" sz="1700" dirty="0"/>
          </a:p>
        </p:txBody>
      </p:sp>
      <p:sp>
        <p:nvSpPr>
          <p:cNvPr id="10" name="Shape 8"/>
          <p:cNvSpPr/>
          <p:nvPr/>
        </p:nvSpPr>
        <p:spPr>
          <a:xfrm>
            <a:off x="868680" y="5230368"/>
            <a:ext cx="2148840" cy="420624"/>
          </a:xfrm>
          <a:prstGeom prst="roundRect">
            <a:avLst>
              <a:gd name="adj" fmla="val 108696"/>
            </a:avLst>
          </a:prstGeom>
          <a:solidFill>
            <a:srgbClr val="2A3823"/>
          </a:solidFill>
          <a:ln w="12700">
            <a:solidFill>
              <a:srgbClr val="7C9473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868680" y="5230368"/>
            <a:ext cx="21488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B7C9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19.30–21.00 WIB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3154680" y="5230368"/>
            <a:ext cx="2148840" cy="420624"/>
          </a:xfrm>
          <a:prstGeom prst="roundRect">
            <a:avLst>
              <a:gd name="adj" fmla="val 108696"/>
            </a:avLst>
          </a:prstGeom>
          <a:solidFill>
            <a:srgbClr val="2A3823"/>
          </a:solidFill>
          <a:ln w="12700">
            <a:solidFill>
              <a:srgbClr val="7C9473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3154680" y="5230368"/>
            <a:ext cx="21488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B7C9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Google Colab</a:t>
            </a:r>
            <a:endParaRPr lang="en-US" sz="1100" dirty="0"/>
          </a:p>
        </p:txBody>
      </p:sp>
      <p:sp>
        <p:nvSpPr>
          <p:cNvPr id="14" name="Shape 12"/>
          <p:cNvSpPr/>
          <p:nvPr/>
        </p:nvSpPr>
        <p:spPr>
          <a:xfrm>
            <a:off x="5440680" y="5230368"/>
            <a:ext cx="2148840" cy="420624"/>
          </a:xfrm>
          <a:prstGeom prst="roundRect">
            <a:avLst>
              <a:gd name="adj" fmla="val 108696"/>
            </a:avLst>
          </a:prstGeom>
          <a:solidFill>
            <a:srgbClr val="2A3823"/>
          </a:solidFill>
          <a:ln w="12700">
            <a:solidFill>
              <a:srgbClr val="7C9473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5440680" y="5230368"/>
            <a:ext cx="21488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B7C9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Python 3</a:t>
            </a:r>
            <a:endParaRPr lang="en-US" sz="1100" dirty="0"/>
          </a:p>
        </p:txBody>
      </p:sp>
      <p:sp>
        <p:nvSpPr>
          <p:cNvPr id="16" name="Text 14"/>
          <p:cNvSpPr txBox="1"/>
          <p:nvPr/>
        </p:nvSpPr>
        <p:spPr>
          <a:xfrm>
            <a:off x="868680" y="6144768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000" dirty="0">
                <a:solidFill>
                  <a:srgbClr val="6F826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Tutor: Vanya Mayazura  ·  Software Engineer Instructor</a:t>
            </a:r>
            <a:endParaRPr lang="en-US" sz="10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1A231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66928" y="384048"/>
            <a:ext cx="11057839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950" b="1" kern="0" spc="200" dirty="0">
                <a:solidFill>
                  <a:srgbClr val="7C94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PERTEMUAN 1</a:t>
            </a:r>
            <a:endParaRPr lang="en-US" sz="950" dirty="0"/>
          </a:p>
        </p:txBody>
      </p:sp>
      <p:sp>
        <p:nvSpPr>
          <p:cNvPr id="3" name="Text 1"/>
          <p:cNvSpPr txBox="1"/>
          <p:nvPr/>
        </p:nvSpPr>
        <p:spPr>
          <a:xfrm>
            <a:off x="566928" y="640080"/>
            <a:ext cx="11057839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2900" b="1" dirty="0">
                <a:solidFill>
                  <a:srgbClr val="F6F3E7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Gambaran Sesi Ini</a:t>
            </a:r>
            <a:endParaRPr lang="en-US" sz="2900" dirty="0"/>
          </a:p>
        </p:txBody>
      </p:sp>
      <p:sp>
        <p:nvSpPr>
          <p:cNvPr id="4" name="Shape 2"/>
          <p:cNvSpPr/>
          <p:nvPr/>
        </p:nvSpPr>
        <p:spPr>
          <a:xfrm>
            <a:off x="566928" y="1463040"/>
            <a:ext cx="3977640" cy="868680"/>
          </a:xfrm>
          <a:prstGeom prst="roundRect">
            <a:avLst>
              <a:gd name="adj" fmla="val 9474"/>
            </a:avLst>
          </a:prstGeom>
          <a:solidFill>
            <a:srgbClr val="22301C"/>
          </a:solidFill>
          <a:ln w="12700">
            <a:solidFill>
              <a:srgbClr val="3A4C30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822960" y="1645920"/>
            <a:ext cx="34747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50" b="1" kern="0" spc="180" dirty="0">
                <a:solidFill>
                  <a:srgbClr val="C9A6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DURASI</a:t>
            </a:r>
            <a:endParaRPr lang="en-US" sz="850" dirty="0"/>
          </a:p>
        </p:txBody>
      </p:sp>
      <p:sp>
        <p:nvSpPr>
          <p:cNvPr id="6" name="Text 4"/>
          <p:cNvSpPr txBox="1"/>
          <p:nvPr/>
        </p:nvSpPr>
        <p:spPr>
          <a:xfrm>
            <a:off x="822960" y="1920240"/>
            <a:ext cx="347472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18000"/>
              </a:lnSpc>
              <a:buNone/>
            </a:pPr>
            <a:r>
              <a:rPr lang="en-US" sz="1450" b="1" dirty="0">
                <a:solidFill>
                  <a:srgbClr val="F6F3E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19.30 – 21.00 WIB</a:t>
            </a:r>
            <a:endParaRPr lang="en-US" sz="1450" dirty="0"/>
          </a:p>
        </p:txBody>
      </p:sp>
      <p:sp>
        <p:nvSpPr>
          <p:cNvPr id="7" name="Shape 5"/>
          <p:cNvSpPr/>
          <p:nvPr/>
        </p:nvSpPr>
        <p:spPr>
          <a:xfrm>
            <a:off x="566928" y="2450592"/>
            <a:ext cx="3977640" cy="868680"/>
          </a:xfrm>
          <a:prstGeom prst="roundRect">
            <a:avLst>
              <a:gd name="adj" fmla="val 9474"/>
            </a:avLst>
          </a:prstGeom>
          <a:solidFill>
            <a:srgbClr val="22301C"/>
          </a:solidFill>
          <a:ln w="12700">
            <a:solidFill>
              <a:srgbClr val="3A4C30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822960" y="2633472"/>
            <a:ext cx="34747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50" b="1" kern="0" spc="180" dirty="0">
                <a:solidFill>
                  <a:srgbClr val="C9A6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TOOLS</a:t>
            </a:r>
            <a:endParaRPr lang="en-US" sz="850" dirty="0"/>
          </a:p>
        </p:txBody>
      </p:sp>
      <p:sp>
        <p:nvSpPr>
          <p:cNvPr id="9" name="Text 7"/>
          <p:cNvSpPr txBox="1"/>
          <p:nvPr/>
        </p:nvSpPr>
        <p:spPr>
          <a:xfrm>
            <a:off x="822960" y="2907792"/>
            <a:ext cx="347472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18000"/>
              </a:lnSpc>
              <a:buNone/>
            </a:pPr>
            <a:r>
              <a:rPr lang="en-US" sz="1450" b="1" dirty="0">
                <a:solidFill>
                  <a:srgbClr val="F6F3E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Google Colab  ·  Python 3</a:t>
            </a:r>
            <a:endParaRPr lang="en-US" sz="1450" dirty="0"/>
          </a:p>
        </p:txBody>
      </p:sp>
      <p:sp>
        <p:nvSpPr>
          <p:cNvPr id="10" name="Shape 8"/>
          <p:cNvSpPr/>
          <p:nvPr/>
        </p:nvSpPr>
        <p:spPr>
          <a:xfrm>
            <a:off x="566928" y="3438144"/>
            <a:ext cx="3977640" cy="1627632"/>
          </a:xfrm>
          <a:prstGeom prst="roundRect">
            <a:avLst>
              <a:gd name="adj" fmla="val 5056"/>
            </a:avLst>
          </a:prstGeom>
          <a:solidFill>
            <a:srgbClr val="22301C"/>
          </a:solidFill>
          <a:ln w="12700">
            <a:solidFill>
              <a:srgbClr val="3A4C30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822960" y="3621024"/>
            <a:ext cx="34747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50" b="1" kern="0" spc="180" dirty="0">
                <a:solidFill>
                  <a:srgbClr val="C9A6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OUTPUT SESI INI</a:t>
            </a:r>
            <a:endParaRPr lang="en-US" sz="850" dirty="0"/>
          </a:p>
        </p:txBody>
      </p:sp>
      <p:sp>
        <p:nvSpPr>
          <p:cNvPr id="12" name="Text 10"/>
          <p:cNvSpPr txBox="1"/>
          <p:nvPr/>
        </p:nvSpPr>
        <p:spPr>
          <a:xfrm>
            <a:off x="822960" y="3895344"/>
            <a:ext cx="347472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18000"/>
              </a:lnSpc>
              <a:buNone/>
            </a:pPr>
            <a:r>
              <a:rPr lang="en-US" sz="1200" dirty="0">
                <a:solidFill>
                  <a:srgbClr val="B7C9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Peserta dapat menjalankan notebook di Colab dan memakai variabel, tipe data, list, serta dictionary untuk menyimpan data sederhana.</a:t>
            </a:r>
            <a:endParaRPr lang="en-US" sz="1200" dirty="0"/>
          </a:p>
        </p:txBody>
      </p:sp>
      <p:sp>
        <p:nvSpPr>
          <p:cNvPr id="13" name="Text 11"/>
          <p:cNvSpPr txBox="1"/>
          <p:nvPr/>
        </p:nvSpPr>
        <p:spPr>
          <a:xfrm>
            <a:off x="4892040" y="1463040"/>
            <a:ext cx="67208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800" b="1" dirty="0">
                <a:solidFill>
                  <a:srgbClr val="F6F3E7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Tujuan Belajar</a:t>
            </a:r>
            <a:endParaRPr lang="en-US" sz="1800" dirty="0"/>
          </a:p>
        </p:txBody>
      </p:sp>
      <p:sp>
        <p:nvSpPr>
          <p:cNvPr id="14" name="Shape 12"/>
          <p:cNvSpPr/>
          <p:nvPr/>
        </p:nvSpPr>
        <p:spPr>
          <a:xfrm>
            <a:off x="4892040" y="1975104"/>
            <a:ext cx="365760" cy="365760"/>
          </a:xfrm>
          <a:prstGeom prst="ellipse">
            <a:avLst/>
          </a:prstGeom>
          <a:solidFill>
            <a:srgbClr val="C9A66B"/>
          </a:solidFill>
          <a:ln w="12700">
            <a:solidFill>
              <a:srgbClr val="C9A66B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4892040" y="1975104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1A231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1</a:t>
            </a:r>
            <a:endParaRPr lang="en-US" sz="1200" dirty="0"/>
          </a:p>
        </p:txBody>
      </p:sp>
      <p:sp>
        <p:nvSpPr>
          <p:cNvPr id="16" name="Text 14"/>
          <p:cNvSpPr txBox="1"/>
          <p:nvPr/>
        </p:nvSpPr>
        <p:spPr>
          <a:xfrm>
            <a:off x="5413248" y="1956816"/>
            <a:ext cx="62179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20000"/>
              </a:lnSpc>
              <a:buNone/>
            </a:pPr>
            <a:r>
              <a:rPr lang="en-US" sz="1300" dirty="0">
                <a:solidFill>
                  <a:srgbClr val="B7C9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Memahami peran Data Analyst dan alur kerja dari data mentah sampai insight.</a:t>
            </a:r>
            <a:endParaRPr lang="en-US" sz="1300" dirty="0"/>
          </a:p>
        </p:txBody>
      </p:sp>
      <p:sp>
        <p:nvSpPr>
          <p:cNvPr id="17" name="Shape 15"/>
          <p:cNvSpPr/>
          <p:nvPr/>
        </p:nvSpPr>
        <p:spPr>
          <a:xfrm>
            <a:off x="4892040" y="2770632"/>
            <a:ext cx="365760" cy="365760"/>
          </a:xfrm>
          <a:prstGeom prst="ellipse">
            <a:avLst/>
          </a:prstGeom>
          <a:solidFill>
            <a:srgbClr val="C9A66B"/>
          </a:solidFill>
          <a:ln w="12700">
            <a:solidFill>
              <a:srgbClr val="C9A66B"/>
            </a:solidFill>
            <a:prstDash val="solid"/>
          </a:ln>
        </p:spPr>
      </p:sp>
      <p:sp>
        <p:nvSpPr>
          <p:cNvPr id="18" name="Text 16"/>
          <p:cNvSpPr txBox="1"/>
          <p:nvPr/>
        </p:nvSpPr>
        <p:spPr>
          <a:xfrm>
            <a:off x="4892040" y="2770632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1A231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2</a:t>
            </a:r>
            <a:endParaRPr lang="en-US" sz="1200" dirty="0"/>
          </a:p>
        </p:txBody>
      </p:sp>
      <p:sp>
        <p:nvSpPr>
          <p:cNvPr id="19" name="Text 17"/>
          <p:cNvSpPr txBox="1"/>
          <p:nvPr/>
        </p:nvSpPr>
        <p:spPr>
          <a:xfrm>
            <a:off x="5413248" y="2752344"/>
            <a:ext cx="62179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20000"/>
              </a:lnSpc>
              <a:buNone/>
            </a:pPr>
            <a:r>
              <a:rPr lang="en-US" sz="1300" dirty="0">
                <a:solidFill>
                  <a:srgbClr val="B7C9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Menggunakan Google Colab: membuat cell, menjalankan kode, membaca error sederhana.</a:t>
            </a:r>
            <a:endParaRPr lang="en-US" sz="1300" dirty="0"/>
          </a:p>
        </p:txBody>
      </p:sp>
      <p:sp>
        <p:nvSpPr>
          <p:cNvPr id="20" name="Shape 18"/>
          <p:cNvSpPr/>
          <p:nvPr/>
        </p:nvSpPr>
        <p:spPr>
          <a:xfrm>
            <a:off x="4892040" y="3566160"/>
            <a:ext cx="365760" cy="365760"/>
          </a:xfrm>
          <a:prstGeom prst="ellipse">
            <a:avLst/>
          </a:prstGeom>
          <a:solidFill>
            <a:srgbClr val="C9A66B"/>
          </a:solidFill>
          <a:ln w="12700">
            <a:solidFill>
              <a:srgbClr val="C9A66B"/>
            </a:solidFill>
            <a:prstDash val="solid"/>
          </a:ln>
        </p:spPr>
      </p:sp>
      <p:sp>
        <p:nvSpPr>
          <p:cNvPr id="21" name="Text 19"/>
          <p:cNvSpPr txBox="1"/>
          <p:nvPr/>
        </p:nvSpPr>
        <p:spPr>
          <a:xfrm>
            <a:off x="4892040" y="356616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1A231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3</a:t>
            </a:r>
            <a:endParaRPr lang="en-US" sz="1200" dirty="0"/>
          </a:p>
        </p:txBody>
      </p:sp>
      <p:sp>
        <p:nvSpPr>
          <p:cNvPr id="22" name="Text 20"/>
          <p:cNvSpPr txBox="1"/>
          <p:nvPr/>
        </p:nvSpPr>
        <p:spPr>
          <a:xfrm>
            <a:off x="5413248" y="3547872"/>
            <a:ext cx="62179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20000"/>
              </a:lnSpc>
              <a:buNone/>
            </a:pPr>
            <a:r>
              <a:rPr lang="en-US" sz="1300" dirty="0">
                <a:solidFill>
                  <a:srgbClr val="B7C9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Menggunakan variabel, tipe data, print(), dan f-string.</a:t>
            </a:r>
            <a:endParaRPr lang="en-US" sz="1300" dirty="0"/>
          </a:p>
        </p:txBody>
      </p:sp>
      <p:sp>
        <p:nvSpPr>
          <p:cNvPr id="23" name="Shape 21"/>
          <p:cNvSpPr/>
          <p:nvPr/>
        </p:nvSpPr>
        <p:spPr>
          <a:xfrm>
            <a:off x="4892040" y="4361688"/>
            <a:ext cx="365760" cy="365760"/>
          </a:xfrm>
          <a:prstGeom prst="ellipse">
            <a:avLst/>
          </a:prstGeom>
          <a:solidFill>
            <a:srgbClr val="C9A66B"/>
          </a:solidFill>
          <a:ln w="12700">
            <a:solidFill>
              <a:srgbClr val="C9A66B"/>
            </a:solidFill>
            <a:prstDash val="solid"/>
          </a:ln>
        </p:spPr>
      </p:sp>
      <p:sp>
        <p:nvSpPr>
          <p:cNvPr id="24" name="Text 22"/>
          <p:cNvSpPr txBox="1"/>
          <p:nvPr/>
        </p:nvSpPr>
        <p:spPr>
          <a:xfrm>
            <a:off x="4892040" y="4361688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1A231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4</a:t>
            </a:r>
            <a:endParaRPr lang="en-US" sz="1200" dirty="0"/>
          </a:p>
        </p:txBody>
      </p:sp>
      <p:sp>
        <p:nvSpPr>
          <p:cNvPr id="25" name="Text 23"/>
          <p:cNvSpPr txBox="1"/>
          <p:nvPr/>
        </p:nvSpPr>
        <p:spPr>
          <a:xfrm>
            <a:off x="5413248" y="4343400"/>
            <a:ext cx="62179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20000"/>
              </a:lnSpc>
              <a:buNone/>
            </a:pPr>
            <a:r>
              <a:rPr lang="en-US" sz="1300" dirty="0">
                <a:solidFill>
                  <a:srgbClr val="B7C9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Menggunakan operator aritmatika dan perbandingan dasar.</a:t>
            </a:r>
            <a:endParaRPr lang="en-US" sz="1300" dirty="0"/>
          </a:p>
        </p:txBody>
      </p:sp>
      <p:sp>
        <p:nvSpPr>
          <p:cNvPr id="26" name="Shape 24"/>
          <p:cNvSpPr/>
          <p:nvPr/>
        </p:nvSpPr>
        <p:spPr>
          <a:xfrm>
            <a:off x="4892040" y="5157216"/>
            <a:ext cx="365760" cy="365760"/>
          </a:xfrm>
          <a:prstGeom prst="ellipse">
            <a:avLst/>
          </a:prstGeom>
          <a:solidFill>
            <a:srgbClr val="C9A66B"/>
          </a:solidFill>
          <a:ln w="12700">
            <a:solidFill>
              <a:srgbClr val="C9A66B"/>
            </a:solidFill>
            <a:prstDash val="solid"/>
          </a:ln>
        </p:spPr>
      </p:sp>
      <p:sp>
        <p:nvSpPr>
          <p:cNvPr id="27" name="Text 25"/>
          <p:cNvSpPr txBox="1"/>
          <p:nvPr/>
        </p:nvSpPr>
        <p:spPr>
          <a:xfrm>
            <a:off x="4892040" y="5157216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1A231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5</a:t>
            </a:r>
            <a:endParaRPr lang="en-US" sz="1200" dirty="0"/>
          </a:p>
        </p:txBody>
      </p:sp>
      <p:sp>
        <p:nvSpPr>
          <p:cNvPr id="28" name="Text 26"/>
          <p:cNvSpPr txBox="1"/>
          <p:nvPr/>
        </p:nvSpPr>
        <p:spPr>
          <a:xfrm>
            <a:off x="5413248" y="5138928"/>
            <a:ext cx="62179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20000"/>
              </a:lnSpc>
              <a:buNone/>
            </a:pPr>
            <a:r>
              <a:rPr lang="en-US" sz="1300" dirty="0">
                <a:solidFill>
                  <a:srgbClr val="B7C9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Menyimpan dan mengakses data dengan list dan dictionary.</a:t>
            </a:r>
            <a:endParaRPr lang="en-US" sz="1300" dirty="0"/>
          </a:p>
        </p:txBody>
      </p:sp>
      <p:sp>
        <p:nvSpPr>
          <p:cNvPr id="29" name="Text 27"/>
          <p:cNvSpPr txBox="1"/>
          <p:nvPr/>
        </p:nvSpPr>
        <p:spPr>
          <a:xfrm>
            <a:off x="566928" y="6400800"/>
            <a:ext cx="5486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50" dirty="0">
                <a:solidFill>
                  <a:srgbClr val="6F826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Data Analyst UNSIKA  ·  Pertemuan 1</a:t>
            </a:r>
            <a:endParaRPr lang="en-US" sz="850" dirty="0"/>
          </a:p>
        </p:txBody>
      </p:sp>
      <p:sp>
        <p:nvSpPr>
          <p:cNvPr id="30" name="Text 28"/>
          <p:cNvSpPr txBox="1"/>
          <p:nvPr/>
        </p:nvSpPr>
        <p:spPr>
          <a:xfrm>
            <a:off x="10710367" y="6400800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850" b="1" dirty="0">
                <a:solidFill>
                  <a:srgbClr val="C9A6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85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1A231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66928" y="384048"/>
            <a:ext cx="11057839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950" b="1" kern="0" spc="200" dirty="0">
                <a:solidFill>
                  <a:srgbClr val="7C94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PERTEMUAN 1</a:t>
            </a:r>
            <a:endParaRPr lang="en-US" sz="950" dirty="0"/>
          </a:p>
        </p:txBody>
      </p:sp>
      <p:sp>
        <p:nvSpPr>
          <p:cNvPr id="3" name="Text 1"/>
          <p:cNvSpPr txBox="1"/>
          <p:nvPr/>
        </p:nvSpPr>
        <p:spPr>
          <a:xfrm>
            <a:off x="566928" y="640080"/>
            <a:ext cx="11057839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2900" b="1" dirty="0">
                <a:solidFill>
                  <a:srgbClr val="F6F3E7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Rundown Sesi Ini</a:t>
            </a:r>
            <a:endParaRPr lang="en-US" sz="2900" dirty="0"/>
          </a:p>
        </p:txBody>
      </p:sp>
      <p:graphicFrame>
        <p:nvGraphicFramePr>
          <p:cNvPr id="4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66928" y="1536192"/>
          <a:ext cx="11057839" cy="914400"/>
        </p:xfrm>
        <a:graphic>
          <a:graphicData uri="http://schemas.openxmlformats.org/drawingml/2006/table">
            <a:tbl>
              <a:tblPr/>
              <a:tblGrid>
                <a:gridCol w="224028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8817559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384048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00" b="1" kern="0" spc="150" dirty="0">
                          <a:solidFill>
                            <a:srgbClr val="C9A66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WAKTU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46304" marR="146304" marT="54864" marB="54864" anchor="ctr">
                    <a:lnL w="12700" cap="flat" cmpd="sng" algn="ctr">
                      <a:solidFill>
                        <a:srgbClr val="3A4C3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3A4C3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3A4C3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3A4C3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A3823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00" b="1" kern="0" spc="150" dirty="0">
                          <a:solidFill>
                            <a:srgbClr val="C9A66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AKTIVITAS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46304" marR="146304" marT="54864" marB="54864" anchor="ctr">
                    <a:lnL w="12700" cap="flat" cmpd="sng" algn="ctr">
                      <a:solidFill>
                        <a:srgbClr val="3A4C3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3A4C3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3A4C3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3A4C3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A3823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576072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00" b="1" dirty="0">
                          <a:solidFill>
                            <a:srgbClr val="F6F3E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19.30 – 19.40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46304" marR="146304" marT="54864" marB="54864" anchor="ctr">
                    <a:lnL w="12700" cap="flat" cmpd="sng" algn="ctr">
                      <a:solidFill>
                        <a:srgbClr val="3A4C3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3A4C3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3A4C3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3A4C3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2301C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00" dirty="0">
                          <a:solidFill>
                            <a:srgbClr val="B7C9A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Pembukaan &amp; ice breaking: “data apa yang paling sering kalian lihat hari ini?”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46304" marR="146304" marT="54864" marB="54864" anchor="ctr">
                    <a:lnL w="12700" cap="flat" cmpd="sng" algn="ctr">
                      <a:solidFill>
                        <a:srgbClr val="3A4C3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3A4C3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3A4C3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3A4C3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2301C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576072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00" b="1" dirty="0">
                          <a:solidFill>
                            <a:srgbClr val="F6F3E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19.40 – 19.55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46304" marR="146304" marT="54864" marB="54864" anchor="ctr">
                    <a:lnL w="12700" cap="flat" cmpd="sng" algn="ctr">
                      <a:solidFill>
                        <a:srgbClr val="3A4C3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3A4C3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3A4C3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3A4C3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A19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00" dirty="0">
                          <a:solidFill>
                            <a:srgbClr val="B7C9A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Teori: apa itu Data Analyst, alur kerjanya, contoh dashboard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46304" marR="146304" marT="54864" marB="54864" anchor="ctr">
                    <a:lnL w="12700" cap="flat" cmpd="sng" algn="ctr">
                      <a:solidFill>
                        <a:srgbClr val="3A4C3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3A4C3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3A4C3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3A4C3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A19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576072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00" b="1" dirty="0">
                          <a:solidFill>
                            <a:srgbClr val="F6F3E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19.55 – 20.10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46304" marR="146304" marT="54864" marB="54864" anchor="ctr">
                    <a:lnL w="12700" cap="flat" cmpd="sng" algn="ctr">
                      <a:solidFill>
                        <a:srgbClr val="3A4C3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3A4C3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3A4C3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3A4C3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2301C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00" dirty="0">
                          <a:solidFill>
                            <a:srgbClr val="B7C9A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Teori + hands-on: Google Colab, cell, run, membaca error sederhana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46304" marR="146304" marT="54864" marB="54864" anchor="ctr">
                    <a:lnL w="12700" cap="flat" cmpd="sng" algn="ctr">
                      <a:solidFill>
                        <a:srgbClr val="3A4C3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3A4C3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3A4C3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3A4C3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2301C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576072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00" b="1" dirty="0">
                          <a:solidFill>
                            <a:srgbClr val="F6F3E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20.10 – 20.35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46304" marR="146304" marT="54864" marB="54864" anchor="ctr">
                    <a:lnL w="12700" cap="flat" cmpd="sng" algn="ctr">
                      <a:solidFill>
                        <a:srgbClr val="3A4C3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3A4C3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3A4C3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3A4C3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A19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00" dirty="0">
                          <a:solidFill>
                            <a:srgbClr val="B7C9A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Teori + hands-on: variabel, tipe data, print, f-string, operator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46304" marR="146304" marT="54864" marB="54864" anchor="ctr">
                    <a:lnL w="12700" cap="flat" cmpd="sng" algn="ctr">
                      <a:solidFill>
                        <a:srgbClr val="3A4C3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3A4C3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3A4C3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3A4C3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A19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576072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00" b="1" dirty="0">
                          <a:solidFill>
                            <a:srgbClr val="F6F3E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20.35 – 20.55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46304" marR="146304" marT="54864" marB="54864" anchor="ctr">
                    <a:lnL w="12700" cap="flat" cmpd="sng" algn="ctr">
                      <a:solidFill>
                        <a:srgbClr val="3A4C3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3A4C3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3A4C3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3A4C3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2301C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00" dirty="0">
                          <a:solidFill>
                            <a:srgbClr val="B7C9A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Teori + hands-on: list, dictionary, indexing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46304" marR="146304" marT="54864" marB="54864" anchor="ctr">
                    <a:lnL w="12700" cap="flat" cmpd="sng" algn="ctr">
                      <a:solidFill>
                        <a:srgbClr val="3A4C3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3A4C3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3A4C3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3A4C3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2301C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576072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00" b="1" dirty="0">
                          <a:solidFill>
                            <a:srgbClr val="F6F3E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20.55 – 21.00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46304" marR="146304" marT="54864" marB="54864" anchor="ctr">
                    <a:lnL w="12700" cap="flat" cmpd="sng" algn="ctr">
                      <a:solidFill>
                        <a:srgbClr val="3A4C3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3A4C3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3A4C3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3A4C3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A19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00" dirty="0">
                          <a:solidFill>
                            <a:srgbClr val="B7C9A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Rangkuman dan pengantar Kuis 1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46304" marR="146304" marT="54864" marB="54864" anchor="ctr">
                    <a:lnL w="12700" cap="flat" cmpd="sng" algn="ctr">
                      <a:solidFill>
                        <a:srgbClr val="3A4C3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3A4C3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3A4C3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3A4C3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A19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</a:tbl>
          </a:graphicData>
        </a:graphic>
      </p:graphicFrame>
      <p:sp>
        <p:nvSpPr>
          <p:cNvPr id="5" name="Text 2"/>
          <p:cNvSpPr txBox="1"/>
          <p:nvPr/>
        </p:nvSpPr>
        <p:spPr>
          <a:xfrm>
            <a:off x="566928" y="5779008"/>
            <a:ext cx="11057839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150" i="1" dirty="0">
                <a:solidFill>
                  <a:srgbClr val="7C94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Sesi ini 90 menit: kira-kira 40 menit teori, 45 menit praktik langsung di Colab, 5 menit penutup.</a:t>
            </a:r>
            <a:endParaRPr lang="en-US" sz="1150" dirty="0"/>
          </a:p>
        </p:txBody>
      </p:sp>
      <p:sp>
        <p:nvSpPr>
          <p:cNvPr id="6" name="Text 3"/>
          <p:cNvSpPr txBox="1"/>
          <p:nvPr/>
        </p:nvSpPr>
        <p:spPr>
          <a:xfrm>
            <a:off x="566928" y="6400800"/>
            <a:ext cx="5486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50" dirty="0">
                <a:solidFill>
                  <a:srgbClr val="6F826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Data Analyst UNSIKA  ·  Pertemuan 1</a:t>
            </a:r>
            <a:endParaRPr lang="en-US" sz="850" dirty="0"/>
          </a:p>
        </p:txBody>
      </p:sp>
      <p:sp>
        <p:nvSpPr>
          <p:cNvPr id="7" name="Text 4"/>
          <p:cNvSpPr txBox="1"/>
          <p:nvPr/>
        </p:nvSpPr>
        <p:spPr>
          <a:xfrm>
            <a:off x="10710367" y="6400800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850" b="1" dirty="0">
                <a:solidFill>
                  <a:srgbClr val="C9A6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85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1A231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66928" y="384048"/>
            <a:ext cx="11057839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950" b="1" kern="0" spc="200" dirty="0">
                <a:solidFill>
                  <a:srgbClr val="7C94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PERTEMUAN 1</a:t>
            </a:r>
            <a:endParaRPr lang="en-US" sz="950" dirty="0"/>
          </a:p>
        </p:txBody>
      </p:sp>
      <p:sp>
        <p:nvSpPr>
          <p:cNvPr id="3" name="Text 1"/>
          <p:cNvSpPr txBox="1"/>
          <p:nvPr/>
        </p:nvSpPr>
        <p:spPr>
          <a:xfrm>
            <a:off x="566928" y="640080"/>
            <a:ext cx="11057839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2900" b="1" dirty="0">
                <a:solidFill>
                  <a:srgbClr val="F6F3E7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Peta Perjalanan Sesi Ini</a:t>
            </a:r>
            <a:endParaRPr lang="en-US" sz="2900" dirty="0"/>
          </a:p>
        </p:txBody>
      </p:sp>
      <p:sp>
        <p:nvSpPr>
          <p:cNvPr id="4" name="Text 2"/>
          <p:cNvSpPr txBox="1"/>
          <p:nvPr/>
        </p:nvSpPr>
        <p:spPr>
          <a:xfrm>
            <a:off x="566928" y="1335024"/>
            <a:ext cx="11057839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300" dirty="0">
                <a:solidFill>
                  <a:srgbClr val="B7C9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Lima perhentian, dari “kenapa profesi ini ada” sampai cara Python menyimpan data.</a:t>
            </a:r>
            <a:endParaRPr lang="en-US" sz="1300" dirty="0"/>
          </a:p>
        </p:txBody>
      </p:sp>
      <p:sp>
        <p:nvSpPr>
          <p:cNvPr id="5" name="Shape 3"/>
          <p:cNvSpPr/>
          <p:nvPr/>
        </p:nvSpPr>
        <p:spPr>
          <a:xfrm>
            <a:off x="566928" y="2011680"/>
            <a:ext cx="2002536" cy="3063240"/>
          </a:xfrm>
          <a:prstGeom prst="roundRect">
            <a:avLst>
              <a:gd name="adj" fmla="val 4110"/>
            </a:avLst>
          </a:prstGeom>
          <a:solidFill>
            <a:srgbClr val="22301C"/>
          </a:solidFill>
          <a:ln w="12700">
            <a:solidFill>
              <a:srgbClr val="3A4C30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1239012" y="2322576"/>
            <a:ext cx="658368" cy="658368"/>
          </a:xfrm>
          <a:prstGeom prst="ellipse">
            <a:avLst/>
          </a:prstGeom>
          <a:solidFill>
            <a:srgbClr val="2A3823"/>
          </a:solidFill>
          <a:ln w="12700">
            <a:solidFill>
              <a:srgbClr val="7C9473"/>
            </a:solidFill>
            <a:prstDash val="solid"/>
          </a:ln>
        </p:spPr>
      </p:sp>
      <p:pic>
        <p:nvPicPr>
          <p:cNvPr id="7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337767" y="2421331"/>
            <a:ext cx="460858" cy="460858"/>
          </a:xfrm>
          <a:prstGeom prst="rect">
            <a:avLst/>
          </a:prstGeom>
        </p:spPr>
      </p:pic>
      <p:sp>
        <p:nvSpPr>
          <p:cNvPr id="8" name="Text 5"/>
          <p:cNvSpPr txBox="1"/>
          <p:nvPr/>
        </p:nvSpPr>
        <p:spPr>
          <a:xfrm>
            <a:off x="694944" y="3145536"/>
            <a:ext cx="1746504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lnSpc>
                <a:spcPct val="105000"/>
              </a:lnSpc>
              <a:buNone/>
            </a:pPr>
            <a:r>
              <a:rPr lang="en-US" sz="1300" b="1" dirty="0">
                <a:solidFill>
                  <a:srgbClr val="F6F3E7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Peran Data</a:t>
            </a:r>
            <a:endParaRPr lang="en-US" sz="1300" dirty="0"/>
          </a:p>
          <a:p>
            <a:pPr marL="0" indent="0" algn="ctr">
              <a:lnSpc>
                <a:spcPct val="105000"/>
              </a:lnSpc>
              <a:buNone/>
            </a:pPr>
            <a:r>
              <a:rPr lang="en-US" sz="1300" b="1" dirty="0">
                <a:solidFill>
                  <a:srgbClr val="F6F3E7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Analyst</a:t>
            </a:r>
            <a:endParaRPr lang="en-US" sz="1300" dirty="0"/>
          </a:p>
        </p:txBody>
      </p:sp>
      <p:sp>
        <p:nvSpPr>
          <p:cNvPr id="9" name="Text 6"/>
          <p:cNvSpPr txBox="1"/>
          <p:nvPr/>
        </p:nvSpPr>
        <p:spPr>
          <a:xfrm>
            <a:off x="731520" y="3803904"/>
            <a:ext cx="1673352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lnSpc>
                <a:spcPct val="115000"/>
              </a:lnSpc>
              <a:buNone/>
            </a:pPr>
            <a:r>
              <a:rPr lang="en-US" sz="1050" dirty="0">
                <a:solidFill>
                  <a:srgbClr val="B7C9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Kenapa profesi ini ada dan seperti apa hasil kerjanya</a:t>
            </a:r>
            <a:endParaRPr lang="en-US" sz="1050" dirty="0"/>
          </a:p>
        </p:txBody>
      </p:sp>
      <p:sp>
        <p:nvSpPr>
          <p:cNvPr id="10" name="Shape 7"/>
          <p:cNvSpPr/>
          <p:nvPr/>
        </p:nvSpPr>
        <p:spPr>
          <a:xfrm>
            <a:off x="2615184" y="3461004"/>
            <a:ext cx="173736" cy="164592"/>
          </a:xfrm>
          <a:prstGeom prst="rightArrow">
            <a:avLst/>
          </a:prstGeom>
          <a:solidFill>
            <a:srgbClr val="C9A66B"/>
          </a:solidFill>
          <a:ln w="12700">
            <a:solidFill>
              <a:srgbClr val="C9A66B"/>
            </a:solidFill>
            <a:prstDash val="solid"/>
          </a:ln>
        </p:spPr>
      </p:sp>
      <p:sp>
        <p:nvSpPr>
          <p:cNvPr id="11" name="Shape 8"/>
          <p:cNvSpPr/>
          <p:nvPr/>
        </p:nvSpPr>
        <p:spPr>
          <a:xfrm>
            <a:off x="2830068" y="2011680"/>
            <a:ext cx="2002536" cy="3063240"/>
          </a:xfrm>
          <a:prstGeom prst="roundRect">
            <a:avLst>
              <a:gd name="adj" fmla="val 4110"/>
            </a:avLst>
          </a:prstGeom>
          <a:solidFill>
            <a:srgbClr val="22301C"/>
          </a:solidFill>
          <a:ln w="12700">
            <a:solidFill>
              <a:srgbClr val="3A4C30"/>
            </a:solidFill>
            <a:prstDash val="solid"/>
          </a:ln>
        </p:spPr>
      </p:sp>
      <p:sp>
        <p:nvSpPr>
          <p:cNvPr id="12" name="Shape 9"/>
          <p:cNvSpPr/>
          <p:nvPr/>
        </p:nvSpPr>
        <p:spPr>
          <a:xfrm>
            <a:off x="3502152" y="2322576"/>
            <a:ext cx="658368" cy="658368"/>
          </a:xfrm>
          <a:prstGeom prst="ellipse">
            <a:avLst/>
          </a:prstGeom>
          <a:solidFill>
            <a:srgbClr val="2A3823"/>
          </a:solidFill>
          <a:ln w="12700">
            <a:solidFill>
              <a:srgbClr val="7C9473"/>
            </a:solidFill>
            <a:prstDash val="solid"/>
          </a:ln>
        </p:spPr>
      </p:sp>
      <p:pic>
        <p:nvPicPr>
          <p:cNvPr id="13" name="Image 1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600907" y="2421331"/>
            <a:ext cx="460858" cy="460858"/>
          </a:xfrm>
          <a:prstGeom prst="rect">
            <a:avLst/>
          </a:prstGeom>
        </p:spPr>
      </p:pic>
      <p:sp>
        <p:nvSpPr>
          <p:cNvPr id="14" name="Text 10"/>
          <p:cNvSpPr txBox="1"/>
          <p:nvPr/>
        </p:nvSpPr>
        <p:spPr>
          <a:xfrm>
            <a:off x="2958084" y="3145536"/>
            <a:ext cx="1746504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lnSpc>
                <a:spcPct val="105000"/>
              </a:lnSpc>
              <a:buNone/>
            </a:pPr>
            <a:r>
              <a:rPr lang="en-US" sz="1300" b="1" dirty="0">
                <a:solidFill>
                  <a:srgbClr val="F6F3E7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Google Colab</a:t>
            </a:r>
            <a:endParaRPr lang="en-US" sz="1300" dirty="0"/>
          </a:p>
        </p:txBody>
      </p:sp>
      <p:sp>
        <p:nvSpPr>
          <p:cNvPr id="15" name="Text 11"/>
          <p:cNvSpPr txBox="1"/>
          <p:nvPr/>
        </p:nvSpPr>
        <p:spPr>
          <a:xfrm>
            <a:off x="2994660" y="3803904"/>
            <a:ext cx="1673352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lnSpc>
                <a:spcPct val="115000"/>
              </a:lnSpc>
              <a:buNone/>
            </a:pPr>
            <a:r>
              <a:rPr lang="en-US" sz="1050" dirty="0">
                <a:solidFill>
                  <a:srgbClr val="B7C9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Tempat menulis dan menjalankan kode langsung dari browser</a:t>
            </a:r>
            <a:endParaRPr lang="en-US" sz="1050" dirty="0"/>
          </a:p>
        </p:txBody>
      </p:sp>
      <p:sp>
        <p:nvSpPr>
          <p:cNvPr id="16" name="Shape 12"/>
          <p:cNvSpPr/>
          <p:nvPr/>
        </p:nvSpPr>
        <p:spPr>
          <a:xfrm>
            <a:off x="4878324" y="3461004"/>
            <a:ext cx="173736" cy="164592"/>
          </a:xfrm>
          <a:prstGeom prst="rightArrow">
            <a:avLst/>
          </a:prstGeom>
          <a:solidFill>
            <a:srgbClr val="C9A66B"/>
          </a:solidFill>
          <a:ln w="12700">
            <a:solidFill>
              <a:srgbClr val="C9A66B"/>
            </a:solidFill>
            <a:prstDash val="solid"/>
          </a:ln>
        </p:spPr>
      </p:sp>
      <p:sp>
        <p:nvSpPr>
          <p:cNvPr id="17" name="Shape 13"/>
          <p:cNvSpPr/>
          <p:nvPr/>
        </p:nvSpPr>
        <p:spPr>
          <a:xfrm>
            <a:off x="5093208" y="2011680"/>
            <a:ext cx="2002536" cy="3063240"/>
          </a:xfrm>
          <a:prstGeom prst="roundRect">
            <a:avLst>
              <a:gd name="adj" fmla="val 4110"/>
            </a:avLst>
          </a:prstGeom>
          <a:solidFill>
            <a:srgbClr val="22301C"/>
          </a:solidFill>
          <a:ln w="12700">
            <a:solidFill>
              <a:srgbClr val="3A4C30"/>
            </a:solidFill>
            <a:prstDash val="solid"/>
          </a:ln>
        </p:spPr>
      </p:sp>
      <p:sp>
        <p:nvSpPr>
          <p:cNvPr id="18" name="Shape 14"/>
          <p:cNvSpPr/>
          <p:nvPr/>
        </p:nvSpPr>
        <p:spPr>
          <a:xfrm>
            <a:off x="5765292" y="2322576"/>
            <a:ext cx="658368" cy="658368"/>
          </a:xfrm>
          <a:prstGeom prst="ellipse">
            <a:avLst/>
          </a:prstGeom>
          <a:solidFill>
            <a:srgbClr val="2A3823"/>
          </a:solidFill>
          <a:ln w="12700">
            <a:solidFill>
              <a:srgbClr val="7C9473"/>
            </a:solidFill>
            <a:prstDash val="solid"/>
          </a:ln>
        </p:spPr>
      </p:sp>
      <p:pic>
        <p:nvPicPr>
          <p:cNvPr id="19" name="Image 2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864047" y="2421331"/>
            <a:ext cx="460858" cy="460858"/>
          </a:xfrm>
          <a:prstGeom prst="rect">
            <a:avLst/>
          </a:prstGeom>
        </p:spPr>
      </p:pic>
      <p:sp>
        <p:nvSpPr>
          <p:cNvPr id="20" name="Text 15"/>
          <p:cNvSpPr txBox="1"/>
          <p:nvPr/>
        </p:nvSpPr>
        <p:spPr>
          <a:xfrm>
            <a:off x="5221224" y="3145536"/>
            <a:ext cx="1746504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lnSpc>
                <a:spcPct val="105000"/>
              </a:lnSpc>
              <a:buNone/>
            </a:pPr>
            <a:r>
              <a:rPr lang="en-US" sz="1300" b="1" dirty="0">
                <a:solidFill>
                  <a:srgbClr val="F6F3E7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Variabel &amp;</a:t>
            </a:r>
            <a:endParaRPr lang="en-US" sz="1300" dirty="0"/>
          </a:p>
          <a:p>
            <a:pPr marL="0" indent="0" algn="ctr">
              <a:lnSpc>
                <a:spcPct val="105000"/>
              </a:lnSpc>
              <a:buNone/>
            </a:pPr>
            <a:r>
              <a:rPr lang="en-US" sz="1300" b="1" dirty="0">
                <a:solidFill>
                  <a:srgbClr val="F6F3E7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Tipe Data</a:t>
            </a:r>
            <a:endParaRPr lang="en-US" sz="1300" dirty="0"/>
          </a:p>
        </p:txBody>
      </p:sp>
      <p:sp>
        <p:nvSpPr>
          <p:cNvPr id="21" name="Text 16"/>
          <p:cNvSpPr txBox="1"/>
          <p:nvPr/>
        </p:nvSpPr>
        <p:spPr>
          <a:xfrm>
            <a:off x="5257800" y="3803904"/>
            <a:ext cx="1673352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lnSpc>
                <a:spcPct val="115000"/>
              </a:lnSpc>
              <a:buNone/>
            </a:pPr>
            <a:r>
              <a:rPr lang="en-US" sz="1050" dirty="0">
                <a:solidFill>
                  <a:srgbClr val="B7C9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Menyimpan nilai dan mengenali jenis datanya</a:t>
            </a:r>
            <a:endParaRPr lang="en-US" sz="1050" dirty="0"/>
          </a:p>
        </p:txBody>
      </p:sp>
      <p:sp>
        <p:nvSpPr>
          <p:cNvPr id="22" name="Shape 17"/>
          <p:cNvSpPr/>
          <p:nvPr/>
        </p:nvSpPr>
        <p:spPr>
          <a:xfrm>
            <a:off x="7141464" y="3461004"/>
            <a:ext cx="173736" cy="164592"/>
          </a:xfrm>
          <a:prstGeom prst="rightArrow">
            <a:avLst/>
          </a:prstGeom>
          <a:solidFill>
            <a:srgbClr val="C9A66B"/>
          </a:solidFill>
          <a:ln w="12700">
            <a:solidFill>
              <a:srgbClr val="C9A66B"/>
            </a:solidFill>
            <a:prstDash val="solid"/>
          </a:ln>
        </p:spPr>
      </p:sp>
      <p:sp>
        <p:nvSpPr>
          <p:cNvPr id="23" name="Shape 18"/>
          <p:cNvSpPr/>
          <p:nvPr/>
        </p:nvSpPr>
        <p:spPr>
          <a:xfrm>
            <a:off x="7356348" y="2011680"/>
            <a:ext cx="2002536" cy="3063240"/>
          </a:xfrm>
          <a:prstGeom prst="roundRect">
            <a:avLst>
              <a:gd name="adj" fmla="val 4110"/>
            </a:avLst>
          </a:prstGeom>
          <a:solidFill>
            <a:srgbClr val="22301C"/>
          </a:solidFill>
          <a:ln w="12700">
            <a:solidFill>
              <a:srgbClr val="3A4C30"/>
            </a:solidFill>
            <a:prstDash val="solid"/>
          </a:ln>
        </p:spPr>
      </p:sp>
      <p:sp>
        <p:nvSpPr>
          <p:cNvPr id="24" name="Shape 19"/>
          <p:cNvSpPr/>
          <p:nvPr/>
        </p:nvSpPr>
        <p:spPr>
          <a:xfrm>
            <a:off x="8028432" y="2322576"/>
            <a:ext cx="658368" cy="658368"/>
          </a:xfrm>
          <a:prstGeom prst="ellipse">
            <a:avLst/>
          </a:prstGeom>
          <a:solidFill>
            <a:srgbClr val="2A3823"/>
          </a:solidFill>
          <a:ln w="12700">
            <a:solidFill>
              <a:srgbClr val="7C9473"/>
            </a:solidFill>
            <a:prstDash val="solid"/>
          </a:ln>
        </p:spPr>
      </p:sp>
      <p:pic>
        <p:nvPicPr>
          <p:cNvPr id="25" name="Image 3" descr="preencoded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8127187" y="2421331"/>
            <a:ext cx="460858" cy="460858"/>
          </a:xfrm>
          <a:prstGeom prst="rect">
            <a:avLst/>
          </a:prstGeom>
        </p:spPr>
      </p:pic>
      <p:sp>
        <p:nvSpPr>
          <p:cNvPr id="26" name="Text 20"/>
          <p:cNvSpPr txBox="1"/>
          <p:nvPr/>
        </p:nvSpPr>
        <p:spPr>
          <a:xfrm>
            <a:off x="7484364" y="3145536"/>
            <a:ext cx="1746504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lnSpc>
                <a:spcPct val="105000"/>
              </a:lnSpc>
              <a:buNone/>
            </a:pPr>
            <a:r>
              <a:rPr lang="en-US" sz="1300" b="1" dirty="0">
                <a:solidFill>
                  <a:srgbClr val="F6F3E7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List</a:t>
            </a:r>
            <a:endParaRPr lang="en-US" sz="1300" dirty="0"/>
          </a:p>
        </p:txBody>
      </p:sp>
      <p:sp>
        <p:nvSpPr>
          <p:cNvPr id="27" name="Text 21"/>
          <p:cNvSpPr txBox="1"/>
          <p:nvPr/>
        </p:nvSpPr>
        <p:spPr>
          <a:xfrm>
            <a:off x="7520940" y="3803904"/>
            <a:ext cx="1673352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lnSpc>
                <a:spcPct val="115000"/>
              </a:lnSpc>
              <a:buNone/>
            </a:pPr>
            <a:r>
              <a:rPr lang="en-US" sz="1050" dirty="0">
                <a:solidFill>
                  <a:srgbClr val="B7C9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Kumpulan data berurutan, diakses lewat nomor index</a:t>
            </a:r>
            <a:endParaRPr lang="en-US" sz="1050" dirty="0"/>
          </a:p>
        </p:txBody>
      </p:sp>
      <p:sp>
        <p:nvSpPr>
          <p:cNvPr id="28" name="Shape 22"/>
          <p:cNvSpPr/>
          <p:nvPr/>
        </p:nvSpPr>
        <p:spPr>
          <a:xfrm>
            <a:off x="9404604" y="3461004"/>
            <a:ext cx="173736" cy="164592"/>
          </a:xfrm>
          <a:prstGeom prst="rightArrow">
            <a:avLst/>
          </a:prstGeom>
          <a:solidFill>
            <a:srgbClr val="C9A66B"/>
          </a:solidFill>
          <a:ln w="12700">
            <a:solidFill>
              <a:srgbClr val="C9A66B"/>
            </a:solidFill>
            <a:prstDash val="solid"/>
          </a:ln>
        </p:spPr>
      </p:sp>
      <p:sp>
        <p:nvSpPr>
          <p:cNvPr id="29" name="Shape 23"/>
          <p:cNvSpPr/>
          <p:nvPr/>
        </p:nvSpPr>
        <p:spPr>
          <a:xfrm>
            <a:off x="9619488" y="2011680"/>
            <a:ext cx="2002536" cy="3063240"/>
          </a:xfrm>
          <a:prstGeom prst="roundRect">
            <a:avLst>
              <a:gd name="adj" fmla="val 4110"/>
            </a:avLst>
          </a:prstGeom>
          <a:solidFill>
            <a:srgbClr val="22301C"/>
          </a:solidFill>
          <a:ln w="12700">
            <a:solidFill>
              <a:srgbClr val="3A4C30"/>
            </a:solidFill>
            <a:prstDash val="solid"/>
          </a:ln>
        </p:spPr>
      </p:sp>
      <p:sp>
        <p:nvSpPr>
          <p:cNvPr id="30" name="Shape 24"/>
          <p:cNvSpPr/>
          <p:nvPr/>
        </p:nvSpPr>
        <p:spPr>
          <a:xfrm>
            <a:off x="10291572" y="2322576"/>
            <a:ext cx="658368" cy="658368"/>
          </a:xfrm>
          <a:prstGeom prst="ellipse">
            <a:avLst/>
          </a:prstGeom>
          <a:solidFill>
            <a:srgbClr val="2A3823"/>
          </a:solidFill>
          <a:ln w="12700">
            <a:solidFill>
              <a:srgbClr val="7C9473"/>
            </a:solidFill>
            <a:prstDash val="solid"/>
          </a:ln>
        </p:spPr>
      </p:sp>
      <p:pic>
        <p:nvPicPr>
          <p:cNvPr id="31" name="Image 4" descr="preencoded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10390327" y="2421331"/>
            <a:ext cx="460858" cy="460858"/>
          </a:xfrm>
          <a:prstGeom prst="rect">
            <a:avLst/>
          </a:prstGeom>
        </p:spPr>
      </p:pic>
      <p:sp>
        <p:nvSpPr>
          <p:cNvPr id="32" name="Text 25"/>
          <p:cNvSpPr txBox="1"/>
          <p:nvPr/>
        </p:nvSpPr>
        <p:spPr>
          <a:xfrm>
            <a:off x="9747504" y="3145536"/>
            <a:ext cx="1746504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lnSpc>
                <a:spcPct val="105000"/>
              </a:lnSpc>
              <a:buNone/>
            </a:pPr>
            <a:r>
              <a:rPr lang="en-US" sz="1300" b="1" dirty="0">
                <a:solidFill>
                  <a:srgbClr val="F6F3E7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Dictionary</a:t>
            </a:r>
            <a:endParaRPr lang="en-US" sz="1300" dirty="0"/>
          </a:p>
        </p:txBody>
      </p:sp>
      <p:sp>
        <p:nvSpPr>
          <p:cNvPr id="33" name="Text 26"/>
          <p:cNvSpPr txBox="1"/>
          <p:nvPr/>
        </p:nvSpPr>
        <p:spPr>
          <a:xfrm>
            <a:off x="9784080" y="3803904"/>
            <a:ext cx="1673352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lnSpc>
                <a:spcPct val="115000"/>
              </a:lnSpc>
              <a:buNone/>
            </a:pPr>
            <a:r>
              <a:rPr lang="en-US" sz="1050" dirty="0">
                <a:solidFill>
                  <a:srgbClr val="B7C9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Pasangan key–value, diakses lewat nama labelnya</a:t>
            </a:r>
            <a:endParaRPr lang="en-US" sz="1050" dirty="0"/>
          </a:p>
        </p:txBody>
      </p:sp>
      <p:sp>
        <p:nvSpPr>
          <p:cNvPr id="34" name="Text 27"/>
          <p:cNvSpPr txBox="1"/>
          <p:nvPr/>
        </p:nvSpPr>
        <p:spPr>
          <a:xfrm>
            <a:off x="566928" y="5440680"/>
            <a:ext cx="11057839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200" i="1" dirty="0">
                <a:solidFill>
                  <a:srgbClr val="7C94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Perhentian 4 dan 5 adalah fondasi DataFrame di Pertemuan 3 — jadi bukan sekadar teori Python.</a:t>
            </a:r>
            <a:endParaRPr lang="en-US" sz="1200" dirty="0"/>
          </a:p>
        </p:txBody>
      </p:sp>
      <p:sp>
        <p:nvSpPr>
          <p:cNvPr id="35" name="Text 28"/>
          <p:cNvSpPr txBox="1"/>
          <p:nvPr/>
        </p:nvSpPr>
        <p:spPr>
          <a:xfrm>
            <a:off x="566928" y="6400800"/>
            <a:ext cx="5486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50" dirty="0">
                <a:solidFill>
                  <a:srgbClr val="6F826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Data Analyst UNSIKA  ·  Pertemuan 1</a:t>
            </a:r>
            <a:endParaRPr lang="en-US" sz="850" dirty="0"/>
          </a:p>
        </p:txBody>
      </p:sp>
      <p:sp>
        <p:nvSpPr>
          <p:cNvPr id="36" name="Text 29"/>
          <p:cNvSpPr txBox="1"/>
          <p:nvPr/>
        </p:nvSpPr>
        <p:spPr>
          <a:xfrm>
            <a:off x="10710367" y="6400800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850" b="1" dirty="0">
                <a:solidFill>
                  <a:srgbClr val="C9A6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85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1A231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66928" y="384048"/>
            <a:ext cx="11057839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950" b="1" kern="0" spc="200" dirty="0">
                <a:solidFill>
                  <a:srgbClr val="7C94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TEORI 1 DARI 11</a:t>
            </a:r>
            <a:endParaRPr lang="en-US" sz="950" dirty="0"/>
          </a:p>
        </p:txBody>
      </p:sp>
      <p:sp>
        <p:nvSpPr>
          <p:cNvPr id="3" name="Text 1"/>
          <p:cNvSpPr txBox="1"/>
          <p:nvPr/>
        </p:nvSpPr>
        <p:spPr>
          <a:xfrm>
            <a:off x="566928" y="640080"/>
            <a:ext cx="11057839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2900" b="1" dirty="0">
                <a:solidFill>
                  <a:srgbClr val="F6F3E7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Apa itu Data Analyst?</a:t>
            </a:r>
            <a:endParaRPr lang="en-US" sz="2900" dirty="0"/>
          </a:p>
        </p:txBody>
      </p:sp>
      <p:sp>
        <p:nvSpPr>
          <p:cNvPr id="4" name="Text 2"/>
          <p:cNvSpPr txBox="1"/>
          <p:nvPr/>
        </p:nvSpPr>
        <p:spPr>
          <a:xfrm>
            <a:off x="566928" y="1444752"/>
            <a:ext cx="566928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25000"/>
              </a:lnSpc>
              <a:buNone/>
            </a:pPr>
            <a:r>
              <a:rPr lang="en-US" sz="1500" dirty="0">
                <a:solidFill>
                  <a:srgbClr val="F6F3E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Data Analyst adalah orang yang mengubah data mentah menjadi informasi yang bisa dipakai untuk mengambil keputusan.</a:t>
            </a:r>
            <a:endParaRPr lang="en-US" sz="1500" dirty="0"/>
          </a:p>
        </p:txBody>
      </p:sp>
      <p:sp>
        <p:nvSpPr>
          <p:cNvPr id="5" name="Shape 3"/>
          <p:cNvSpPr/>
          <p:nvPr/>
        </p:nvSpPr>
        <p:spPr>
          <a:xfrm>
            <a:off x="566928" y="2542032"/>
            <a:ext cx="5669280" cy="1691640"/>
          </a:xfrm>
          <a:prstGeom prst="roundRect">
            <a:avLst>
              <a:gd name="adj" fmla="val 4865"/>
            </a:avLst>
          </a:prstGeom>
          <a:solidFill>
            <a:srgbClr val="2A3823"/>
          </a:solidFill>
          <a:ln w="12700">
            <a:solidFill>
              <a:srgbClr val="3A4C30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859536" y="2852928"/>
            <a:ext cx="603504" cy="603504"/>
          </a:xfrm>
          <a:prstGeom prst="ellipse">
            <a:avLst/>
          </a:prstGeom>
          <a:solidFill>
            <a:srgbClr val="1A231A"/>
          </a:solidFill>
          <a:ln w="12700">
            <a:solidFill>
              <a:srgbClr val="7C9473"/>
            </a:solidFill>
            <a:prstDash val="solid"/>
          </a:ln>
        </p:spPr>
      </p:sp>
      <p:pic>
        <p:nvPicPr>
          <p:cNvPr id="7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50062" y="2943454"/>
            <a:ext cx="422453" cy="422453"/>
          </a:xfrm>
          <a:prstGeom prst="rect">
            <a:avLst/>
          </a:prstGeom>
        </p:spPr>
      </p:pic>
      <p:sp>
        <p:nvSpPr>
          <p:cNvPr id="8" name="Text 5"/>
          <p:cNvSpPr txBox="1"/>
          <p:nvPr/>
        </p:nvSpPr>
        <p:spPr>
          <a:xfrm>
            <a:off x="1627632" y="2798064"/>
            <a:ext cx="4389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350" b="1" dirty="0">
                <a:solidFill>
                  <a:srgbClr val="C9A66B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Analoginya: seorang detektif</a:t>
            </a:r>
            <a:endParaRPr lang="en-US" sz="1350" dirty="0"/>
          </a:p>
        </p:txBody>
      </p:sp>
      <p:sp>
        <p:nvSpPr>
          <p:cNvPr id="9" name="Text 6"/>
          <p:cNvSpPr txBox="1"/>
          <p:nvPr/>
        </p:nvSpPr>
        <p:spPr>
          <a:xfrm>
            <a:off x="1627632" y="3127248"/>
            <a:ext cx="438912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20000"/>
              </a:lnSpc>
              <a:buNone/>
            </a:pPr>
            <a:r>
              <a:rPr lang="en-US" sz="1200" dirty="0">
                <a:solidFill>
                  <a:srgbClr val="B7C9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Data adalah kumpulan petunjuk yang berserakan. Tugas Data Analyst adalah menyusun petunjuk itu jadi kesimpulan yang masuk akal.</a:t>
            </a:r>
            <a:endParaRPr lang="en-US" sz="1200" dirty="0"/>
          </a:p>
        </p:txBody>
      </p:sp>
      <p:sp>
        <p:nvSpPr>
          <p:cNvPr id="10" name="Text 7"/>
          <p:cNvSpPr txBox="1"/>
          <p:nvPr/>
        </p:nvSpPr>
        <p:spPr>
          <a:xfrm>
            <a:off x="566928" y="4443984"/>
            <a:ext cx="56692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20000"/>
              </a:lnSpc>
              <a:buNone/>
            </a:pPr>
            <a:r>
              <a:rPr lang="en-US" sz="1200" i="1" dirty="0">
                <a:solidFill>
                  <a:srgbClr val="7C94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Kenapa data mentah saja belum cukup? Ribuan baris angka penjualan tidak langsung menjawab pertanyaan apa pun.</a:t>
            </a:r>
            <a:endParaRPr lang="en-US" sz="1200" dirty="0"/>
          </a:p>
        </p:txBody>
      </p:sp>
      <p:sp>
        <p:nvSpPr>
          <p:cNvPr id="11" name="Shape 8"/>
          <p:cNvSpPr/>
          <p:nvPr/>
        </p:nvSpPr>
        <p:spPr>
          <a:xfrm>
            <a:off x="6537960" y="1481328"/>
            <a:ext cx="5074920" cy="1207008"/>
          </a:xfrm>
          <a:prstGeom prst="roundRect">
            <a:avLst>
              <a:gd name="adj" fmla="val 6818"/>
            </a:avLst>
          </a:prstGeom>
          <a:solidFill>
            <a:srgbClr val="22301C"/>
          </a:solidFill>
          <a:ln w="12700">
            <a:solidFill>
              <a:srgbClr val="3A4C30"/>
            </a:solidFill>
            <a:prstDash val="solid"/>
          </a:ln>
        </p:spPr>
      </p:sp>
      <p:sp>
        <p:nvSpPr>
          <p:cNvPr id="12" name="Shape 9"/>
          <p:cNvSpPr/>
          <p:nvPr/>
        </p:nvSpPr>
        <p:spPr>
          <a:xfrm>
            <a:off x="6812280" y="1737360"/>
            <a:ext cx="329184" cy="329184"/>
          </a:xfrm>
          <a:prstGeom prst="ellipse">
            <a:avLst/>
          </a:prstGeom>
          <a:solidFill>
            <a:srgbClr val="C9A66B"/>
          </a:solidFill>
          <a:ln w="12700">
            <a:solidFill>
              <a:srgbClr val="C9A66B"/>
            </a:solidFill>
            <a:prstDash val="solid"/>
          </a:ln>
        </p:spPr>
      </p:sp>
      <p:sp>
        <p:nvSpPr>
          <p:cNvPr id="13" name="Text 10"/>
          <p:cNvSpPr txBox="1"/>
          <p:nvPr/>
        </p:nvSpPr>
        <p:spPr>
          <a:xfrm>
            <a:off x="6812280" y="1737360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50" b="1" dirty="0">
                <a:solidFill>
                  <a:srgbClr val="1A231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1</a:t>
            </a:r>
            <a:endParaRPr lang="en-US" sz="1150" dirty="0"/>
          </a:p>
        </p:txBody>
      </p:sp>
      <p:sp>
        <p:nvSpPr>
          <p:cNvPr id="14" name="Text 11"/>
          <p:cNvSpPr txBox="1"/>
          <p:nvPr/>
        </p:nvSpPr>
        <p:spPr>
          <a:xfrm>
            <a:off x="7260336" y="1719072"/>
            <a:ext cx="4114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400" b="1" dirty="0">
                <a:solidFill>
                  <a:srgbClr val="F6F3E7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Data mentah</a:t>
            </a:r>
            <a:endParaRPr lang="en-US" sz="1400" dirty="0"/>
          </a:p>
        </p:txBody>
      </p:sp>
      <p:sp>
        <p:nvSpPr>
          <p:cNvPr id="15" name="Text 12"/>
          <p:cNvSpPr txBox="1"/>
          <p:nvPr/>
        </p:nvSpPr>
        <p:spPr>
          <a:xfrm>
            <a:off x="7260336" y="2066544"/>
            <a:ext cx="41148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18000"/>
              </a:lnSpc>
              <a:buNone/>
            </a:pPr>
            <a:r>
              <a:rPr lang="en-US" sz="1150" dirty="0">
                <a:solidFill>
                  <a:srgbClr val="B7C9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Ribuan baris angka penjualan — belum menjawab apa-apa</a:t>
            </a:r>
            <a:endParaRPr lang="en-US" sz="1150" dirty="0"/>
          </a:p>
        </p:txBody>
      </p:sp>
      <p:sp>
        <p:nvSpPr>
          <p:cNvPr id="16" name="Shape 13"/>
          <p:cNvSpPr/>
          <p:nvPr/>
        </p:nvSpPr>
        <p:spPr>
          <a:xfrm>
            <a:off x="8942832" y="2779776"/>
            <a:ext cx="182880" cy="182880"/>
          </a:xfrm>
          <a:prstGeom prst="downArrow">
            <a:avLst/>
          </a:prstGeom>
          <a:solidFill>
            <a:srgbClr val="C9A66B"/>
          </a:solidFill>
          <a:ln w="12700">
            <a:solidFill>
              <a:srgbClr val="C9A66B"/>
            </a:solidFill>
            <a:prstDash val="solid"/>
          </a:ln>
        </p:spPr>
      </p:sp>
      <p:sp>
        <p:nvSpPr>
          <p:cNvPr id="17" name="Shape 14"/>
          <p:cNvSpPr/>
          <p:nvPr/>
        </p:nvSpPr>
        <p:spPr>
          <a:xfrm>
            <a:off x="6537960" y="3054096"/>
            <a:ext cx="5074920" cy="1207008"/>
          </a:xfrm>
          <a:prstGeom prst="roundRect">
            <a:avLst>
              <a:gd name="adj" fmla="val 6818"/>
            </a:avLst>
          </a:prstGeom>
          <a:solidFill>
            <a:srgbClr val="22301C"/>
          </a:solidFill>
          <a:ln w="12700">
            <a:solidFill>
              <a:srgbClr val="3A4C30"/>
            </a:solidFill>
            <a:prstDash val="solid"/>
          </a:ln>
        </p:spPr>
      </p:sp>
      <p:sp>
        <p:nvSpPr>
          <p:cNvPr id="18" name="Shape 15"/>
          <p:cNvSpPr/>
          <p:nvPr/>
        </p:nvSpPr>
        <p:spPr>
          <a:xfrm>
            <a:off x="6812280" y="3310128"/>
            <a:ext cx="329184" cy="329184"/>
          </a:xfrm>
          <a:prstGeom prst="ellipse">
            <a:avLst/>
          </a:prstGeom>
          <a:solidFill>
            <a:srgbClr val="C9A66B"/>
          </a:solidFill>
          <a:ln w="12700">
            <a:solidFill>
              <a:srgbClr val="C9A66B"/>
            </a:solidFill>
            <a:prstDash val="solid"/>
          </a:ln>
        </p:spPr>
      </p:sp>
      <p:sp>
        <p:nvSpPr>
          <p:cNvPr id="19" name="Text 16"/>
          <p:cNvSpPr txBox="1"/>
          <p:nvPr/>
        </p:nvSpPr>
        <p:spPr>
          <a:xfrm>
            <a:off x="6812280" y="3310128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50" b="1" dirty="0">
                <a:solidFill>
                  <a:srgbClr val="1A231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2</a:t>
            </a:r>
            <a:endParaRPr lang="en-US" sz="1150" dirty="0"/>
          </a:p>
        </p:txBody>
      </p:sp>
      <p:sp>
        <p:nvSpPr>
          <p:cNvPr id="20" name="Text 17"/>
          <p:cNvSpPr txBox="1"/>
          <p:nvPr/>
        </p:nvSpPr>
        <p:spPr>
          <a:xfrm>
            <a:off x="7260336" y="3291840"/>
            <a:ext cx="4114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400" b="1" dirty="0">
                <a:solidFill>
                  <a:srgbClr val="F6F3E7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Insight</a:t>
            </a:r>
            <a:endParaRPr lang="en-US" sz="1400" dirty="0"/>
          </a:p>
        </p:txBody>
      </p:sp>
      <p:sp>
        <p:nvSpPr>
          <p:cNvPr id="21" name="Text 18"/>
          <p:cNvSpPr txBox="1"/>
          <p:nvPr/>
        </p:nvSpPr>
        <p:spPr>
          <a:xfrm>
            <a:off x="7260336" y="3639312"/>
            <a:ext cx="41148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18000"/>
              </a:lnSpc>
              <a:buNone/>
            </a:pPr>
            <a:r>
              <a:rPr lang="en-US" sz="1150" dirty="0">
                <a:solidFill>
                  <a:srgbClr val="B7C9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Temuan bermakna: “penjualan Fashion turun 20% bulan ini”</a:t>
            </a:r>
            <a:endParaRPr lang="en-US" sz="1150" dirty="0"/>
          </a:p>
        </p:txBody>
      </p:sp>
      <p:sp>
        <p:nvSpPr>
          <p:cNvPr id="22" name="Shape 19"/>
          <p:cNvSpPr/>
          <p:nvPr/>
        </p:nvSpPr>
        <p:spPr>
          <a:xfrm>
            <a:off x="8942832" y="4352544"/>
            <a:ext cx="182880" cy="182880"/>
          </a:xfrm>
          <a:prstGeom prst="downArrow">
            <a:avLst/>
          </a:prstGeom>
          <a:solidFill>
            <a:srgbClr val="C9A66B"/>
          </a:solidFill>
          <a:ln w="12700">
            <a:solidFill>
              <a:srgbClr val="C9A66B"/>
            </a:solidFill>
            <a:prstDash val="solid"/>
          </a:ln>
        </p:spPr>
      </p:sp>
      <p:sp>
        <p:nvSpPr>
          <p:cNvPr id="23" name="Shape 20"/>
          <p:cNvSpPr/>
          <p:nvPr/>
        </p:nvSpPr>
        <p:spPr>
          <a:xfrm>
            <a:off x="6537960" y="4626864"/>
            <a:ext cx="5074920" cy="1207008"/>
          </a:xfrm>
          <a:prstGeom prst="roundRect">
            <a:avLst>
              <a:gd name="adj" fmla="val 6818"/>
            </a:avLst>
          </a:prstGeom>
          <a:solidFill>
            <a:srgbClr val="22301C"/>
          </a:solidFill>
          <a:ln w="12700">
            <a:solidFill>
              <a:srgbClr val="3A4C30"/>
            </a:solidFill>
            <a:prstDash val="solid"/>
          </a:ln>
        </p:spPr>
      </p:sp>
      <p:sp>
        <p:nvSpPr>
          <p:cNvPr id="24" name="Shape 21"/>
          <p:cNvSpPr/>
          <p:nvPr/>
        </p:nvSpPr>
        <p:spPr>
          <a:xfrm>
            <a:off x="6812280" y="4882896"/>
            <a:ext cx="329184" cy="329184"/>
          </a:xfrm>
          <a:prstGeom prst="ellipse">
            <a:avLst/>
          </a:prstGeom>
          <a:solidFill>
            <a:srgbClr val="C9A66B"/>
          </a:solidFill>
          <a:ln w="12700">
            <a:solidFill>
              <a:srgbClr val="C9A66B"/>
            </a:solidFill>
            <a:prstDash val="solid"/>
          </a:ln>
        </p:spPr>
      </p:sp>
      <p:sp>
        <p:nvSpPr>
          <p:cNvPr id="25" name="Text 22"/>
          <p:cNvSpPr txBox="1"/>
          <p:nvPr/>
        </p:nvSpPr>
        <p:spPr>
          <a:xfrm>
            <a:off x="6812280" y="4882896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50" b="1" dirty="0">
                <a:solidFill>
                  <a:srgbClr val="1A231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3</a:t>
            </a:r>
            <a:endParaRPr lang="en-US" sz="1150" dirty="0"/>
          </a:p>
        </p:txBody>
      </p:sp>
      <p:sp>
        <p:nvSpPr>
          <p:cNvPr id="26" name="Text 23"/>
          <p:cNvSpPr txBox="1"/>
          <p:nvPr/>
        </p:nvSpPr>
        <p:spPr>
          <a:xfrm>
            <a:off x="7260336" y="4864608"/>
            <a:ext cx="4114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400" b="1" dirty="0">
                <a:solidFill>
                  <a:srgbClr val="F6F3E7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Keputusan</a:t>
            </a:r>
            <a:endParaRPr lang="en-US" sz="1400" dirty="0"/>
          </a:p>
        </p:txBody>
      </p:sp>
      <p:sp>
        <p:nvSpPr>
          <p:cNvPr id="27" name="Text 24"/>
          <p:cNvSpPr txBox="1"/>
          <p:nvPr/>
        </p:nvSpPr>
        <p:spPr>
          <a:xfrm>
            <a:off x="7260336" y="5212080"/>
            <a:ext cx="41148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18000"/>
              </a:lnSpc>
              <a:buNone/>
            </a:pPr>
            <a:r>
              <a:rPr lang="en-US" sz="1150" dirty="0">
                <a:solidFill>
                  <a:srgbClr val="B7C9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Dipakai manajer &amp; tim marketing untuk menentukan tindakan</a:t>
            </a:r>
            <a:endParaRPr lang="en-US" sz="1150" dirty="0"/>
          </a:p>
        </p:txBody>
      </p:sp>
      <p:sp>
        <p:nvSpPr>
          <p:cNvPr id="28" name="Text 25"/>
          <p:cNvSpPr txBox="1"/>
          <p:nvPr/>
        </p:nvSpPr>
        <p:spPr>
          <a:xfrm>
            <a:off x="566928" y="6400800"/>
            <a:ext cx="5486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50" dirty="0">
                <a:solidFill>
                  <a:srgbClr val="6F826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Data Analyst UNSIKA  ·  Pertemuan 1</a:t>
            </a:r>
            <a:endParaRPr lang="en-US" sz="850" dirty="0"/>
          </a:p>
        </p:txBody>
      </p:sp>
      <p:sp>
        <p:nvSpPr>
          <p:cNvPr id="29" name="Text 26"/>
          <p:cNvSpPr txBox="1"/>
          <p:nvPr/>
        </p:nvSpPr>
        <p:spPr>
          <a:xfrm>
            <a:off x="10710367" y="6400800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850" b="1" dirty="0">
                <a:solidFill>
                  <a:srgbClr val="C9A6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85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1A231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66928" y="384048"/>
            <a:ext cx="11057839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950" b="1" kern="0" spc="200" dirty="0">
                <a:solidFill>
                  <a:srgbClr val="7C94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TEORI 1 DARI 11</a:t>
            </a:r>
            <a:endParaRPr lang="en-US" sz="950" dirty="0"/>
          </a:p>
        </p:txBody>
      </p:sp>
      <p:sp>
        <p:nvSpPr>
          <p:cNvPr id="3" name="Text 1"/>
          <p:cNvSpPr txBox="1"/>
          <p:nvPr/>
        </p:nvSpPr>
        <p:spPr>
          <a:xfrm>
            <a:off x="566928" y="640080"/>
            <a:ext cx="11057839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2900" b="1" dirty="0">
                <a:solidFill>
                  <a:srgbClr val="F6F3E7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Dari Tabel Mentah ke Dashboard</a:t>
            </a:r>
            <a:endParaRPr lang="en-US" sz="2900" dirty="0"/>
          </a:p>
        </p:txBody>
      </p:sp>
      <p:sp>
        <p:nvSpPr>
          <p:cNvPr id="4" name="Shape 2"/>
          <p:cNvSpPr/>
          <p:nvPr/>
        </p:nvSpPr>
        <p:spPr>
          <a:xfrm>
            <a:off x="566928" y="1481328"/>
            <a:ext cx="5029200" cy="4114800"/>
          </a:xfrm>
          <a:prstGeom prst="roundRect">
            <a:avLst>
              <a:gd name="adj" fmla="val 2000"/>
            </a:avLst>
          </a:prstGeom>
          <a:solidFill>
            <a:srgbClr val="22301C"/>
          </a:solidFill>
          <a:ln w="12700">
            <a:solidFill>
              <a:srgbClr val="3A4C30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822960" y="1682496"/>
            <a:ext cx="448056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900" b="1" kern="0" spc="180" dirty="0">
                <a:solidFill>
                  <a:srgbClr val="7C94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DATA MENTAH</a:t>
            </a:r>
            <a:endParaRPr lang="en-US" sz="900" dirty="0"/>
          </a:p>
        </p:txBody>
      </p:sp>
      <p:graphicFrame>
        <p:nvGraphicFramePr>
          <p:cNvPr id="7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822960" y="2011680"/>
          <a:ext cx="4480560" cy="914400"/>
        </p:xfrm>
        <a:graphic>
          <a:graphicData uri="http://schemas.openxmlformats.org/drawingml/2006/table">
            <a:tbl>
              <a:tblPr/>
              <a:tblGrid>
                <a:gridCol w="4572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46304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37160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18872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</a:tblGrid>
              <a:tr h="292608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00" b="1" dirty="0">
                          <a:solidFill>
                            <a:srgbClr val="C9A66B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id</a:t>
                      </a:r>
                      <a:endParaRPr lang="en-US" sz="9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T="27432" marB="27432" anchor="ctr">
                    <a:lnL w="12700" cap="flat" cmpd="sng" algn="ctr">
                      <a:solidFill>
                        <a:srgbClr val="3A4C3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3A4C3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3A4C3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3A4C3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A3823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00" b="1" dirty="0">
                          <a:solidFill>
                            <a:srgbClr val="C9A66B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produk</a:t>
                      </a:r>
                      <a:endParaRPr lang="en-US" sz="9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T="27432" marB="27432" anchor="ctr">
                    <a:lnL w="12700" cap="flat" cmpd="sng" algn="ctr">
                      <a:solidFill>
                        <a:srgbClr val="3A4C3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3A4C3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3A4C3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3A4C3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A3823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00" b="1" dirty="0">
                          <a:solidFill>
                            <a:srgbClr val="C9A66B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kategori</a:t>
                      </a:r>
                      <a:endParaRPr lang="en-US" sz="9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T="27432" marB="27432" anchor="ctr">
                    <a:lnL w="12700" cap="flat" cmpd="sng" algn="ctr">
                      <a:solidFill>
                        <a:srgbClr val="3A4C3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3A4C3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3A4C3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3A4C3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A3823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00" b="1" dirty="0">
                          <a:solidFill>
                            <a:srgbClr val="C9A66B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harga</a:t>
                      </a:r>
                      <a:endParaRPr lang="en-US" sz="9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T="27432" marB="27432" anchor="ctr">
                    <a:lnL w="12700" cap="flat" cmpd="sng" algn="ctr">
                      <a:solidFill>
                        <a:srgbClr val="3A4C3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3A4C3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3A4C3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3A4C3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A3823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29184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00" dirty="0">
                          <a:solidFill>
                            <a:srgbClr val="B7C9A8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1</a:t>
                      </a:r>
                      <a:endParaRPr lang="en-US" sz="10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T="27432" marB="27432" anchor="ctr">
                    <a:lnL w="12700" cap="flat" cmpd="sng" algn="ctr">
                      <a:solidFill>
                        <a:srgbClr val="3A4C3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3A4C3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3A4C3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3A4C3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A19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00" dirty="0">
                          <a:solidFill>
                            <a:srgbClr val="B7C9A8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Headset</a:t>
                      </a:r>
                      <a:endParaRPr lang="en-US" sz="10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T="27432" marB="27432" anchor="ctr">
                    <a:lnL w="12700" cap="flat" cmpd="sng" algn="ctr">
                      <a:solidFill>
                        <a:srgbClr val="3A4C3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3A4C3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3A4C3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3A4C3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A19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00" dirty="0">
                          <a:solidFill>
                            <a:srgbClr val="B7C9A8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Elektronik</a:t>
                      </a:r>
                      <a:endParaRPr lang="en-US" sz="10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T="27432" marB="27432" anchor="ctr">
                    <a:lnL w="12700" cap="flat" cmpd="sng" algn="ctr">
                      <a:solidFill>
                        <a:srgbClr val="3A4C3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3A4C3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3A4C3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3A4C3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A19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00" dirty="0">
                          <a:solidFill>
                            <a:srgbClr val="B7C9A8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250.000</a:t>
                      </a:r>
                      <a:endParaRPr lang="en-US" sz="10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T="27432" marB="27432" anchor="ctr">
                    <a:lnL w="12700" cap="flat" cmpd="sng" algn="ctr">
                      <a:solidFill>
                        <a:srgbClr val="3A4C3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3A4C3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3A4C3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3A4C3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A19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29184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00" dirty="0">
                          <a:solidFill>
                            <a:srgbClr val="B7C9A8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2</a:t>
                      </a:r>
                      <a:endParaRPr lang="en-US" sz="10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T="27432" marB="27432" anchor="ctr">
                    <a:lnL w="12700" cap="flat" cmpd="sng" algn="ctr">
                      <a:solidFill>
                        <a:srgbClr val="3A4C3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3A4C3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3A4C3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3A4C3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231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00" dirty="0">
                          <a:solidFill>
                            <a:srgbClr val="B7C9A8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Kaos Polos</a:t>
                      </a:r>
                      <a:endParaRPr lang="en-US" sz="10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T="27432" marB="27432" anchor="ctr">
                    <a:lnL w="12700" cap="flat" cmpd="sng" algn="ctr">
                      <a:solidFill>
                        <a:srgbClr val="3A4C3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3A4C3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3A4C3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3A4C3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231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00" dirty="0">
                          <a:solidFill>
                            <a:srgbClr val="B7C9A8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Fashion</a:t>
                      </a:r>
                      <a:endParaRPr lang="en-US" sz="10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T="27432" marB="27432" anchor="ctr">
                    <a:lnL w="12700" cap="flat" cmpd="sng" algn="ctr">
                      <a:solidFill>
                        <a:srgbClr val="3A4C3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3A4C3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3A4C3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3A4C3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231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00" dirty="0">
                          <a:solidFill>
                            <a:srgbClr val="B7C9A8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75.000</a:t>
                      </a:r>
                      <a:endParaRPr lang="en-US" sz="10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T="27432" marB="27432" anchor="ctr">
                    <a:lnL w="12700" cap="flat" cmpd="sng" algn="ctr">
                      <a:solidFill>
                        <a:srgbClr val="3A4C3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3A4C3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3A4C3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3A4C3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231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329184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00" dirty="0">
                          <a:solidFill>
                            <a:srgbClr val="B7C9A8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3</a:t>
                      </a:r>
                      <a:endParaRPr lang="en-US" sz="10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T="27432" marB="27432" anchor="ctr">
                    <a:lnL w="12700" cap="flat" cmpd="sng" algn="ctr">
                      <a:solidFill>
                        <a:srgbClr val="3A4C3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3A4C3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3A4C3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3A4C3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A19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00" dirty="0">
                          <a:solidFill>
                            <a:srgbClr val="B7C9A8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Kopi 200g</a:t>
                      </a:r>
                      <a:endParaRPr lang="en-US" sz="10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T="27432" marB="27432" anchor="ctr">
                    <a:lnL w="12700" cap="flat" cmpd="sng" algn="ctr">
                      <a:solidFill>
                        <a:srgbClr val="3A4C3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3A4C3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3A4C3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3A4C3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A19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00" dirty="0">
                          <a:solidFill>
                            <a:srgbClr val="B7C9A8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Makanan</a:t>
                      </a:r>
                      <a:endParaRPr lang="en-US" sz="10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T="27432" marB="27432" anchor="ctr">
                    <a:lnL w="12700" cap="flat" cmpd="sng" algn="ctr">
                      <a:solidFill>
                        <a:srgbClr val="3A4C3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3A4C3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3A4C3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3A4C3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A19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00" dirty="0">
                          <a:solidFill>
                            <a:srgbClr val="B7C9A8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48.000</a:t>
                      </a:r>
                      <a:endParaRPr lang="en-US" sz="10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T="27432" marB="27432" anchor="ctr">
                    <a:lnL w="12700" cap="flat" cmpd="sng" algn="ctr">
                      <a:solidFill>
                        <a:srgbClr val="3A4C3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3A4C3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3A4C3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3A4C3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A19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329184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00" dirty="0">
                          <a:solidFill>
                            <a:srgbClr val="B7C9A8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4</a:t>
                      </a:r>
                      <a:endParaRPr lang="en-US" sz="10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T="27432" marB="27432" anchor="ctr">
                    <a:lnL w="12700" cap="flat" cmpd="sng" algn="ctr">
                      <a:solidFill>
                        <a:srgbClr val="3A4C3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3A4C3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3A4C3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3A4C3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231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00" dirty="0">
                          <a:solidFill>
                            <a:srgbClr val="B7C9A8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Mouse</a:t>
                      </a:r>
                      <a:endParaRPr lang="en-US" sz="10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T="27432" marB="27432" anchor="ctr">
                    <a:lnL w="12700" cap="flat" cmpd="sng" algn="ctr">
                      <a:solidFill>
                        <a:srgbClr val="3A4C3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3A4C3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3A4C3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3A4C3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231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00" dirty="0">
                          <a:solidFill>
                            <a:srgbClr val="B7C9A8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Elektronik</a:t>
                      </a:r>
                      <a:endParaRPr lang="en-US" sz="10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T="27432" marB="27432" anchor="ctr">
                    <a:lnL w="12700" cap="flat" cmpd="sng" algn="ctr">
                      <a:solidFill>
                        <a:srgbClr val="3A4C3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3A4C3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3A4C3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3A4C3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231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00" dirty="0">
                          <a:solidFill>
                            <a:srgbClr val="B7C9A8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150.000</a:t>
                      </a:r>
                      <a:endParaRPr lang="en-US" sz="10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T="27432" marB="27432" anchor="ctr">
                    <a:lnL w="12700" cap="flat" cmpd="sng" algn="ctr">
                      <a:solidFill>
                        <a:srgbClr val="3A4C3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3A4C3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3A4C3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3A4C3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231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329184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00" dirty="0">
                          <a:solidFill>
                            <a:srgbClr val="B7C9A8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5</a:t>
                      </a:r>
                      <a:endParaRPr lang="en-US" sz="10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T="27432" marB="27432" anchor="ctr">
                    <a:lnL w="12700" cap="flat" cmpd="sng" algn="ctr">
                      <a:solidFill>
                        <a:srgbClr val="3A4C3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3A4C3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3A4C3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3A4C3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A19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00" dirty="0">
                          <a:solidFill>
                            <a:srgbClr val="B7C9A8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Novel</a:t>
                      </a:r>
                      <a:endParaRPr lang="en-US" sz="10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T="27432" marB="27432" anchor="ctr">
                    <a:lnL w="12700" cap="flat" cmpd="sng" algn="ctr">
                      <a:solidFill>
                        <a:srgbClr val="3A4C3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3A4C3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3A4C3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3A4C3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A19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00" dirty="0">
                          <a:solidFill>
                            <a:srgbClr val="B7C9A8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Buku</a:t>
                      </a:r>
                      <a:endParaRPr lang="en-US" sz="10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T="27432" marB="27432" anchor="ctr">
                    <a:lnL w="12700" cap="flat" cmpd="sng" algn="ctr">
                      <a:solidFill>
                        <a:srgbClr val="3A4C3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3A4C3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3A4C3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3A4C3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A19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00" dirty="0">
                          <a:solidFill>
                            <a:srgbClr val="B7C9A8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92.000</a:t>
                      </a:r>
                      <a:endParaRPr lang="en-US" sz="10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T="27432" marB="27432" anchor="ctr">
                    <a:lnL w="12700" cap="flat" cmpd="sng" algn="ctr">
                      <a:solidFill>
                        <a:srgbClr val="3A4C3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3A4C3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3A4C3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3A4C3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A19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329184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00" dirty="0">
                          <a:solidFill>
                            <a:srgbClr val="B7C9A8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…</a:t>
                      </a:r>
                      <a:endParaRPr lang="en-US" sz="10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T="27432" marB="27432" anchor="ctr">
                    <a:lnL w="12700" cap="flat" cmpd="sng" algn="ctr">
                      <a:solidFill>
                        <a:srgbClr val="3A4C3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3A4C3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3A4C3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3A4C3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231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00" dirty="0">
                          <a:solidFill>
                            <a:srgbClr val="B7C9A8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…</a:t>
                      </a:r>
                      <a:endParaRPr lang="en-US" sz="10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T="27432" marB="27432" anchor="ctr">
                    <a:lnL w="12700" cap="flat" cmpd="sng" algn="ctr">
                      <a:solidFill>
                        <a:srgbClr val="3A4C3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3A4C3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3A4C3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3A4C3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231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00" dirty="0">
                          <a:solidFill>
                            <a:srgbClr val="B7C9A8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…</a:t>
                      </a:r>
                      <a:endParaRPr lang="en-US" sz="10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T="27432" marB="27432" anchor="ctr">
                    <a:lnL w="12700" cap="flat" cmpd="sng" algn="ctr">
                      <a:solidFill>
                        <a:srgbClr val="3A4C3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3A4C3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3A4C3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3A4C3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231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00" dirty="0">
                          <a:solidFill>
                            <a:srgbClr val="B7C9A8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…</a:t>
                      </a:r>
                      <a:endParaRPr lang="en-US" sz="10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T="27432" marB="27432" anchor="ctr">
                    <a:lnL w="12700" cap="flat" cmpd="sng" algn="ctr">
                      <a:solidFill>
                        <a:srgbClr val="3A4C3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3A4C3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3A4C3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3A4C3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231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</a:tbl>
          </a:graphicData>
        </a:graphic>
      </p:graphicFrame>
      <p:sp>
        <p:nvSpPr>
          <p:cNvPr id="6" name="Text 4"/>
          <p:cNvSpPr txBox="1"/>
          <p:nvPr/>
        </p:nvSpPr>
        <p:spPr>
          <a:xfrm>
            <a:off x="822960" y="4553712"/>
            <a:ext cx="448056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18000"/>
              </a:lnSpc>
              <a:buNone/>
            </a:pPr>
            <a:r>
              <a:rPr lang="en-US" sz="1100" i="1" dirty="0">
                <a:solidFill>
                  <a:srgbClr val="7C94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 baris pertama dari ribuan baris transaksi. Belum ada kesimpulan apa pun di sini.</a:t>
            </a:r>
            <a:endParaRPr lang="en-US" sz="1100" dirty="0"/>
          </a:p>
        </p:txBody>
      </p:sp>
      <p:sp>
        <p:nvSpPr>
          <p:cNvPr id="8" name="Text 5"/>
          <p:cNvSpPr txBox="1"/>
          <p:nvPr/>
        </p:nvSpPr>
        <p:spPr>
          <a:xfrm>
            <a:off x="5742432" y="3127248"/>
            <a:ext cx="86868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950" b="1" kern="0" spc="100" dirty="0">
                <a:solidFill>
                  <a:srgbClr val="C9A6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diolah</a:t>
            </a:r>
            <a:endParaRPr lang="en-US" sz="950" dirty="0"/>
          </a:p>
        </p:txBody>
      </p:sp>
      <p:sp>
        <p:nvSpPr>
          <p:cNvPr id="9" name="Shape 6"/>
          <p:cNvSpPr/>
          <p:nvPr/>
        </p:nvSpPr>
        <p:spPr>
          <a:xfrm>
            <a:off x="5870448" y="3401568"/>
            <a:ext cx="621792" cy="310896"/>
          </a:xfrm>
          <a:prstGeom prst="rightArrow">
            <a:avLst/>
          </a:prstGeom>
          <a:solidFill>
            <a:srgbClr val="C9A66B"/>
          </a:solidFill>
          <a:ln w="12700">
            <a:solidFill>
              <a:srgbClr val="C9A66B"/>
            </a:solidFill>
            <a:prstDash val="solid"/>
          </a:ln>
        </p:spPr>
      </p:sp>
      <p:sp>
        <p:nvSpPr>
          <p:cNvPr id="10" name="Shape 7"/>
          <p:cNvSpPr/>
          <p:nvPr/>
        </p:nvSpPr>
        <p:spPr>
          <a:xfrm>
            <a:off x="6693408" y="1481328"/>
            <a:ext cx="4919472" cy="4114800"/>
          </a:xfrm>
          <a:prstGeom prst="roundRect">
            <a:avLst>
              <a:gd name="adj" fmla="val 2000"/>
            </a:avLst>
          </a:prstGeom>
          <a:solidFill>
            <a:srgbClr val="22301C"/>
          </a:solidFill>
          <a:ln w="12700">
            <a:solidFill>
              <a:srgbClr val="3A4C30"/>
            </a:solidFill>
            <a:prstDash val="solid"/>
          </a:ln>
        </p:spPr>
      </p:sp>
      <p:sp>
        <p:nvSpPr>
          <p:cNvPr id="11" name="Text 8"/>
          <p:cNvSpPr txBox="1"/>
          <p:nvPr/>
        </p:nvSpPr>
        <p:spPr>
          <a:xfrm>
            <a:off x="6949440" y="1682496"/>
            <a:ext cx="43891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900" b="1" kern="0" spc="180" dirty="0">
                <a:solidFill>
                  <a:srgbClr val="C9A6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INSIGHT &amp; DASHBOARD</a:t>
            </a:r>
            <a:endParaRPr lang="en-US" sz="900" dirty="0"/>
          </a:p>
        </p:txBody>
      </p:sp>
      <p:graphicFrame>
        <p:nvGraphicFramePr>
          <p:cNvPr id="12" name="Chart 0"/>
          <p:cNvGraphicFramePr/>
          <p:nvPr/>
        </p:nvGraphicFramePr>
        <p:xfrm>
          <a:off x="6858000" y="2011680"/>
          <a:ext cx="4572000" cy="338328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3"/>
          </a:graphicData>
        </a:graphic>
      </p:graphicFrame>
      <p:sp>
        <p:nvSpPr>
          <p:cNvPr id="13" name="Text 9"/>
          <p:cNvSpPr txBox="1"/>
          <p:nvPr/>
        </p:nvSpPr>
        <p:spPr>
          <a:xfrm>
            <a:off x="566928" y="5742432"/>
            <a:ext cx="5029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1150" i="1" dirty="0">
                <a:solidFill>
                  <a:srgbClr val="7C94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Ini yang diolah Data Analyst</a:t>
            </a:r>
            <a:endParaRPr lang="en-US" sz="1150" dirty="0"/>
          </a:p>
        </p:txBody>
      </p:sp>
      <p:sp>
        <p:nvSpPr>
          <p:cNvPr id="14" name="Text 10"/>
          <p:cNvSpPr txBox="1"/>
          <p:nvPr/>
        </p:nvSpPr>
        <p:spPr>
          <a:xfrm>
            <a:off x="6693408" y="5742432"/>
            <a:ext cx="491947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1150" i="1" dirty="0">
                <a:solidFill>
                  <a:srgbClr val="C9A6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Ini yang dilihat orang lain</a:t>
            </a:r>
            <a:endParaRPr lang="en-US" sz="1150" dirty="0"/>
          </a:p>
        </p:txBody>
      </p:sp>
      <p:sp>
        <p:nvSpPr>
          <p:cNvPr id="15" name="Text 11"/>
          <p:cNvSpPr txBox="1"/>
          <p:nvPr/>
        </p:nvSpPr>
        <p:spPr>
          <a:xfrm>
            <a:off x="566928" y="6400800"/>
            <a:ext cx="5486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50" dirty="0">
                <a:solidFill>
                  <a:srgbClr val="6F826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Data Analyst UNSIKA  ·  Pertemuan 1</a:t>
            </a:r>
            <a:endParaRPr lang="en-US" sz="850" dirty="0"/>
          </a:p>
        </p:txBody>
      </p:sp>
      <p:sp>
        <p:nvSpPr>
          <p:cNvPr id="16" name="Text 12"/>
          <p:cNvSpPr txBox="1"/>
          <p:nvPr/>
        </p:nvSpPr>
        <p:spPr>
          <a:xfrm>
            <a:off x="10710367" y="6400800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850" b="1" dirty="0">
                <a:solidFill>
                  <a:srgbClr val="C9A6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</a:t>
            </a:r>
            <a:endParaRPr lang="en-US" sz="85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1A231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66928" y="384048"/>
            <a:ext cx="11057839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950" b="1" kern="0" spc="200" dirty="0">
                <a:solidFill>
                  <a:srgbClr val="7C94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TEORI 2 DARI 11</a:t>
            </a:r>
            <a:endParaRPr lang="en-US" sz="950" dirty="0"/>
          </a:p>
        </p:txBody>
      </p:sp>
      <p:sp>
        <p:nvSpPr>
          <p:cNvPr id="3" name="Text 1"/>
          <p:cNvSpPr txBox="1"/>
          <p:nvPr/>
        </p:nvSpPr>
        <p:spPr>
          <a:xfrm>
            <a:off x="566928" y="640080"/>
            <a:ext cx="11057839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2900" b="1" dirty="0">
                <a:solidFill>
                  <a:srgbClr val="F6F3E7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Alur Kerja Data Analyst</a:t>
            </a:r>
            <a:endParaRPr lang="en-US" sz="2900" dirty="0"/>
          </a:p>
        </p:txBody>
      </p:sp>
      <p:sp>
        <p:nvSpPr>
          <p:cNvPr id="4" name="Text 2"/>
          <p:cNvSpPr txBox="1"/>
          <p:nvPr/>
        </p:nvSpPr>
        <p:spPr>
          <a:xfrm>
            <a:off x="566928" y="1335024"/>
            <a:ext cx="11057839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300" dirty="0">
                <a:solidFill>
                  <a:srgbClr val="B7C9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Pekerjaan Data Analyst mengikuti alur yang sama, apa pun datanya.</a:t>
            </a:r>
            <a:endParaRPr lang="en-US" sz="1300" dirty="0"/>
          </a:p>
        </p:txBody>
      </p:sp>
      <p:sp>
        <p:nvSpPr>
          <p:cNvPr id="5" name="Shape 3"/>
          <p:cNvSpPr/>
          <p:nvPr/>
        </p:nvSpPr>
        <p:spPr>
          <a:xfrm>
            <a:off x="566928" y="1810512"/>
            <a:ext cx="3520440" cy="1810512"/>
          </a:xfrm>
          <a:prstGeom prst="roundRect">
            <a:avLst>
              <a:gd name="adj" fmla="val 4545"/>
            </a:avLst>
          </a:prstGeom>
          <a:solidFill>
            <a:srgbClr val="22301C"/>
          </a:solidFill>
          <a:ln w="12700">
            <a:solidFill>
              <a:srgbClr val="3A4C30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841248" y="2084832"/>
            <a:ext cx="384048" cy="384048"/>
          </a:xfrm>
          <a:prstGeom prst="ellipse">
            <a:avLst/>
          </a:prstGeom>
          <a:solidFill>
            <a:srgbClr val="C9A66B"/>
          </a:solidFill>
          <a:ln w="12700">
            <a:solidFill>
              <a:srgbClr val="C9A66B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841248" y="2084832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1A231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1</a:t>
            </a:r>
            <a:endParaRPr lang="en-US" sz="1300" dirty="0"/>
          </a:p>
        </p:txBody>
      </p:sp>
      <p:sp>
        <p:nvSpPr>
          <p:cNvPr id="8" name="Text 6"/>
          <p:cNvSpPr txBox="1"/>
          <p:nvPr/>
        </p:nvSpPr>
        <p:spPr>
          <a:xfrm>
            <a:off x="1344168" y="212140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450" b="1" dirty="0">
                <a:solidFill>
                  <a:srgbClr val="F6F3E7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Pertanyaan</a:t>
            </a:r>
            <a:endParaRPr lang="en-US" sz="1450" dirty="0"/>
          </a:p>
        </p:txBody>
      </p:sp>
      <p:sp>
        <p:nvSpPr>
          <p:cNvPr id="9" name="Text 7"/>
          <p:cNvSpPr txBox="1"/>
          <p:nvPr/>
        </p:nvSpPr>
        <p:spPr>
          <a:xfrm>
            <a:off x="841248" y="2670048"/>
            <a:ext cx="297180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20000"/>
              </a:lnSpc>
              <a:buNone/>
            </a:pPr>
            <a:r>
              <a:rPr lang="en-US" sz="1150" dirty="0">
                <a:solidFill>
                  <a:srgbClr val="B7C9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Semua berawal dari pertanyaan bisnis: “kategori mana yang paling laku bulan ini?”</a:t>
            </a:r>
            <a:endParaRPr lang="en-US" sz="1150" dirty="0"/>
          </a:p>
        </p:txBody>
      </p:sp>
      <p:sp>
        <p:nvSpPr>
          <p:cNvPr id="10" name="Shape 8"/>
          <p:cNvSpPr/>
          <p:nvPr/>
        </p:nvSpPr>
        <p:spPr>
          <a:xfrm>
            <a:off x="4334256" y="1810512"/>
            <a:ext cx="3520440" cy="1810512"/>
          </a:xfrm>
          <a:prstGeom prst="roundRect">
            <a:avLst>
              <a:gd name="adj" fmla="val 4545"/>
            </a:avLst>
          </a:prstGeom>
          <a:solidFill>
            <a:srgbClr val="22301C"/>
          </a:solidFill>
          <a:ln w="12700">
            <a:solidFill>
              <a:srgbClr val="3A4C30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4608576" y="2084832"/>
            <a:ext cx="384048" cy="384048"/>
          </a:xfrm>
          <a:prstGeom prst="ellipse">
            <a:avLst/>
          </a:prstGeom>
          <a:solidFill>
            <a:srgbClr val="C9A66B"/>
          </a:solidFill>
          <a:ln w="12700">
            <a:solidFill>
              <a:srgbClr val="C9A66B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4608576" y="2084832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1A231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2</a:t>
            </a:r>
            <a:endParaRPr lang="en-US" sz="1300" dirty="0"/>
          </a:p>
        </p:txBody>
      </p:sp>
      <p:sp>
        <p:nvSpPr>
          <p:cNvPr id="13" name="Text 11"/>
          <p:cNvSpPr txBox="1"/>
          <p:nvPr/>
        </p:nvSpPr>
        <p:spPr>
          <a:xfrm>
            <a:off x="5111496" y="212140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450" b="1" dirty="0">
                <a:solidFill>
                  <a:srgbClr val="F6F3E7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Kumpulkan Data</a:t>
            </a:r>
            <a:endParaRPr lang="en-US" sz="1450" dirty="0"/>
          </a:p>
        </p:txBody>
      </p:sp>
      <p:sp>
        <p:nvSpPr>
          <p:cNvPr id="14" name="Text 12"/>
          <p:cNvSpPr txBox="1"/>
          <p:nvPr/>
        </p:nvSpPr>
        <p:spPr>
          <a:xfrm>
            <a:off x="4608576" y="2670048"/>
            <a:ext cx="297180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20000"/>
              </a:lnSpc>
              <a:buNone/>
            </a:pPr>
            <a:r>
              <a:rPr lang="en-US" sz="1150" dirty="0">
                <a:solidFill>
                  <a:srgbClr val="B7C9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Mengambil data yang relevan, misalnya file CSV penjualan.</a:t>
            </a:r>
            <a:endParaRPr lang="en-US" sz="1150" dirty="0"/>
          </a:p>
        </p:txBody>
      </p:sp>
      <p:sp>
        <p:nvSpPr>
          <p:cNvPr id="15" name="Shape 13"/>
          <p:cNvSpPr/>
          <p:nvPr/>
        </p:nvSpPr>
        <p:spPr>
          <a:xfrm>
            <a:off x="8101584" y="1810512"/>
            <a:ext cx="3520440" cy="1810512"/>
          </a:xfrm>
          <a:prstGeom prst="roundRect">
            <a:avLst>
              <a:gd name="adj" fmla="val 4545"/>
            </a:avLst>
          </a:prstGeom>
          <a:solidFill>
            <a:srgbClr val="22301C"/>
          </a:solidFill>
          <a:ln w="12700">
            <a:solidFill>
              <a:srgbClr val="3A4C30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8375904" y="2084832"/>
            <a:ext cx="384048" cy="384048"/>
          </a:xfrm>
          <a:prstGeom prst="ellipse">
            <a:avLst/>
          </a:prstGeom>
          <a:solidFill>
            <a:srgbClr val="C9A66B"/>
          </a:solidFill>
          <a:ln w="12700">
            <a:solidFill>
              <a:srgbClr val="C9A66B"/>
            </a:solidFill>
            <a:prstDash val="solid"/>
          </a:ln>
        </p:spPr>
      </p:sp>
      <p:sp>
        <p:nvSpPr>
          <p:cNvPr id="17" name="Text 15"/>
          <p:cNvSpPr txBox="1"/>
          <p:nvPr/>
        </p:nvSpPr>
        <p:spPr>
          <a:xfrm>
            <a:off x="8375904" y="2084832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1A231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3</a:t>
            </a:r>
            <a:endParaRPr lang="en-US" sz="1300" dirty="0"/>
          </a:p>
        </p:txBody>
      </p:sp>
      <p:sp>
        <p:nvSpPr>
          <p:cNvPr id="18" name="Text 16"/>
          <p:cNvSpPr txBox="1"/>
          <p:nvPr/>
        </p:nvSpPr>
        <p:spPr>
          <a:xfrm>
            <a:off x="8878824" y="212140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450" b="1" dirty="0">
                <a:solidFill>
                  <a:srgbClr val="F6F3E7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Bersihkan</a:t>
            </a:r>
            <a:endParaRPr lang="en-US" sz="1450" dirty="0"/>
          </a:p>
        </p:txBody>
      </p:sp>
      <p:sp>
        <p:nvSpPr>
          <p:cNvPr id="19" name="Text 17"/>
          <p:cNvSpPr txBox="1"/>
          <p:nvPr/>
        </p:nvSpPr>
        <p:spPr>
          <a:xfrm>
            <a:off x="8375904" y="2670048"/>
            <a:ext cx="297180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20000"/>
              </a:lnSpc>
              <a:buNone/>
            </a:pPr>
            <a:r>
              <a:rPr lang="en-US" sz="1150" dirty="0">
                <a:solidFill>
                  <a:srgbClr val="B7C9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Data mentah sering berantakan: kosong, salah ketik, duplikat.</a:t>
            </a:r>
            <a:endParaRPr lang="en-US" sz="1150" dirty="0"/>
          </a:p>
        </p:txBody>
      </p:sp>
      <p:sp>
        <p:nvSpPr>
          <p:cNvPr id="20" name="Shape 18"/>
          <p:cNvSpPr/>
          <p:nvPr/>
        </p:nvSpPr>
        <p:spPr>
          <a:xfrm>
            <a:off x="566928" y="3877056"/>
            <a:ext cx="3520440" cy="1810512"/>
          </a:xfrm>
          <a:prstGeom prst="roundRect">
            <a:avLst>
              <a:gd name="adj" fmla="val 4545"/>
            </a:avLst>
          </a:prstGeom>
          <a:solidFill>
            <a:srgbClr val="22301C"/>
          </a:solidFill>
          <a:ln w="12700">
            <a:solidFill>
              <a:srgbClr val="3A4C30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841248" y="4151376"/>
            <a:ext cx="384048" cy="384048"/>
          </a:xfrm>
          <a:prstGeom prst="ellipse">
            <a:avLst/>
          </a:prstGeom>
          <a:solidFill>
            <a:srgbClr val="C9A66B"/>
          </a:solidFill>
          <a:ln w="12700">
            <a:solidFill>
              <a:srgbClr val="C9A66B"/>
            </a:solidFill>
            <a:prstDash val="solid"/>
          </a:ln>
        </p:spPr>
      </p:sp>
      <p:sp>
        <p:nvSpPr>
          <p:cNvPr id="22" name="Text 20"/>
          <p:cNvSpPr txBox="1"/>
          <p:nvPr/>
        </p:nvSpPr>
        <p:spPr>
          <a:xfrm>
            <a:off x="841248" y="4151376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1A231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4</a:t>
            </a:r>
            <a:endParaRPr lang="en-US" sz="1300" dirty="0"/>
          </a:p>
        </p:txBody>
      </p:sp>
      <p:sp>
        <p:nvSpPr>
          <p:cNvPr id="23" name="Text 21"/>
          <p:cNvSpPr txBox="1"/>
          <p:nvPr/>
        </p:nvSpPr>
        <p:spPr>
          <a:xfrm>
            <a:off x="1344168" y="4187952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450" b="1" dirty="0">
                <a:solidFill>
                  <a:srgbClr val="F6F3E7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Analisis</a:t>
            </a:r>
            <a:endParaRPr lang="en-US" sz="1450" dirty="0"/>
          </a:p>
        </p:txBody>
      </p:sp>
      <p:sp>
        <p:nvSpPr>
          <p:cNvPr id="24" name="Text 22"/>
          <p:cNvSpPr txBox="1"/>
          <p:nvPr/>
        </p:nvSpPr>
        <p:spPr>
          <a:xfrm>
            <a:off x="841248" y="4736592"/>
            <a:ext cx="297180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20000"/>
              </a:lnSpc>
              <a:buNone/>
            </a:pPr>
            <a:r>
              <a:rPr lang="en-US" sz="1150" dirty="0">
                <a:solidFill>
                  <a:srgbClr val="B7C9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Menghitung, mengelompokkan, mencari pola dalam data yang sudah bersih.</a:t>
            </a:r>
            <a:endParaRPr lang="en-US" sz="1150" dirty="0"/>
          </a:p>
        </p:txBody>
      </p:sp>
      <p:sp>
        <p:nvSpPr>
          <p:cNvPr id="25" name="Shape 23"/>
          <p:cNvSpPr/>
          <p:nvPr/>
        </p:nvSpPr>
        <p:spPr>
          <a:xfrm>
            <a:off x="4334256" y="3877056"/>
            <a:ext cx="3520440" cy="1810512"/>
          </a:xfrm>
          <a:prstGeom prst="roundRect">
            <a:avLst>
              <a:gd name="adj" fmla="val 4545"/>
            </a:avLst>
          </a:prstGeom>
          <a:solidFill>
            <a:srgbClr val="22301C"/>
          </a:solidFill>
          <a:ln w="12700">
            <a:solidFill>
              <a:srgbClr val="3A4C30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4608576" y="4151376"/>
            <a:ext cx="384048" cy="384048"/>
          </a:xfrm>
          <a:prstGeom prst="ellipse">
            <a:avLst/>
          </a:prstGeom>
          <a:solidFill>
            <a:srgbClr val="C9A66B"/>
          </a:solidFill>
          <a:ln w="12700">
            <a:solidFill>
              <a:srgbClr val="C9A66B"/>
            </a:solidFill>
            <a:prstDash val="solid"/>
          </a:ln>
        </p:spPr>
      </p:sp>
      <p:sp>
        <p:nvSpPr>
          <p:cNvPr id="27" name="Text 25"/>
          <p:cNvSpPr txBox="1"/>
          <p:nvPr/>
        </p:nvSpPr>
        <p:spPr>
          <a:xfrm>
            <a:off x="4608576" y="4151376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1A231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5</a:t>
            </a:r>
            <a:endParaRPr lang="en-US" sz="1300" dirty="0"/>
          </a:p>
        </p:txBody>
      </p:sp>
      <p:sp>
        <p:nvSpPr>
          <p:cNvPr id="28" name="Text 26"/>
          <p:cNvSpPr txBox="1"/>
          <p:nvPr/>
        </p:nvSpPr>
        <p:spPr>
          <a:xfrm>
            <a:off x="5111496" y="4187952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450" b="1" dirty="0">
                <a:solidFill>
                  <a:srgbClr val="F6F3E7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Visualisasi</a:t>
            </a:r>
            <a:endParaRPr lang="en-US" sz="1450" dirty="0"/>
          </a:p>
        </p:txBody>
      </p:sp>
      <p:sp>
        <p:nvSpPr>
          <p:cNvPr id="29" name="Text 27"/>
          <p:cNvSpPr txBox="1"/>
          <p:nvPr/>
        </p:nvSpPr>
        <p:spPr>
          <a:xfrm>
            <a:off x="4608576" y="4736592"/>
            <a:ext cx="297180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20000"/>
              </a:lnSpc>
              <a:buNone/>
            </a:pPr>
            <a:r>
              <a:rPr lang="en-US" sz="1150" dirty="0">
                <a:solidFill>
                  <a:srgbClr val="B7C9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Mengubah angka jadi grafik supaya gampang dipahami orang lain.</a:t>
            </a:r>
            <a:endParaRPr lang="en-US" sz="1150" dirty="0"/>
          </a:p>
        </p:txBody>
      </p:sp>
      <p:sp>
        <p:nvSpPr>
          <p:cNvPr id="30" name="Shape 28"/>
          <p:cNvSpPr/>
          <p:nvPr/>
        </p:nvSpPr>
        <p:spPr>
          <a:xfrm>
            <a:off x="8101584" y="3877056"/>
            <a:ext cx="3520440" cy="1810512"/>
          </a:xfrm>
          <a:prstGeom prst="roundRect">
            <a:avLst>
              <a:gd name="adj" fmla="val 4545"/>
            </a:avLst>
          </a:prstGeom>
          <a:solidFill>
            <a:srgbClr val="22301C"/>
          </a:solidFill>
          <a:ln w="12700">
            <a:solidFill>
              <a:srgbClr val="3A4C30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8375904" y="4151376"/>
            <a:ext cx="384048" cy="384048"/>
          </a:xfrm>
          <a:prstGeom prst="ellipse">
            <a:avLst/>
          </a:prstGeom>
          <a:solidFill>
            <a:srgbClr val="C9A66B"/>
          </a:solidFill>
          <a:ln w="12700">
            <a:solidFill>
              <a:srgbClr val="C9A66B"/>
            </a:solidFill>
            <a:prstDash val="solid"/>
          </a:ln>
        </p:spPr>
      </p:sp>
      <p:sp>
        <p:nvSpPr>
          <p:cNvPr id="32" name="Text 30"/>
          <p:cNvSpPr txBox="1"/>
          <p:nvPr/>
        </p:nvSpPr>
        <p:spPr>
          <a:xfrm>
            <a:off x="8375904" y="4151376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1A231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6</a:t>
            </a:r>
            <a:endParaRPr lang="en-US" sz="1300" dirty="0"/>
          </a:p>
        </p:txBody>
      </p:sp>
      <p:sp>
        <p:nvSpPr>
          <p:cNvPr id="33" name="Text 31"/>
          <p:cNvSpPr txBox="1"/>
          <p:nvPr/>
        </p:nvSpPr>
        <p:spPr>
          <a:xfrm>
            <a:off x="8878824" y="4187952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450" b="1" dirty="0">
                <a:solidFill>
                  <a:srgbClr val="F6F3E7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Rekomendasi</a:t>
            </a:r>
            <a:endParaRPr lang="en-US" sz="1450" dirty="0"/>
          </a:p>
        </p:txBody>
      </p:sp>
      <p:sp>
        <p:nvSpPr>
          <p:cNvPr id="34" name="Text 32"/>
          <p:cNvSpPr txBox="1"/>
          <p:nvPr/>
        </p:nvSpPr>
        <p:spPr>
          <a:xfrm>
            <a:off x="8375904" y="4736592"/>
            <a:ext cx="297180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20000"/>
              </a:lnSpc>
              <a:buNone/>
            </a:pPr>
            <a:r>
              <a:rPr lang="en-US" sz="1150" dirty="0">
                <a:solidFill>
                  <a:srgbClr val="B7C9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Menyimpulkan apa yang sebaiknya dilakukan berdasarkan hasil analisis.</a:t>
            </a:r>
            <a:endParaRPr lang="en-US" sz="1150" dirty="0"/>
          </a:p>
        </p:txBody>
      </p:sp>
      <p:sp>
        <p:nvSpPr>
          <p:cNvPr id="35" name="Text 33"/>
          <p:cNvSpPr txBox="1"/>
          <p:nvPr/>
        </p:nvSpPr>
        <p:spPr>
          <a:xfrm>
            <a:off x="566928" y="6400800"/>
            <a:ext cx="5486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50" dirty="0">
                <a:solidFill>
                  <a:srgbClr val="6F826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Data Analyst UNSIKA  ·  Pertemuan 1</a:t>
            </a:r>
            <a:endParaRPr lang="en-US" sz="850" dirty="0"/>
          </a:p>
        </p:txBody>
      </p:sp>
      <p:sp>
        <p:nvSpPr>
          <p:cNvPr id="36" name="Text 34"/>
          <p:cNvSpPr txBox="1"/>
          <p:nvPr/>
        </p:nvSpPr>
        <p:spPr>
          <a:xfrm>
            <a:off x="10710367" y="6400800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850" b="1" dirty="0">
                <a:solidFill>
                  <a:srgbClr val="C9A6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</a:t>
            </a:r>
            <a:endParaRPr lang="en-US" sz="85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1A231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66928" y="384048"/>
            <a:ext cx="11057839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950" b="1" kern="0" spc="200" dirty="0">
                <a:solidFill>
                  <a:srgbClr val="7C94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TEORI 2 DARI 11</a:t>
            </a:r>
            <a:endParaRPr lang="en-US" sz="950" dirty="0"/>
          </a:p>
        </p:txBody>
      </p:sp>
      <p:sp>
        <p:nvSpPr>
          <p:cNvPr id="3" name="Text 1"/>
          <p:cNvSpPr txBox="1"/>
          <p:nvPr/>
        </p:nvSpPr>
        <p:spPr>
          <a:xfrm>
            <a:off x="566928" y="640080"/>
            <a:ext cx="11057839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2900" b="1" dirty="0">
                <a:solidFill>
                  <a:srgbClr val="F6F3E7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Enam Tahap, Satu Alur</a:t>
            </a:r>
            <a:endParaRPr lang="en-US" sz="2900" dirty="0"/>
          </a:p>
        </p:txBody>
      </p:sp>
      <p:sp>
        <p:nvSpPr>
          <p:cNvPr id="4" name="Text 2"/>
          <p:cNvSpPr txBox="1"/>
          <p:nvPr/>
        </p:nvSpPr>
        <p:spPr>
          <a:xfrm>
            <a:off x="566928" y="1335024"/>
            <a:ext cx="11057839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300" dirty="0">
                <a:solidFill>
                  <a:srgbClr val="B7C9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Urutannya selalu sama — yang berubah cuma datanya dan pertanyaannya.</a:t>
            </a:r>
            <a:endParaRPr lang="en-US" sz="1300" dirty="0"/>
          </a:p>
        </p:txBody>
      </p:sp>
      <p:sp>
        <p:nvSpPr>
          <p:cNvPr id="5" name="Shape 3"/>
          <p:cNvSpPr/>
          <p:nvPr/>
        </p:nvSpPr>
        <p:spPr>
          <a:xfrm>
            <a:off x="566928" y="1810512"/>
            <a:ext cx="1627632" cy="1938528"/>
          </a:xfrm>
          <a:prstGeom prst="roundRect">
            <a:avLst>
              <a:gd name="adj" fmla="val 5056"/>
            </a:avLst>
          </a:prstGeom>
          <a:solidFill>
            <a:srgbClr val="22301C"/>
          </a:solidFill>
          <a:ln w="12700">
            <a:solidFill>
              <a:srgbClr val="3A4C30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1078992" y="2139696"/>
            <a:ext cx="603504" cy="603504"/>
          </a:xfrm>
          <a:prstGeom prst="ellipse">
            <a:avLst/>
          </a:prstGeom>
          <a:solidFill>
            <a:srgbClr val="2A3823"/>
          </a:solidFill>
          <a:ln w="12700">
            <a:solidFill>
              <a:srgbClr val="7C9473"/>
            </a:solidFill>
            <a:prstDash val="solid"/>
          </a:ln>
        </p:spPr>
      </p:sp>
      <p:pic>
        <p:nvPicPr>
          <p:cNvPr id="7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69518" y="2230222"/>
            <a:ext cx="422453" cy="422453"/>
          </a:xfrm>
          <a:prstGeom prst="rect">
            <a:avLst/>
          </a:prstGeom>
        </p:spPr>
      </p:pic>
      <p:sp>
        <p:nvSpPr>
          <p:cNvPr id="8" name="Text 5"/>
          <p:cNvSpPr txBox="1"/>
          <p:nvPr/>
        </p:nvSpPr>
        <p:spPr>
          <a:xfrm>
            <a:off x="640080" y="2871216"/>
            <a:ext cx="148132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F6F3E7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Pertanyaan</a:t>
            </a:r>
            <a:endParaRPr lang="en-US" sz="1200" dirty="0"/>
          </a:p>
        </p:txBody>
      </p:sp>
      <p:sp>
        <p:nvSpPr>
          <p:cNvPr id="9" name="Text 6"/>
          <p:cNvSpPr txBox="1"/>
          <p:nvPr/>
        </p:nvSpPr>
        <p:spPr>
          <a:xfrm>
            <a:off x="640080" y="3236976"/>
            <a:ext cx="148132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C9A66B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01</a:t>
            </a:r>
            <a:endParaRPr lang="en-US" sz="1500" dirty="0"/>
          </a:p>
        </p:txBody>
      </p:sp>
      <p:sp>
        <p:nvSpPr>
          <p:cNvPr id="10" name="Shape 7"/>
          <p:cNvSpPr/>
          <p:nvPr/>
        </p:nvSpPr>
        <p:spPr>
          <a:xfrm>
            <a:off x="2244852" y="2670048"/>
            <a:ext cx="160020" cy="155448"/>
          </a:xfrm>
          <a:prstGeom prst="rightArrow">
            <a:avLst/>
          </a:prstGeom>
          <a:solidFill>
            <a:srgbClr val="C9A66B"/>
          </a:solidFill>
          <a:ln w="12700">
            <a:solidFill>
              <a:srgbClr val="C9A66B"/>
            </a:solidFill>
            <a:prstDash val="solid"/>
          </a:ln>
        </p:spPr>
      </p:sp>
      <p:sp>
        <p:nvSpPr>
          <p:cNvPr id="11" name="Shape 8"/>
          <p:cNvSpPr/>
          <p:nvPr/>
        </p:nvSpPr>
        <p:spPr>
          <a:xfrm>
            <a:off x="2454250" y="1810512"/>
            <a:ext cx="1627632" cy="1938528"/>
          </a:xfrm>
          <a:prstGeom prst="roundRect">
            <a:avLst>
              <a:gd name="adj" fmla="val 5056"/>
            </a:avLst>
          </a:prstGeom>
          <a:solidFill>
            <a:srgbClr val="22301C"/>
          </a:solidFill>
          <a:ln w="12700">
            <a:solidFill>
              <a:srgbClr val="3A4C30"/>
            </a:solidFill>
            <a:prstDash val="solid"/>
          </a:ln>
        </p:spPr>
      </p:sp>
      <p:sp>
        <p:nvSpPr>
          <p:cNvPr id="12" name="Shape 9"/>
          <p:cNvSpPr/>
          <p:nvPr/>
        </p:nvSpPr>
        <p:spPr>
          <a:xfrm>
            <a:off x="2966314" y="2139696"/>
            <a:ext cx="603504" cy="603504"/>
          </a:xfrm>
          <a:prstGeom prst="ellipse">
            <a:avLst/>
          </a:prstGeom>
          <a:solidFill>
            <a:srgbClr val="2A3823"/>
          </a:solidFill>
          <a:ln w="12700">
            <a:solidFill>
              <a:srgbClr val="7C9473"/>
            </a:solidFill>
            <a:prstDash val="solid"/>
          </a:ln>
        </p:spPr>
      </p:sp>
      <p:pic>
        <p:nvPicPr>
          <p:cNvPr id="13" name="Image 1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056839" y="2230222"/>
            <a:ext cx="422453" cy="422453"/>
          </a:xfrm>
          <a:prstGeom prst="rect">
            <a:avLst/>
          </a:prstGeom>
        </p:spPr>
      </p:pic>
      <p:sp>
        <p:nvSpPr>
          <p:cNvPr id="14" name="Text 10"/>
          <p:cNvSpPr txBox="1"/>
          <p:nvPr/>
        </p:nvSpPr>
        <p:spPr>
          <a:xfrm>
            <a:off x="2527402" y="2871216"/>
            <a:ext cx="148132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F6F3E7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Kumpulkan</a:t>
            </a:r>
            <a:endParaRPr lang="en-US" sz="1200" dirty="0"/>
          </a:p>
        </p:txBody>
      </p:sp>
      <p:sp>
        <p:nvSpPr>
          <p:cNvPr id="15" name="Text 11"/>
          <p:cNvSpPr txBox="1"/>
          <p:nvPr/>
        </p:nvSpPr>
        <p:spPr>
          <a:xfrm>
            <a:off x="2527402" y="3236976"/>
            <a:ext cx="148132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C9A66B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02</a:t>
            </a:r>
            <a:endParaRPr lang="en-US" sz="1500" dirty="0"/>
          </a:p>
        </p:txBody>
      </p:sp>
      <p:sp>
        <p:nvSpPr>
          <p:cNvPr id="16" name="Shape 12"/>
          <p:cNvSpPr/>
          <p:nvPr/>
        </p:nvSpPr>
        <p:spPr>
          <a:xfrm>
            <a:off x="4132174" y="2670048"/>
            <a:ext cx="160020" cy="155448"/>
          </a:xfrm>
          <a:prstGeom prst="rightArrow">
            <a:avLst/>
          </a:prstGeom>
          <a:solidFill>
            <a:srgbClr val="C9A66B"/>
          </a:solidFill>
          <a:ln w="12700">
            <a:solidFill>
              <a:srgbClr val="C9A66B"/>
            </a:solidFill>
            <a:prstDash val="solid"/>
          </a:ln>
        </p:spPr>
      </p:sp>
      <p:sp>
        <p:nvSpPr>
          <p:cNvPr id="17" name="Shape 13"/>
          <p:cNvSpPr/>
          <p:nvPr/>
        </p:nvSpPr>
        <p:spPr>
          <a:xfrm>
            <a:off x="4341571" y="1810512"/>
            <a:ext cx="1627632" cy="1938528"/>
          </a:xfrm>
          <a:prstGeom prst="roundRect">
            <a:avLst>
              <a:gd name="adj" fmla="val 5056"/>
            </a:avLst>
          </a:prstGeom>
          <a:solidFill>
            <a:srgbClr val="22301C"/>
          </a:solidFill>
          <a:ln w="12700">
            <a:solidFill>
              <a:srgbClr val="3A4C30"/>
            </a:solidFill>
            <a:prstDash val="solid"/>
          </a:ln>
        </p:spPr>
      </p:sp>
      <p:sp>
        <p:nvSpPr>
          <p:cNvPr id="18" name="Shape 14"/>
          <p:cNvSpPr/>
          <p:nvPr/>
        </p:nvSpPr>
        <p:spPr>
          <a:xfrm>
            <a:off x="4853635" y="2139696"/>
            <a:ext cx="603504" cy="603504"/>
          </a:xfrm>
          <a:prstGeom prst="ellipse">
            <a:avLst/>
          </a:prstGeom>
          <a:solidFill>
            <a:srgbClr val="2A3823"/>
          </a:solidFill>
          <a:ln w="12700">
            <a:solidFill>
              <a:srgbClr val="7C9473"/>
            </a:solidFill>
            <a:prstDash val="solid"/>
          </a:ln>
        </p:spPr>
      </p:sp>
      <p:pic>
        <p:nvPicPr>
          <p:cNvPr id="19" name="Image 2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944161" y="2230222"/>
            <a:ext cx="422453" cy="422453"/>
          </a:xfrm>
          <a:prstGeom prst="rect">
            <a:avLst/>
          </a:prstGeom>
        </p:spPr>
      </p:pic>
      <p:sp>
        <p:nvSpPr>
          <p:cNvPr id="20" name="Text 15"/>
          <p:cNvSpPr txBox="1"/>
          <p:nvPr/>
        </p:nvSpPr>
        <p:spPr>
          <a:xfrm>
            <a:off x="4414723" y="2871216"/>
            <a:ext cx="148132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F6F3E7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Bersihkan</a:t>
            </a:r>
            <a:endParaRPr lang="en-US" sz="1200" dirty="0"/>
          </a:p>
        </p:txBody>
      </p:sp>
      <p:sp>
        <p:nvSpPr>
          <p:cNvPr id="21" name="Text 16"/>
          <p:cNvSpPr txBox="1"/>
          <p:nvPr/>
        </p:nvSpPr>
        <p:spPr>
          <a:xfrm>
            <a:off x="4414723" y="3236976"/>
            <a:ext cx="148132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C9A66B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03</a:t>
            </a:r>
            <a:endParaRPr lang="en-US" sz="1500" dirty="0"/>
          </a:p>
        </p:txBody>
      </p:sp>
      <p:sp>
        <p:nvSpPr>
          <p:cNvPr id="22" name="Shape 17"/>
          <p:cNvSpPr/>
          <p:nvPr/>
        </p:nvSpPr>
        <p:spPr>
          <a:xfrm>
            <a:off x="6019495" y="2670048"/>
            <a:ext cx="160020" cy="155448"/>
          </a:xfrm>
          <a:prstGeom prst="rightArrow">
            <a:avLst/>
          </a:prstGeom>
          <a:solidFill>
            <a:srgbClr val="C9A66B"/>
          </a:solidFill>
          <a:ln w="12700">
            <a:solidFill>
              <a:srgbClr val="C9A66B"/>
            </a:solidFill>
            <a:prstDash val="solid"/>
          </a:ln>
        </p:spPr>
      </p:sp>
      <p:sp>
        <p:nvSpPr>
          <p:cNvPr id="23" name="Shape 18"/>
          <p:cNvSpPr/>
          <p:nvPr/>
        </p:nvSpPr>
        <p:spPr>
          <a:xfrm>
            <a:off x="6228893" y="1810512"/>
            <a:ext cx="1627632" cy="1938528"/>
          </a:xfrm>
          <a:prstGeom prst="roundRect">
            <a:avLst>
              <a:gd name="adj" fmla="val 5056"/>
            </a:avLst>
          </a:prstGeom>
          <a:solidFill>
            <a:srgbClr val="22301C"/>
          </a:solidFill>
          <a:ln w="12700">
            <a:solidFill>
              <a:srgbClr val="3A4C30"/>
            </a:solidFill>
            <a:prstDash val="solid"/>
          </a:ln>
        </p:spPr>
      </p:sp>
      <p:sp>
        <p:nvSpPr>
          <p:cNvPr id="24" name="Shape 19"/>
          <p:cNvSpPr/>
          <p:nvPr/>
        </p:nvSpPr>
        <p:spPr>
          <a:xfrm>
            <a:off x="6740957" y="2139696"/>
            <a:ext cx="603504" cy="603504"/>
          </a:xfrm>
          <a:prstGeom prst="ellipse">
            <a:avLst/>
          </a:prstGeom>
          <a:solidFill>
            <a:srgbClr val="2A3823"/>
          </a:solidFill>
          <a:ln w="12700">
            <a:solidFill>
              <a:srgbClr val="7C9473"/>
            </a:solidFill>
            <a:prstDash val="solid"/>
          </a:ln>
        </p:spPr>
      </p:sp>
      <p:pic>
        <p:nvPicPr>
          <p:cNvPr id="25" name="Image 3" descr="preencoded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831482" y="2230222"/>
            <a:ext cx="422453" cy="422453"/>
          </a:xfrm>
          <a:prstGeom prst="rect">
            <a:avLst/>
          </a:prstGeom>
        </p:spPr>
      </p:pic>
      <p:sp>
        <p:nvSpPr>
          <p:cNvPr id="26" name="Text 20"/>
          <p:cNvSpPr txBox="1"/>
          <p:nvPr/>
        </p:nvSpPr>
        <p:spPr>
          <a:xfrm>
            <a:off x="6302045" y="2871216"/>
            <a:ext cx="148132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F6F3E7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Analisis</a:t>
            </a:r>
            <a:endParaRPr lang="en-US" sz="1200" dirty="0"/>
          </a:p>
        </p:txBody>
      </p:sp>
      <p:sp>
        <p:nvSpPr>
          <p:cNvPr id="27" name="Text 21"/>
          <p:cNvSpPr txBox="1"/>
          <p:nvPr/>
        </p:nvSpPr>
        <p:spPr>
          <a:xfrm>
            <a:off x="6302045" y="3236976"/>
            <a:ext cx="148132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C9A66B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04</a:t>
            </a:r>
            <a:endParaRPr lang="en-US" sz="1500" dirty="0"/>
          </a:p>
        </p:txBody>
      </p:sp>
      <p:sp>
        <p:nvSpPr>
          <p:cNvPr id="28" name="Shape 22"/>
          <p:cNvSpPr/>
          <p:nvPr/>
        </p:nvSpPr>
        <p:spPr>
          <a:xfrm>
            <a:off x="7906817" y="2670048"/>
            <a:ext cx="160020" cy="155448"/>
          </a:xfrm>
          <a:prstGeom prst="rightArrow">
            <a:avLst/>
          </a:prstGeom>
          <a:solidFill>
            <a:srgbClr val="C9A66B"/>
          </a:solidFill>
          <a:ln w="12700">
            <a:solidFill>
              <a:srgbClr val="C9A66B"/>
            </a:solidFill>
            <a:prstDash val="solid"/>
          </a:ln>
        </p:spPr>
      </p:sp>
      <p:sp>
        <p:nvSpPr>
          <p:cNvPr id="29" name="Shape 23"/>
          <p:cNvSpPr/>
          <p:nvPr/>
        </p:nvSpPr>
        <p:spPr>
          <a:xfrm>
            <a:off x="8116214" y="1810512"/>
            <a:ext cx="1627632" cy="1938528"/>
          </a:xfrm>
          <a:prstGeom prst="roundRect">
            <a:avLst>
              <a:gd name="adj" fmla="val 5056"/>
            </a:avLst>
          </a:prstGeom>
          <a:solidFill>
            <a:srgbClr val="22301C"/>
          </a:solidFill>
          <a:ln w="12700">
            <a:solidFill>
              <a:srgbClr val="3A4C30"/>
            </a:solidFill>
            <a:prstDash val="solid"/>
          </a:ln>
        </p:spPr>
      </p:sp>
      <p:sp>
        <p:nvSpPr>
          <p:cNvPr id="30" name="Shape 24"/>
          <p:cNvSpPr/>
          <p:nvPr/>
        </p:nvSpPr>
        <p:spPr>
          <a:xfrm>
            <a:off x="8628278" y="2139696"/>
            <a:ext cx="603504" cy="603504"/>
          </a:xfrm>
          <a:prstGeom prst="ellipse">
            <a:avLst/>
          </a:prstGeom>
          <a:solidFill>
            <a:srgbClr val="2A3823"/>
          </a:solidFill>
          <a:ln w="12700">
            <a:solidFill>
              <a:srgbClr val="7C9473"/>
            </a:solidFill>
            <a:prstDash val="solid"/>
          </a:ln>
        </p:spPr>
      </p:sp>
      <p:pic>
        <p:nvPicPr>
          <p:cNvPr id="31" name="Image 4" descr="preencoded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8718804" y="2230222"/>
            <a:ext cx="422453" cy="422453"/>
          </a:xfrm>
          <a:prstGeom prst="rect">
            <a:avLst/>
          </a:prstGeom>
        </p:spPr>
      </p:pic>
      <p:sp>
        <p:nvSpPr>
          <p:cNvPr id="32" name="Text 25"/>
          <p:cNvSpPr txBox="1"/>
          <p:nvPr/>
        </p:nvSpPr>
        <p:spPr>
          <a:xfrm>
            <a:off x="8189366" y="2871216"/>
            <a:ext cx="148132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F6F3E7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Visualisasi</a:t>
            </a:r>
            <a:endParaRPr lang="en-US" sz="1200" dirty="0"/>
          </a:p>
        </p:txBody>
      </p:sp>
      <p:sp>
        <p:nvSpPr>
          <p:cNvPr id="33" name="Text 26"/>
          <p:cNvSpPr txBox="1"/>
          <p:nvPr/>
        </p:nvSpPr>
        <p:spPr>
          <a:xfrm>
            <a:off x="8189366" y="3236976"/>
            <a:ext cx="148132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C9A66B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05</a:t>
            </a:r>
            <a:endParaRPr lang="en-US" sz="1500" dirty="0"/>
          </a:p>
        </p:txBody>
      </p:sp>
      <p:sp>
        <p:nvSpPr>
          <p:cNvPr id="34" name="Shape 27"/>
          <p:cNvSpPr/>
          <p:nvPr/>
        </p:nvSpPr>
        <p:spPr>
          <a:xfrm>
            <a:off x="9794138" y="2670048"/>
            <a:ext cx="160020" cy="155448"/>
          </a:xfrm>
          <a:prstGeom prst="rightArrow">
            <a:avLst/>
          </a:prstGeom>
          <a:solidFill>
            <a:srgbClr val="C9A66B"/>
          </a:solidFill>
          <a:ln w="12700">
            <a:solidFill>
              <a:srgbClr val="C9A66B"/>
            </a:solidFill>
            <a:prstDash val="solid"/>
          </a:ln>
        </p:spPr>
      </p:sp>
      <p:sp>
        <p:nvSpPr>
          <p:cNvPr id="35" name="Shape 28"/>
          <p:cNvSpPr/>
          <p:nvPr/>
        </p:nvSpPr>
        <p:spPr>
          <a:xfrm>
            <a:off x="10003536" y="1810512"/>
            <a:ext cx="1627632" cy="1938528"/>
          </a:xfrm>
          <a:prstGeom prst="roundRect">
            <a:avLst>
              <a:gd name="adj" fmla="val 5056"/>
            </a:avLst>
          </a:prstGeom>
          <a:solidFill>
            <a:srgbClr val="22301C"/>
          </a:solidFill>
          <a:ln w="12700">
            <a:solidFill>
              <a:srgbClr val="3A4C30"/>
            </a:solidFill>
            <a:prstDash val="solid"/>
          </a:ln>
        </p:spPr>
      </p:sp>
      <p:sp>
        <p:nvSpPr>
          <p:cNvPr id="36" name="Shape 29"/>
          <p:cNvSpPr/>
          <p:nvPr/>
        </p:nvSpPr>
        <p:spPr>
          <a:xfrm>
            <a:off x="10515600" y="2139696"/>
            <a:ext cx="603504" cy="603504"/>
          </a:xfrm>
          <a:prstGeom prst="ellipse">
            <a:avLst/>
          </a:prstGeom>
          <a:solidFill>
            <a:srgbClr val="2A3823"/>
          </a:solidFill>
          <a:ln w="12700">
            <a:solidFill>
              <a:srgbClr val="7C9473"/>
            </a:solidFill>
            <a:prstDash val="solid"/>
          </a:ln>
        </p:spPr>
      </p:sp>
      <p:pic>
        <p:nvPicPr>
          <p:cNvPr id="37" name="Image 5" descr="preencoded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10606126" y="2230222"/>
            <a:ext cx="422453" cy="422453"/>
          </a:xfrm>
          <a:prstGeom prst="rect">
            <a:avLst/>
          </a:prstGeom>
        </p:spPr>
      </p:pic>
      <p:sp>
        <p:nvSpPr>
          <p:cNvPr id="38" name="Text 30"/>
          <p:cNvSpPr txBox="1"/>
          <p:nvPr/>
        </p:nvSpPr>
        <p:spPr>
          <a:xfrm>
            <a:off x="10076688" y="2871216"/>
            <a:ext cx="148132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F6F3E7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Rekomendasi</a:t>
            </a:r>
            <a:endParaRPr lang="en-US" sz="1200" dirty="0"/>
          </a:p>
        </p:txBody>
      </p:sp>
      <p:sp>
        <p:nvSpPr>
          <p:cNvPr id="39" name="Text 31"/>
          <p:cNvSpPr txBox="1"/>
          <p:nvPr/>
        </p:nvSpPr>
        <p:spPr>
          <a:xfrm>
            <a:off x="10076688" y="3236976"/>
            <a:ext cx="148132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C9A66B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06</a:t>
            </a:r>
            <a:endParaRPr lang="en-US" sz="1500" dirty="0"/>
          </a:p>
        </p:txBody>
      </p:sp>
      <p:sp>
        <p:nvSpPr>
          <p:cNvPr id="40" name="Shape 32"/>
          <p:cNvSpPr/>
          <p:nvPr/>
        </p:nvSpPr>
        <p:spPr>
          <a:xfrm>
            <a:off x="566928" y="4315968"/>
            <a:ext cx="11057839" cy="1463040"/>
          </a:xfrm>
          <a:prstGeom prst="roundRect">
            <a:avLst>
              <a:gd name="adj" fmla="val 5625"/>
            </a:avLst>
          </a:prstGeom>
          <a:solidFill>
            <a:srgbClr val="2A3823"/>
          </a:solidFill>
          <a:ln w="12700">
            <a:solidFill>
              <a:srgbClr val="3A4C30"/>
            </a:solidFill>
            <a:prstDash val="solid"/>
          </a:ln>
        </p:spPr>
      </p:sp>
      <p:sp>
        <p:nvSpPr>
          <p:cNvPr id="41" name="Shape 33"/>
          <p:cNvSpPr/>
          <p:nvPr/>
        </p:nvSpPr>
        <p:spPr>
          <a:xfrm>
            <a:off x="877824" y="4645152"/>
            <a:ext cx="566928" cy="566928"/>
          </a:xfrm>
          <a:prstGeom prst="ellipse">
            <a:avLst/>
          </a:prstGeom>
          <a:solidFill>
            <a:srgbClr val="1A231A"/>
          </a:solidFill>
          <a:ln w="12700">
            <a:solidFill>
              <a:srgbClr val="7C9473"/>
            </a:solidFill>
            <a:prstDash val="solid"/>
          </a:ln>
        </p:spPr>
      </p:sp>
      <p:pic>
        <p:nvPicPr>
          <p:cNvPr id="42" name="Image 6" descr="preencoded.pn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962863" y="4730191"/>
            <a:ext cx="396850" cy="396850"/>
          </a:xfrm>
          <a:prstGeom prst="rect">
            <a:avLst/>
          </a:prstGeom>
        </p:spPr>
      </p:pic>
      <p:sp>
        <p:nvSpPr>
          <p:cNvPr id="43" name="Text 34"/>
          <p:cNvSpPr txBox="1"/>
          <p:nvPr/>
        </p:nvSpPr>
        <p:spPr>
          <a:xfrm>
            <a:off x="1627632" y="4590288"/>
            <a:ext cx="96926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450" b="1" dirty="0">
                <a:solidFill>
                  <a:srgbClr val="C9A66B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Kode adalah alat, bukan tujuan</a:t>
            </a:r>
            <a:endParaRPr lang="en-US" sz="1450" dirty="0"/>
          </a:p>
        </p:txBody>
      </p:sp>
      <p:sp>
        <p:nvSpPr>
          <p:cNvPr id="44" name="Text 35"/>
          <p:cNvSpPr txBox="1"/>
          <p:nvPr/>
        </p:nvSpPr>
        <p:spPr>
          <a:xfrm>
            <a:off x="1627632" y="4937760"/>
            <a:ext cx="969264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20000"/>
              </a:lnSpc>
              <a:buNone/>
            </a:pPr>
            <a:r>
              <a:rPr lang="en-US" sz="1200" dirty="0">
                <a:solidFill>
                  <a:srgbClr val="B7C9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Python, Pandas, dan NumPy dipakai untuk menjalankan alur di atas. Tujuannya selalu menjawab pertanyaan bisnis — bukan sekadar menulis kode yang jalan.</a:t>
            </a:r>
            <a:endParaRPr lang="en-US" sz="1200" dirty="0"/>
          </a:p>
        </p:txBody>
      </p:sp>
      <p:sp>
        <p:nvSpPr>
          <p:cNvPr id="45" name="Text 36"/>
          <p:cNvSpPr txBox="1"/>
          <p:nvPr/>
        </p:nvSpPr>
        <p:spPr>
          <a:xfrm>
            <a:off x="566928" y="6400800"/>
            <a:ext cx="5486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50" dirty="0">
                <a:solidFill>
                  <a:srgbClr val="6F826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Data Analyst UNSIKA  ·  Pertemuan 1</a:t>
            </a:r>
            <a:endParaRPr lang="en-US" sz="850" dirty="0"/>
          </a:p>
        </p:txBody>
      </p:sp>
      <p:sp>
        <p:nvSpPr>
          <p:cNvPr id="46" name="Text 37"/>
          <p:cNvSpPr txBox="1"/>
          <p:nvPr/>
        </p:nvSpPr>
        <p:spPr>
          <a:xfrm>
            <a:off x="10710367" y="6400800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850" b="1" dirty="0">
                <a:solidFill>
                  <a:srgbClr val="C9A6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</a:t>
            </a:r>
            <a:endParaRPr lang="en-US" sz="85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1A231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66928" y="384048"/>
            <a:ext cx="11057839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950" b="1" kern="0" spc="200" dirty="0">
                <a:solidFill>
                  <a:srgbClr val="7C94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TEORI 3 DARI 11</a:t>
            </a:r>
            <a:endParaRPr lang="en-US" sz="950" dirty="0"/>
          </a:p>
        </p:txBody>
      </p:sp>
      <p:sp>
        <p:nvSpPr>
          <p:cNvPr id="3" name="Text 1"/>
          <p:cNvSpPr txBox="1"/>
          <p:nvPr/>
        </p:nvSpPr>
        <p:spPr>
          <a:xfrm>
            <a:off x="566928" y="640080"/>
            <a:ext cx="11057839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2900" b="1" dirty="0">
                <a:solidFill>
                  <a:srgbClr val="F6F3E7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Apa itu Google Colab?</a:t>
            </a:r>
            <a:endParaRPr lang="en-US" sz="2900" dirty="0"/>
          </a:p>
        </p:txBody>
      </p:sp>
      <p:sp>
        <p:nvSpPr>
          <p:cNvPr id="4" name="Text 2"/>
          <p:cNvSpPr txBox="1"/>
          <p:nvPr/>
        </p:nvSpPr>
        <p:spPr>
          <a:xfrm>
            <a:off x="566928" y="1426464"/>
            <a:ext cx="54864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25000"/>
              </a:lnSpc>
              <a:buNone/>
            </a:pPr>
            <a:r>
              <a:rPr lang="en-US" sz="1450" dirty="0">
                <a:solidFill>
                  <a:srgbClr val="F6F3E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Tempat menulis dan menjalankan kode Python langsung dari browser — gratis, tanpa instalasi apa pun di laptop.</a:t>
            </a:r>
            <a:endParaRPr lang="en-US" sz="1450" dirty="0"/>
          </a:p>
        </p:txBody>
      </p:sp>
      <p:sp>
        <p:nvSpPr>
          <p:cNvPr id="5" name="Shape 3"/>
          <p:cNvSpPr/>
          <p:nvPr/>
        </p:nvSpPr>
        <p:spPr>
          <a:xfrm>
            <a:off x="566928" y="2514600"/>
            <a:ext cx="91440" cy="91440"/>
          </a:xfrm>
          <a:prstGeom prst="ellipse">
            <a:avLst/>
          </a:prstGeom>
          <a:solidFill>
            <a:srgbClr val="C9A66B"/>
          </a:solidFill>
          <a:ln w="12700">
            <a:solidFill>
              <a:srgbClr val="C9A66B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795528" y="2432304"/>
            <a:ext cx="5257800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15000"/>
              </a:lnSpc>
              <a:buNone/>
            </a:pPr>
            <a:r>
              <a:rPr lang="en-US" sz="1250" dirty="0">
                <a:solidFill>
                  <a:srgbClr val="B7C9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Seperti Google Docs, tapi isinya kode — bisa dibuka dari laptop mana saja asal ada akun Google.</a:t>
            </a:r>
            <a:endParaRPr lang="en-US" sz="1250" dirty="0"/>
          </a:p>
        </p:txBody>
      </p:sp>
      <p:sp>
        <p:nvSpPr>
          <p:cNvPr id="7" name="Shape 5"/>
          <p:cNvSpPr/>
          <p:nvPr/>
        </p:nvSpPr>
        <p:spPr>
          <a:xfrm>
            <a:off x="566928" y="3300984"/>
            <a:ext cx="91440" cy="91440"/>
          </a:xfrm>
          <a:prstGeom prst="ellipse">
            <a:avLst/>
          </a:prstGeom>
          <a:solidFill>
            <a:srgbClr val="C9A66B"/>
          </a:solidFill>
          <a:ln w="12700">
            <a:solidFill>
              <a:srgbClr val="C9A66B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795528" y="3218688"/>
            <a:ext cx="5257800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15000"/>
              </a:lnSpc>
              <a:buNone/>
            </a:pPr>
            <a:r>
              <a:rPr lang="en-US" sz="1250" dirty="0">
                <a:solidFill>
                  <a:srgbClr val="B7C9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Semua kode berjalan di server Google, hasilnya dikirim balik ke browser kita.</a:t>
            </a:r>
            <a:endParaRPr lang="en-US" sz="1250" dirty="0"/>
          </a:p>
        </p:txBody>
      </p:sp>
      <p:sp>
        <p:nvSpPr>
          <p:cNvPr id="9" name="Shape 7"/>
          <p:cNvSpPr/>
          <p:nvPr/>
        </p:nvSpPr>
        <p:spPr>
          <a:xfrm>
            <a:off x="566928" y="4087368"/>
            <a:ext cx="91440" cy="91440"/>
          </a:xfrm>
          <a:prstGeom prst="ellipse">
            <a:avLst/>
          </a:prstGeom>
          <a:solidFill>
            <a:srgbClr val="C9A66B"/>
          </a:solidFill>
          <a:ln w="12700">
            <a:solidFill>
              <a:srgbClr val="C9A66B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795528" y="4005072"/>
            <a:ext cx="5257800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15000"/>
              </a:lnSpc>
              <a:buNone/>
            </a:pPr>
            <a:r>
              <a:rPr lang="en-US" sz="1250" dirty="0">
                <a:solidFill>
                  <a:srgbClr val="B7C9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Kerjaan tersimpan otomatis ke Google Drive.</a:t>
            </a:r>
            <a:endParaRPr lang="en-US" sz="1250" dirty="0"/>
          </a:p>
        </p:txBody>
      </p:sp>
      <p:sp>
        <p:nvSpPr>
          <p:cNvPr id="11" name="Shape 9"/>
          <p:cNvSpPr/>
          <p:nvPr/>
        </p:nvSpPr>
        <p:spPr>
          <a:xfrm>
            <a:off x="566928" y="4873752"/>
            <a:ext cx="91440" cy="91440"/>
          </a:xfrm>
          <a:prstGeom prst="ellipse">
            <a:avLst/>
          </a:prstGeom>
          <a:solidFill>
            <a:srgbClr val="C9A66B"/>
          </a:solidFill>
          <a:ln w="12700">
            <a:solidFill>
              <a:srgbClr val="C9A66B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795528" y="4791456"/>
            <a:ext cx="5257800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15000"/>
              </a:lnSpc>
              <a:buNone/>
            </a:pPr>
            <a:r>
              <a:rPr lang="en-US" sz="1250" dirty="0">
                <a:solidFill>
                  <a:srgbClr val="B7C9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Dipakai dari Pertemuan 1 sampai 5 supaya tidak ada yang tertinggal karena masalah instalasi.</a:t>
            </a:r>
            <a:endParaRPr lang="en-US" sz="1250" dirty="0"/>
          </a:p>
        </p:txBody>
      </p:sp>
      <p:sp>
        <p:nvSpPr>
          <p:cNvPr id="13" name="Shape 11"/>
          <p:cNvSpPr/>
          <p:nvPr/>
        </p:nvSpPr>
        <p:spPr>
          <a:xfrm>
            <a:off x="6355080" y="1444752"/>
            <a:ext cx="5257800" cy="4160520"/>
          </a:xfrm>
          <a:prstGeom prst="roundRect">
            <a:avLst>
              <a:gd name="adj" fmla="val 1978"/>
            </a:avLst>
          </a:prstGeom>
          <a:solidFill>
            <a:srgbClr val="22301C"/>
          </a:solidFill>
          <a:ln w="12700">
            <a:solidFill>
              <a:srgbClr val="3A4C30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6355080" y="1444752"/>
            <a:ext cx="5257800" cy="420624"/>
          </a:xfrm>
          <a:prstGeom prst="roundRect">
            <a:avLst>
              <a:gd name="adj" fmla="val 19565"/>
            </a:avLst>
          </a:prstGeom>
          <a:solidFill>
            <a:srgbClr val="2A3823"/>
          </a:solidFill>
          <a:ln w="12700">
            <a:solidFill>
              <a:srgbClr val="3A4C30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6556248" y="1591056"/>
            <a:ext cx="128016" cy="128016"/>
          </a:xfrm>
          <a:prstGeom prst="ellipse">
            <a:avLst/>
          </a:prstGeom>
          <a:solidFill>
            <a:srgbClr val="E0A07A"/>
          </a:solidFill>
          <a:ln w="12700">
            <a:solidFill>
              <a:srgbClr val="E0A07A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6775704" y="1591056"/>
            <a:ext cx="128016" cy="128016"/>
          </a:xfrm>
          <a:prstGeom prst="ellipse">
            <a:avLst/>
          </a:prstGeom>
          <a:solidFill>
            <a:srgbClr val="C9A66B"/>
          </a:solidFill>
          <a:ln w="12700">
            <a:solidFill>
              <a:srgbClr val="C9A66B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6995160" y="1591056"/>
            <a:ext cx="128016" cy="128016"/>
          </a:xfrm>
          <a:prstGeom prst="ellipse">
            <a:avLst/>
          </a:prstGeom>
          <a:solidFill>
            <a:srgbClr val="7C9473"/>
          </a:solidFill>
          <a:ln w="12700">
            <a:solidFill>
              <a:srgbClr val="7C9473"/>
            </a:solidFill>
            <a:prstDash val="solid"/>
          </a:ln>
        </p:spPr>
      </p:sp>
      <p:sp>
        <p:nvSpPr>
          <p:cNvPr id="18" name="Text 16"/>
          <p:cNvSpPr txBox="1"/>
          <p:nvPr/>
        </p:nvSpPr>
        <p:spPr>
          <a:xfrm>
            <a:off x="7360920" y="1563624"/>
            <a:ext cx="38404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950" dirty="0">
                <a:solidFill>
                  <a:srgbClr val="B7C9A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colab.research.google.com</a:t>
            </a:r>
            <a:endParaRPr lang="en-US" sz="950" dirty="0"/>
          </a:p>
        </p:txBody>
      </p:sp>
      <p:sp>
        <p:nvSpPr>
          <p:cNvPr id="19" name="Shape 17"/>
          <p:cNvSpPr/>
          <p:nvPr/>
        </p:nvSpPr>
        <p:spPr>
          <a:xfrm>
            <a:off x="6611112" y="2157984"/>
            <a:ext cx="4745736" cy="841248"/>
          </a:xfrm>
          <a:prstGeom prst="roundRect">
            <a:avLst>
              <a:gd name="adj" fmla="val 5435"/>
            </a:avLst>
          </a:prstGeom>
          <a:solidFill>
            <a:srgbClr val="0F160F"/>
          </a:solidFill>
          <a:ln w="12700">
            <a:solidFill>
              <a:srgbClr val="3A4C30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6739128" y="2414016"/>
            <a:ext cx="310896" cy="310896"/>
          </a:xfrm>
          <a:prstGeom prst="ellipse">
            <a:avLst/>
          </a:prstGeom>
          <a:solidFill>
            <a:srgbClr val="7C9473"/>
          </a:solidFill>
          <a:ln w="12700">
            <a:solidFill>
              <a:srgbClr val="7C9473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 rot="5400000">
            <a:off x="6816852" y="2491740"/>
            <a:ext cx="155448" cy="146304"/>
          </a:xfrm>
          <a:prstGeom prst="triangle">
            <a:avLst/>
          </a:prstGeom>
          <a:solidFill>
            <a:srgbClr val="1A231A"/>
          </a:solidFill>
          <a:ln w="12700">
            <a:solidFill>
              <a:srgbClr val="1A231A"/>
            </a:solidFill>
            <a:prstDash val="solid"/>
          </a:ln>
        </p:spPr>
      </p:sp>
      <p:sp>
        <p:nvSpPr>
          <p:cNvPr id="22" name="Text 20"/>
          <p:cNvSpPr txBox="1"/>
          <p:nvPr/>
        </p:nvSpPr>
        <p:spPr>
          <a:xfrm>
            <a:off x="7196328" y="2468880"/>
            <a:ext cx="40690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150" dirty="0">
                <a:solidFill>
                  <a:srgbClr val="DCEFD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print("Halo, Data Analyst!")</a:t>
            </a:r>
            <a:endParaRPr lang="en-US" sz="1150" dirty="0"/>
          </a:p>
        </p:txBody>
      </p:sp>
      <p:sp>
        <p:nvSpPr>
          <p:cNvPr id="23" name="Text 21"/>
          <p:cNvSpPr txBox="1"/>
          <p:nvPr/>
        </p:nvSpPr>
        <p:spPr>
          <a:xfrm>
            <a:off x="7196328" y="3136392"/>
            <a:ext cx="40690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150" dirty="0">
                <a:solidFill>
                  <a:srgbClr val="F6F3E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Halo, Data Analyst!</a:t>
            </a:r>
            <a:endParaRPr lang="en-US" sz="1150" dirty="0"/>
          </a:p>
        </p:txBody>
      </p:sp>
      <p:sp>
        <p:nvSpPr>
          <p:cNvPr id="24" name="Text 22"/>
          <p:cNvSpPr txBox="1"/>
          <p:nvPr/>
        </p:nvSpPr>
        <p:spPr>
          <a:xfrm>
            <a:off x="7196328" y="3419856"/>
            <a:ext cx="40690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950" i="1" dirty="0">
                <a:solidFill>
                  <a:srgbClr val="7C94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hasil tampil tepat di bawah cell</a:t>
            </a:r>
            <a:endParaRPr lang="en-US" sz="950" dirty="0"/>
          </a:p>
        </p:txBody>
      </p:sp>
      <p:sp>
        <p:nvSpPr>
          <p:cNvPr id="25" name="Shape 23"/>
          <p:cNvSpPr/>
          <p:nvPr/>
        </p:nvSpPr>
        <p:spPr>
          <a:xfrm>
            <a:off x="6611112" y="3877056"/>
            <a:ext cx="4745736" cy="749808"/>
          </a:xfrm>
          <a:prstGeom prst="roundRect">
            <a:avLst>
              <a:gd name="adj" fmla="val 6098"/>
            </a:avLst>
          </a:prstGeom>
          <a:solidFill>
            <a:srgbClr val="1E2A19"/>
          </a:solidFill>
          <a:ln w="12700">
            <a:solidFill>
              <a:srgbClr val="3A4C30"/>
            </a:solidFill>
            <a:prstDash val="solid"/>
          </a:ln>
        </p:spPr>
      </p:sp>
      <p:sp>
        <p:nvSpPr>
          <p:cNvPr id="26" name="Text 24"/>
          <p:cNvSpPr txBox="1"/>
          <p:nvPr/>
        </p:nvSpPr>
        <p:spPr>
          <a:xfrm>
            <a:off x="6812280" y="4005072"/>
            <a:ext cx="43434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100" dirty="0">
                <a:solidFill>
                  <a:srgbClr val="B7C9A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## Catatan saya</a:t>
            </a:r>
            <a:endParaRPr lang="en-US" sz="1100" dirty="0"/>
          </a:p>
        </p:txBody>
      </p:sp>
      <p:sp>
        <p:nvSpPr>
          <p:cNvPr id="27" name="Text 25"/>
          <p:cNvSpPr txBox="1"/>
          <p:nvPr/>
        </p:nvSpPr>
        <p:spPr>
          <a:xfrm>
            <a:off x="6812280" y="4279392"/>
            <a:ext cx="43434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950" i="1" dirty="0">
                <a:solidFill>
                  <a:srgbClr val="7C94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text cell — untuk catatan, tidak dijalankan</a:t>
            </a:r>
            <a:endParaRPr lang="en-US" sz="950" dirty="0"/>
          </a:p>
        </p:txBody>
      </p:sp>
      <p:sp>
        <p:nvSpPr>
          <p:cNvPr id="28" name="Text 26"/>
          <p:cNvSpPr txBox="1"/>
          <p:nvPr/>
        </p:nvSpPr>
        <p:spPr>
          <a:xfrm>
            <a:off x="6611112" y="4846320"/>
            <a:ext cx="4745736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15000"/>
              </a:lnSpc>
              <a:buNone/>
            </a:pPr>
            <a:r>
              <a:rPr lang="en-US" sz="1100" dirty="0">
                <a:solidFill>
                  <a:srgbClr val="B7C9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Notebook tersusun dari cell — kotak kecil berisi kode atau teks.</a:t>
            </a:r>
            <a:endParaRPr lang="en-US" sz="1100" dirty="0"/>
          </a:p>
        </p:txBody>
      </p:sp>
      <p:sp>
        <p:nvSpPr>
          <p:cNvPr id="29" name="Text 27"/>
          <p:cNvSpPr txBox="1"/>
          <p:nvPr/>
        </p:nvSpPr>
        <p:spPr>
          <a:xfrm>
            <a:off x="566928" y="6400800"/>
            <a:ext cx="5486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50" dirty="0">
                <a:solidFill>
                  <a:srgbClr val="6F826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Data Analyst UNSIKA  ·  Pertemuan 1</a:t>
            </a:r>
            <a:endParaRPr lang="en-US" sz="850" dirty="0"/>
          </a:p>
        </p:txBody>
      </p:sp>
      <p:sp>
        <p:nvSpPr>
          <p:cNvPr id="30" name="Text 28"/>
          <p:cNvSpPr txBox="1"/>
          <p:nvPr/>
        </p:nvSpPr>
        <p:spPr>
          <a:xfrm>
            <a:off x="10710367" y="6400800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850" b="1" dirty="0">
                <a:solidFill>
                  <a:srgbClr val="C9A6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</a:t>
            </a:r>
            <a:endParaRPr lang="en-US" sz="85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1A231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66928" y="384048"/>
            <a:ext cx="11057839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950" b="1" kern="0" spc="200" dirty="0">
                <a:solidFill>
                  <a:srgbClr val="7C94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TEORI 4 DARI 11</a:t>
            </a:r>
            <a:endParaRPr lang="en-US" sz="950" dirty="0"/>
          </a:p>
        </p:txBody>
      </p:sp>
      <p:sp>
        <p:nvSpPr>
          <p:cNvPr id="3" name="Text 1"/>
          <p:cNvSpPr txBox="1"/>
          <p:nvPr/>
        </p:nvSpPr>
        <p:spPr>
          <a:xfrm>
            <a:off x="566928" y="640080"/>
            <a:ext cx="11057839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2900" b="1" dirty="0">
                <a:solidFill>
                  <a:srgbClr val="F6F3E7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Cell: Blok Kode di Colab</a:t>
            </a:r>
            <a:endParaRPr lang="en-US" sz="2900" dirty="0"/>
          </a:p>
        </p:txBody>
      </p:sp>
      <p:sp>
        <p:nvSpPr>
          <p:cNvPr id="4" name="Shape 2"/>
          <p:cNvSpPr/>
          <p:nvPr/>
        </p:nvSpPr>
        <p:spPr>
          <a:xfrm>
            <a:off x="566928" y="1481328"/>
            <a:ext cx="4846320" cy="1700784"/>
          </a:xfrm>
          <a:prstGeom prst="roundRect">
            <a:avLst>
              <a:gd name="adj" fmla="val 4839"/>
            </a:avLst>
          </a:prstGeom>
          <a:solidFill>
            <a:srgbClr val="22301C"/>
          </a:solidFill>
          <a:ln w="12700">
            <a:solidFill>
              <a:srgbClr val="3A4C30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841248" y="1773936"/>
            <a:ext cx="548640" cy="548640"/>
          </a:xfrm>
          <a:prstGeom prst="ellipse">
            <a:avLst/>
          </a:prstGeom>
          <a:solidFill>
            <a:srgbClr val="2A3823"/>
          </a:solidFill>
          <a:ln w="12700">
            <a:solidFill>
              <a:srgbClr val="7C9473"/>
            </a:solidFill>
            <a:prstDash val="solid"/>
          </a:ln>
        </p:spPr>
      </p:sp>
      <p:pic>
        <p:nvPicPr>
          <p:cNvPr id="6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23544" y="1856232"/>
            <a:ext cx="384048" cy="384048"/>
          </a:xfrm>
          <a:prstGeom prst="rect">
            <a:avLst/>
          </a:prstGeom>
        </p:spPr>
      </p:pic>
      <p:sp>
        <p:nvSpPr>
          <p:cNvPr id="7" name="Text 4"/>
          <p:cNvSpPr txBox="1"/>
          <p:nvPr/>
        </p:nvSpPr>
        <p:spPr>
          <a:xfrm>
            <a:off x="1536192" y="1792224"/>
            <a:ext cx="35661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500" b="1" dirty="0">
                <a:solidFill>
                  <a:srgbClr val="F6F3E7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Code cell</a:t>
            </a:r>
            <a:endParaRPr lang="en-US" sz="1500" dirty="0"/>
          </a:p>
        </p:txBody>
      </p:sp>
      <p:sp>
        <p:nvSpPr>
          <p:cNvPr id="8" name="Text 5"/>
          <p:cNvSpPr txBox="1"/>
          <p:nvPr/>
        </p:nvSpPr>
        <p:spPr>
          <a:xfrm>
            <a:off x="841248" y="2414016"/>
            <a:ext cx="429768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20000"/>
              </a:lnSpc>
              <a:buNone/>
            </a:pPr>
            <a:r>
              <a:rPr lang="en-US" sz="1150" dirty="0">
                <a:solidFill>
                  <a:srgbClr val="B7C9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Tempat menulis kode Python. Dijalankan dengan tombol Run di kiri cell, atau Shift + Enter.</a:t>
            </a:r>
            <a:endParaRPr lang="en-US" sz="1150" dirty="0"/>
          </a:p>
        </p:txBody>
      </p:sp>
      <p:sp>
        <p:nvSpPr>
          <p:cNvPr id="9" name="Shape 6"/>
          <p:cNvSpPr/>
          <p:nvPr/>
        </p:nvSpPr>
        <p:spPr>
          <a:xfrm>
            <a:off x="566928" y="3383280"/>
            <a:ext cx="4846320" cy="1700784"/>
          </a:xfrm>
          <a:prstGeom prst="roundRect">
            <a:avLst>
              <a:gd name="adj" fmla="val 4839"/>
            </a:avLst>
          </a:prstGeom>
          <a:solidFill>
            <a:srgbClr val="22301C"/>
          </a:solidFill>
          <a:ln w="12700">
            <a:solidFill>
              <a:srgbClr val="3A4C30"/>
            </a:solidFill>
            <a:prstDash val="solid"/>
          </a:ln>
        </p:spPr>
      </p:sp>
      <p:sp>
        <p:nvSpPr>
          <p:cNvPr id="10" name="Shape 7"/>
          <p:cNvSpPr/>
          <p:nvPr/>
        </p:nvSpPr>
        <p:spPr>
          <a:xfrm>
            <a:off x="841248" y="3675888"/>
            <a:ext cx="548640" cy="548640"/>
          </a:xfrm>
          <a:prstGeom prst="ellipse">
            <a:avLst/>
          </a:prstGeom>
          <a:solidFill>
            <a:srgbClr val="2A3823"/>
          </a:solidFill>
          <a:ln w="12700">
            <a:solidFill>
              <a:srgbClr val="7C9473"/>
            </a:solidFill>
            <a:prstDash val="solid"/>
          </a:ln>
        </p:spPr>
      </p:sp>
      <p:pic>
        <p:nvPicPr>
          <p:cNvPr id="11" name="Image 1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23544" y="3758184"/>
            <a:ext cx="384048" cy="384048"/>
          </a:xfrm>
          <a:prstGeom prst="rect">
            <a:avLst/>
          </a:prstGeom>
        </p:spPr>
      </p:pic>
      <p:sp>
        <p:nvSpPr>
          <p:cNvPr id="12" name="Text 8"/>
          <p:cNvSpPr txBox="1"/>
          <p:nvPr/>
        </p:nvSpPr>
        <p:spPr>
          <a:xfrm>
            <a:off x="1536192" y="3694176"/>
            <a:ext cx="35661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500" b="1" dirty="0">
                <a:solidFill>
                  <a:srgbClr val="F6F3E7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Text cell</a:t>
            </a:r>
            <a:endParaRPr lang="en-US" sz="1500" dirty="0"/>
          </a:p>
        </p:txBody>
      </p:sp>
      <p:sp>
        <p:nvSpPr>
          <p:cNvPr id="13" name="Text 9"/>
          <p:cNvSpPr txBox="1"/>
          <p:nvPr/>
        </p:nvSpPr>
        <p:spPr>
          <a:xfrm>
            <a:off x="841248" y="4315968"/>
            <a:ext cx="429768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20000"/>
              </a:lnSpc>
              <a:buNone/>
            </a:pPr>
            <a:r>
              <a:rPr lang="en-US" sz="1150" dirty="0">
                <a:solidFill>
                  <a:srgbClr val="B7C9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Tempat menulis catatan dalam format Markdown. Tidak dieksekusi sebagai kode.</a:t>
            </a:r>
            <a:endParaRPr lang="en-US" sz="1150" dirty="0"/>
          </a:p>
        </p:txBody>
      </p:sp>
      <p:sp>
        <p:nvSpPr>
          <p:cNvPr id="14" name="Text 10"/>
          <p:cNvSpPr txBox="1"/>
          <p:nvPr/>
        </p:nvSpPr>
        <p:spPr>
          <a:xfrm>
            <a:off x="566928" y="5321808"/>
            <a:ext cx="48463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20000"/>
              </a:lnSpc>
              <a:buNone/>
            </a:pPr>
            <a:r>
              <a:rPr lang="en-US" sz="1150" i="1" dirty="0">
                <a:solidFill>
                  <a:srgbClr val="7C94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Cell dijalankan satu per satu, urutannya bebas — tapi hasil cell sebelumnya tetap “diingat” notebook selama runtime masih hidup.</a:t>
            </a:r>
            <a:endParaRPr lang="en-US" sz="1150" dirty="0"/>
          </a:p>
        </p:txBody>
      </p:sp>
      <p:sp>
        <p:nvSpPr>
          <p:cNvPr id="15" name="Shape 11"/>
          <p:cNvSpPr/>
          <p:nvPr/>
        </p:nvSpPr>
        <p:spPr>
          <a:xfrm>
            <a:off x="5852160" y="1481328"/>
            <a:ext cx="5760720" cy="1143000"/>
          </a:xfrm>
          <a:prstGeom prst="roundRect">
            <a:avLst>
              <a:gd name="adj" fmla="val 4800"/>
            </a:avLst>
          </a:prstGeom>
          <a:solidFill>
            <a:srgbClr val="0F160F"/>
          </a:solidFill>
          <a:ln w="12700">
            <a:solidFill>
              <a:srgbClr val="3A4C30"/>
            </a:solidFill>
            <a:prstDash val="solid"/>
          </a:ln>
        </p:spPr>
      </p:sp>
      <p:sp>
        <p:nvSpPr>
          <p:cNvPr id="16" name="Text 12"/>
          <p:cNvSpPr txBox="1"/>
          <p:nvPr/>
        </p:nvSpPr>
        <p:spPr>
          <a:xfrm>
            <a:off x="6053328" y="1627632"/>
            <a:ext cx="5358384" cy="8503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25000"/>
              </a:lnSpc>
              <a:buNone/>
            </a:pPr>
            <a:r>
              <a:rPr lang="en-US" sz="1300" dirty="0">
                <a:solidFill>
                  <a:srgbClr val="7F947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# Ini komentar, tidak dieksekusi
</a:t>
            </a:r>
            <a:r>
              <a:rPr lang="en-US" sz="1300" dirty="0">
                <a:solidFill>
                  <a:srgbClr val="DCEFD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print("Halo, Data Analyst!")</a:t>
            </a:r>
            <a:endParaRPr lang="en-US" sz="1300" dirty="0"/>
          </a:p>
        </p:txBody>
      </p:sp>
      <p:sp>
        <p:nvSpPr>
          <p:cNvPr id="17" name="Shape 13"/>
          <p:cNvSpPr/>
          <p:nvPr/>
        </p:nvSpPr>
        <p:spPr>
          <a:xfrm>
            <a:off x="5852160" y="2788920"/>
            <a:ext cx="5760720" cy="914400"/>
          </a:xfrm>
          <a:prstGeom prst="roundRect">
            <a:avLst>
              <a:gd name="adj" fmla="val 6000"/>
            </a:avLst>
          </a:prstGeom>
          <a:solidFill>
            <a:srgbClr val="162014"/>
          </a:solidFill>
          <a:ln w="12700">
            <a:solidFill>
              <a:srgbClr val="7C9473"/>
            </a:solidFill>
            <a:prstDash val="solid"/>
          </a:ln>
        </p:spPr>
      </p:sp>
      <p:sp>
        <p:nvSpPr>
          <p:cNvPr id="18" name="Text 14"/>
          <p:cNvSpPr txBox="1"/>
          <p:nvPr/>
        </p:nvSpPr>
        <p:spPr>
          <a:xfrm>
            <a:off x="6053328" y="2907792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00" b="1" kern="0" spc="140" dirty="0">
                <a:solidFill>
                  <a:srgbClr val="7C94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OUTPUT</a:t>
            </a:r>
            <a:endParaRPr lang="en-US" sz="800" dirty="0"/>
          </a:p>
        </p:txBody>
      </p:sp>
      <p:sp>
        <p:nvSpPr>
          <p:cNvPr id="19" name="Text 15"/>
          <p:cNvSpPr txBox="1"/>
          <p:nvPr/>
        </p:nvSpPr>
        <p:spPr>
          <a:xfrm>
            <a:off x="6053328" y="3136392"/>
            <a:ext cx="5358384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20000"/>
              </a:lnSpc>
              <a:buNone/>
            </a:pPr>
            <a:r>
              <a:rPr lang="en-US" sz="1300" dirty="0">
                <a:solidFill>
                  <a:srgbClr val="F6F3E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Halo, Data Analyst!</a:t>
            </a:r>
            <a:endParaRPr lang="en-US" sz="1300" dirty="0"/>
          </a:p>
        </p:txBody>
      </p:sp>
      <p:sp>
        <p:nvSpPr>
          <p:cNvPr id="20" name="Shape 16"/>
          <p:cNvSpPr/>
          <p:nvPr/>
        </p:nvSpPr>
        <p:spPr>
          <a:xfrm>
            <a:off x="5852160" y="3913632"/>
            <a:ext cx="5760720" cy="2194560"/>
          </a:xfrm>
          <a:prstGeom prst="roundRect">
            <a:avLst>
              <a:gd name="adj" fmla="val 3750"/>
            </a:avLst>
          </a:prstGeom>
          <a:solidFill>
            <a:srgbClr val="2A3823"/>
          </a:solidFill>
          <a:ln w="12700">
            <a:solidFill>
              <a:srgbClr val="3A4C30"/>
            </a:solidFill>
            <a:prstDash val="solid"/>
          </a:ln>
        </p:spPr>
      </p:sp>
      <p:sp>
        <p:nvSpPr>
          <p:cNvPr id="21" name="Text 17"/>
          <p:cNvSpPr txBox="1"/>
          <p:nvPr/>
        </p:nvSpPr>
        <p:spPr>
          <a:xfrm>
            <a:off x="6108192" y="4114800"/>
            <a:ext cx="524865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350" b="1" dirty="0">
                <a:solidFill>
                  <a:srgbClr val="C9A66B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Dua hal yang perlu dikenali</a:t>
            </a:r>
            <a:endParaRPr lang="en-US" sz="1350" dirty="0"/>
          </a:p>
        </p:txBody>
      </p:sp>
      <p:sp>
        <p:nvSpPr>
          <p:cNvPr id="22" name="Shape 18"/>
          <p:cNvSpPr/>
          <p:nvPr/>
        </p:nvSpPr>
        <p:spPr>
          <a:xfrm>
            <a:off x="6108192" y="4599432"/>
            <a:ext cx="91440" cy="91440"/>
          </a:xfrm>
          <a:prstGeom prst="ellipse">
            <a:avLst/>
          </a:prstGeom>
          <a:solidFill>
            <a:srgbClr val="C9A66B"/>
          </a:solidFill>
          <a:ln w="12700">
            <a:solidFill>
              <a:srgbClr val="C9A66B"/>
            </a:solidFill>
            <a:prstDash val="solid"/>
          </a:ln>
        </p:spPr>
      </p:sp>
      <p:sp>
        <p:nvSpPr>
          <p:cNvPr id="23" name="Text 19"/>
          <p:cNvSpPr txBox="1"/>
          <p:nvPr/>
        </p:nvSpPr>
        <p:spPr>
          <a:xfrm>
            <a:off x="6336792" y="4517136"/>
            <a:ext cx="5020056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B7C9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# di awal baris membuat baris itu jadi komentar — catatan untuk manusia, diabaikan Python.</a:t>
            </a:r>
            <a:endParaRPr lang="en-US" sz="1200" dirty="0"/>
          </a:p>
        </p:txBody>
      </p:sp>
      <p:sp>
        <p:nvSpPr>
          <p:cNvPr id="24" name="Shape 20"/>
          <p:cNvSpPr/>
          <p:nvPr/>
        </p:nvSpPr>
        <p:spPr>
          <a:xfrm>
            <a:off x="6108192" y="5349240"/>
            <a:ext cx="91440" cy="91440"/>
          </a:xfrm>
          <a:prstGeom prst="ellipse">
            <a:avLst/>
          </a:prstGeom>
          <a:solidFill>
            <a:srgbClr val="C9A66B"/>
          </a:solidFill>
          <a:ln w="12700">
            <a:solidFill>
              <a:srgbClr val="C9A66B"/>
            </a:solidFill>
            <a:prstDash val="solid"/>
          </a:ln>
        </p:spPr>
      </p:sp>
      <p:sp>
        <p:nvSpPr>
          <p:cNvPr id="25" name="Text 21"/>
          <p:cNvSpPr txBox="1"/>
          <p:nvPr/>
        </p:nvSpPr>
        <p:spPr>
          <a:xfrm>
            <a:off x="6336792" y="5266944"/>
            <a:ext cx="5020056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B7C9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print(...) menampilkan teks atau nilai ke layar output, tepat di bawah cell.</a:t>
            </a:r>
            <a:endParaRPr lang="en-US" sz="1200" dirty="0"/>
          </a:p>
        </p:txBody>
      </p:sp>
      <p:sp>
        <p:nvSpPr>
          <p:cNvPr id="26" name="Text 22"/>
          <p:cNvSpPr txBox="1"/>
          <p:nvPr/>
        </p:nvSpPr>
        <p:spPr>
          <a:xfrm>
            <a:off x="566928" y="6400800"/>
            <a:ext cx="5486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50" dirty="0">
                <a:solidFill>
                  <a:srgbClr val="6F826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Data Analyst UNSIKA  ·  Pertemuan 1</a:t>
            </a:r>
            <a:endParaRPr lang="en-US" sz="850" dirty="0"/>
          </a:p>
        </p:txBody>
      </p:sp>
      <p:sp>
        <p:nvSpPr>
          <p:cNvPr id="27" name="Text 23"/>
          <p:cNvSpPr txBox="1"/>
          <p:nvPr/>
        </p:nvSpPr>
        <p:spPr>
          <a:xfrm>
            <a:off x="10710367" y="6400800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850" b="1" dirty="0">
                <a:solidFill>
                  <a:srgbClr val="C9A6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</a:t>
            </a:r>
            <a:endParaRPr lang="en-US" sz="85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1A231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66928" y="384048"/>
            <a:ext cx="11057839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950" b="1" kern="0" spc="200" dirty="0">
                <a:solidFill>
                  <a:srgbClr val="7C94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TEORI 5 DARI 11</a:t>
            </a:r>
            <a:endParaRPr lang="en-US" sz="950" dirty="0"/>
          </a:p>
        </p:txBody>
      </p:sp>
      <p:sp>
        <p:nvSpPr>
          <p:cNvPr id="3" name="Text 1"/>
          <p:cNvSpPr txBox="1"/>
          <p:nvPr/>
        </p:nvSpPr>
        <p:spPr>
          <a:xfrm>
            <a:off x="566928" y="640080"/>
            <a:ext cx="11057839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2900" b="1" dirty="0">
                <a:solidFill>
                  <a:srgbClr val="F6F3E7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Membaca Error Sederhana</a:t>
            </a:r>
            <a:endParaRPr lang="en-US" sz="2900" dirty="0"/>
          </a:p>
        </p:txBody>
      </p:sp>
      <p:sp>
        <p:nvSpPr>
          <p:cNvPr id="4" name="Text 2"/>
          <p:cNvSpPr txBox="1"/>
          <p:nvPr/>
        </p:nvSpPr>
        <p:spPr>
          <a:xfrm>
            <a:off x="566928" y="1335024"/>
            <a:ext cx="11057839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350" dirty="0">
                <a:solidFill>
                  <a:srgbClr val="B7C9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Error itu wajar dan sering terjadi. Bagian penting belajar coding adalah belajar membacanya — bukan menghindarinya.</a:t>
            </a:r>
            <a:endParaRPr lang="en-US" sz="1350" dirty="0"/>
          </a:p>
        </p:txBody>
      </p:sp>
      <p:sp>
        <p:nvSpPr>
          <p:cNvPr id="5" name="Shape 3"/>
          <p:cNvSpPr/>
          <p:nvPr/>
        </p:nvSpPr>
        <p:spPr>
          <a:xfrm>
            <a:off x="566928" y="1828800"/>
            <a:ext cx="3520440" cy="2286000"/>
          </a:xfrm>
          <a:prstGeom prst="roundRect">
            <a:avLst>
              <a:gd name="adj" fmla="val 3600"/>
            </a:avLst>
          </a:prstGeom>
          <a:solidFill>
            <a:srgbClr val="22301C"/>
          </a:solidFill>
          <a:ln w="12700">
            <a:solidFill>
              <a:srgbClr val="3A4C30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859536" y="2121408"/>
            <a:ext cx="566928" cy="566928"/>
          </a:xfrm>
          <a:prstGeom prst="ellipse">
            <a:avLst/>
          </a:prstGeom>
          <a:solidFill>
            <a:srgbClr val="2A3823"/>
          </a:solidFill>
          <a:ln w="12700">
            <a:solidFill>
              <a:srgbClr val="7C9473"/>
            </a:solidFill>
            <a:prstDash val="solid"/>
          </a:ln>
        </p:spPr>
      </p:sp>
      <p:pic>
        <p:nvPicPr>
          <p:cNvPr id="7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44575" y="2206447"/>
            <a:ext cx="396850" cy="396850"/>
          </a:xfrm>
          <a:prstGeom prst="rect">
            <a:avLst/>
          </a:prstGeom>
        </p:spPr>
      </p:pic>
      <p:sp>
        <p:nvSpPr>
          <p:cNvPr id="8" name="Text 5"/>
          <p:cNvSpPr txBox="1"/>
          <p:nvPr/>
        </p:nvSpPr>
        <p:spPr>
          <a:xfrm>
            <a:off x="859536" y="2834640"/>
            <a:ext cx="293522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400" b="1" dirty="0">
                <a:solidFill>
                  <a:srgbClr val="F6F3E7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Error bukan kegagalan</a:t>
            </a:r>
            <a:endParaRPr lang="en-US" sz="1400" dirty="0"/>
          </a:p>
        </p:txBody>
      </p:sp>
      <p:sp>
        <p:nvSpPr>
          <p:cNvPr id="9" name="Text 6"/>
          <p:cNvSpPr txBox="1"/>
          <p:nvPr/>
        </p:nvSpPr>
        <p:spPr>
          <a:xfrm>
            <a:off x="859536" y="3200400"/>
            <a:ext cx="2935224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20000"/>
              </a:lnSpc>
              <a:buNone/>
            </a:pPr>
            <a:r>
              <a:rPr lang="en-US" sz="1150" dirty="0">
                <a:solidFill>
                  <a:srgbClr val="B7C9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Semua programmer kena error setiap hari. Yang membedakan cuma kecepatan membacanya.</a:t>
            </a:r>
            <a:endParaRPr lang="en-US" sz="1150" dirty="0"/>
          </a:p>
        </p:txBody>
      </p:sp>
      <p:sp>
        <p:nvSpPr>
          <p:cNvPr id="10" name="Shape 7"/>
          <p:cNvSpPr/>
          <p:nvPr/>
        </p:nvSpPr>
        <p:spPr>
          <a:xfrm>
            <a:off x="4334256" y="1828800"/>
            <a:ext cx="3520440" cy="2286000"/>
          </a:xfrm>
          <a:prstGeom prst="roundRect">
            <a:avLst>
              <a:gd name="adj" fmla="val 3600"/>
            </a:avLst>
          </a:prstGeom>
          <a:solidFill>
            <a:srgbClr val="22301C"/>
          </a:solidFill>
          <a:ln w="12700">
            <a:solidFill>
              <a:srgbClr val="3A4C30"/>
            </a:solidFill>
            <a:prstDash val="solid"/>
          </a:ln>
        </p:spPr>
      </p:sp>
      <p:sp>
        <p:nvSpPr>
          <p:cNvPr id="11" name="Shape 8"/>
          <p:cNvSpPr/>
          <p:nvPr/>
        </p:nvSpPr>
        <p:spPr>
          <a:xfrm>
            <a:off x="4626864" y="2121408"/>
            <a:ext cx="566928" cy="566928"/>
          </a:xfrm>
          <a:prstGeom prst="ellipse">
            <a:avLst/>
          </a:prstGeom>
          <a:solidFill>
            <a:srgbClr val="2A3823"/>
          </a:solidFill>
          <a:ln w="12700">
            <a:solidFill>
              <a:srgbClr val="7C9473"/>
            </a:solidFill>
            <a:prstDash val="solid"/>
          </a:ln>
        </p:spPr>
      </p:sp>
      <p:pic>
        <p:nvPicPr>
          <p:cNvPr id="12" name="Image 1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711903" y="2206447"/>
            <a:ext cx="396850" cy="396850"/>
          </a:xfrm>
          <a:prstGeom prst="rect">
            <a:avLst/>
          </a:prstGeom>
        </p:spPr>
      </p:pic>
      <p:sp>
        <p:nvSpPr>
          <p:cNvPr id="13" name="Text 9"/>
          <p:cNvSpPr txBox="1"/>
          <p:nvPr/>
        </p:nvSpPr>
        <p:spPr>
          <a:xfrm>
            <a:off x="4626864" y="2834640"/>
            <a:ext cx="293522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400" b="1" dirty="0">
                <a:solidFill>
                  <a:srgbClr val="F6F3E7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Baca jenis error-nya</a:t>
            </a:r>
            <a:endParaRPr lang="en-US" sz="1400" dirty="0"/>
          </a:p>
        </p:txBody>
      </p:sp>
      <p:sp>
        <p:nvSpPr>
          <p:cNvPr id="14" name="Text 10"/>
          <p:cNvSpPr txBox="1"/>
          <p:nvPr/>
        </p:nvSpPr>
        <p:spPr>
          <a:xfrm>
            <a:off x="4626864" y="3200400"/>
            <a:ext cx="2935224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20000"/>
              </a:lnSpc>
              <a:buNone/>
            </a:pPr>
            <a:r>
              <a:rPr lang="en-US" sz="1150" dirty="0">
                <a:solidFill>
                  <a:srgbClr val="B7C9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Pesan error menyebutkan kategori masalah: NameError, SyntaxError, TypeError, dan seterusnya.</a:t>
            </a:r>
            <a:endParaRPr lang="en-US" sz="1150" dirty="0"/>
          </a:p>
        </p:txBody>
      </p:sp>
      <p:sp>
        <p:nvSpPr>
          <p:cNvPr id="15" name="Shape 11"/>
          <p:cNvSpPr/>
          <p:nvPr/>
        </p:nvSpPr>
        <p:spPr>
          <a:xfrm>
            <a:off x="8101584" y="1828800"/>
            <a:ext cx="3520440" cy="2286000"/>
          </a:xfrm>
          <a:prstGeom prst="roundRect">
            <a:avLst>
              <a:gd name="adj" fmla="val 3600"/>
            </a:avLst>
          </a:prstGeom>
          <a:solidFill>
            <a:srgbClr val="22301C"/>
          </a:solidFill>
          <a:ln w="12700">
            <a:solidFill>
              <a:srgbClr val="3A4C30"/>
            </a:solidFill>
            <a:prstDash val="solid"/>
          </a:ln>
        </p:spPr>
      </p:sp>
      <p:sp>
        <p:nvSpPr>
          <p:cNvPr id="16" name="Shape 12"/>
          <p:cNvSpPr/>
          <p:nvPr/>
        </p:nvSpPr>
        <p:spPr>
          <a:xfrm>
            <a:off x="8394192" y="2121408"/>
            <a:ext cx="566928" cy="566928"/>
          </a:xfrm>
          <a:prstGeom prst="ellipse">
            <a:avLst/>
          </a:prstGeom>
          <a:solidFill>
            <a:srgbClr val="2A3823"/>
          </a:solidFill>
          <a:ln w="12700">
            <a:solidFill>
              <a:srgbClr val="7C9473"/>
            </a:solidFill>
            <a:prstDash val="solid"/>
          </a:ln>
        </p:spPr>
      </p:sp>
      <p:pic>
        <p:nvPicPr>
          <p:cNvPr id="17" name="Image 2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479231" y="2206447"/>
            <a:ext cx="396850" cy="396850"/>
          </a:xfrm>
          <a:prstGeom prst="rect">
            <a:avLst/>
          </a:prstGeom>
        </p:spPr>
      </p:pic>
      <p:sp>
        <p:nvSpPr>
          <p:cNvPr id="18" name="Text 13"/>
          <p:cNvSpPr txBox="1"/>
          <p:nvPr/>
        </p:nvSpPr>
        <p:spPr>
          <a:xfrm>
            <a:off x="8394192" y="2834640"/>
            <a:ext cx="293522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400" b="1" dirty="0">
                <a:solidFill>
                  <a:srgbClr val="F6F3E7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Cek nomor barisnya</a:t>
            </a:r>
            <a:endParaRPr lang="en-US" sz="1400" dirty="0"/>
          </a:p>
        </p:txBody>
      </p:sp>
      <p:sp>
        <p:nvSpPr>
          <p:cNvPr id="19" name="Text 14"/>
          <p:cNvSpPr txBox="1"/>
          <p:nvPr/>
        </p:nvSpPr>
        <p:spPr>
          <a:xfrm>
            <a:off x="8394192" y="3200400"/>
            <a:ext cx="2935224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20000"/>
              </a:lnSpc>
              <a:buNone/>
            </a:pPr>
            <a:r>
              <a:rPr lang="en-US" sz="1150" dirty="0">
                <a:solidFill>
                  <a:srgbClr val="B7C9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Colab menunjukkan baris keberapa yang bermasalah. Lihat ke sana dulu sebelum bertanya.</a:t>
            </a:r>
            <a:endParaRPr lang="en-US" sz="1150" dirty="0"/>
          </a:p>
        </p:txBody>
      </p:sp>
      <p:sp>
        <p:nvSpPr>
          <p:cNvPr id="20" name="Shape 15"/>
          <p:cNvSpPr/>
          <p:nvPr/>
        </p:nvSpPr>
        <p:spPr>
          <a:xfrm>
            <a:off x="566928" y="4407408"/>
            <a:ext cx="11057839" cy="1371600"/>
          </a:xfrm>
          <a:prstGeom prst="roundRect">
            <a:avLst>
              <a:gd name="adj" fmla="val 6000"/>
            </a:avLst>
          </a:prstGeom>
          <a:solidFill>
            <a:srgbClr val="2A3823"/>
          </a:solidFill>
          <a:ln w="12700">
            <a:solidFill>
              <a:srgbClr val="3A4C30"/>
            </a:solidFill>
            <a:prstDash val="solid"/>
          </a:ln>
        </p:spPr>
      </p:sp>
      <p:sp>
        <p:nvSpPr>
          <p:cNvPr id="21" name="Text 16"/>
          <p:cNvSpPr txBox="1"/>
          <p:nvPr/>
        </p:nvSpPr>
        <p:spPr>
          <a:xfrm>
            <a:off x="877824" y="4608576"/>
            <a:ext cx="10424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400" b="1" dirty="0">
                <a:solidFill>
                  <a:srgbClr val="C9A66B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Aturan dasarnya</a:t>
            </a:r>
            <a:endParaRPr lang="en-US" sz="1400" dirty="0"/>
          </a:p>
        </p:txBody>
      </p:sp>
      <p:sp>
        <p:nvSpPr>
          <p:cNvPr id="22" name="Text 17"/>
          <p:cNvSpPr txBox="1"/>
          <p:nvPr/>
        </p:nvSpPr>
        <p:spPr>
          <a:xfrm>
            <a:off x="877824" y="4956048"/>
            <a:ext cx="104241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22000"/>
              </a:lnSpc>
              <a:buNone/>
            </a:pPr>
            <a:r>
              <a:rPr lang="en-US" sz="1250" dirty="0">
                <a:solidFill>
                  <a:srgbClr val="B7C9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Python membaca kode dari atas ke bawah. Kalau kita memakai variabel yang belum pernah dibuat, Python berhenti dan memunculkan NameError. Jadi variabel harus didefinisikan dulu sebelum dipakai.</a:t>
            </a:r>
            <a:endParaRPr lang="en-US" sz="1250" dirty="0"/>
          </a:p>
        </p:txBody>
      </p:sp>
      <p:sp>
        <p:nvSpPr>
          <p:cNvPr id="23" name="Text 18"/>
          <p:cNvSpPr txBox="1"/>
          <p:nvPr/>
        </p:nvSpPr>
        <p:spPr>
          <a:xfrm>
            <a:off x="566928" y="6400800"/>
            <a:ext cx="5486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50" dirty="0">
                <a:solidFill>
                  <a:srgbClr val="6F826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Data Analyst UNSIKA  ·  Pertemuan 1</a:t>
            </a:r>
            <a:endParaRPr lang="en-US" sz="850" dirty="0"/>
          </a:p>
        </p:txBody>
      </p:sp>
      <p:sp>
        <p:nvSpPr>
          <p:cNvPr id="24" name="Text 19"/>
          <p:cNvSpPr txBox="1"/>
          <p:nvPr/>
        </p:nvSpPr>
        <p:spPr>
          <a:xfrm>
            <a:off x="10710367" y="6400800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850" b="1" dirty="0">
                <a:solidFill>
                  <a:srgbClr val="C9A6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11</a:t>
            </a:r>
            <a:endParaRPr lang="en-US" sz="85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1A231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66928" y="384048"/>
            <a:ext cx="11057839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950" b="1" kern="0" spc="200" dirty="0">
                <a:solidFill>
                  <a:srgbClr val="7C94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TEORI 5 DARI 11</a:t>
            </a:r>
            <a:endParaRPr lang="en-US" sz="950" dirty="0"/>
          </a:p>
        </p:txBody>
      </p:sp>
      <p:sp>
        <p:nvSpPr>
          <p:cNvPr id="3" name="Text 1"/>
          <p:cNvSpPr txBox="1"/>
          <p:nvPr/>
        </p:nvSpPr>
        <p:spPr>
          <a:xfrm>
            <a:off x="566928" y="640080"/>
            <a:ext cx="11057839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2900" b="1" dirty="0">
                <a:solidFill>
                  <a:srgbClr val="F6F3E7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Membedah Satu Pesan Error</a:t>
            </a:r>
            <a:endParaRPr lang="en-US" sz="2900" dirty="0"/>
          </a:p>
        </p:txBody>
      </p:sp>
      <p:sp>
        <p:nvSpPr>
          <p:cNvPr id="4" name="Shape 2"/>
          <p:cNvSpPr/>
          <p:nvPr/>
        </p:nvSpPr>
        <p:spPr>
          <a:xfrm>
            <a:off x="2651760" y="1463040"/>
            <a:ext cx="6903720" cy="777240"/>
          </a:xfrm>
          <a:prstGeom prst="roundRect">
            <a:avLst>
              <a:gd name="adj" fmla="val 7059"/>
            </a:avLst>
          </a:prstGeom>
          <a:solidFill>
            <a:srgbClr val="0F160F"/>
          </a:solidFill>
          <a:ln w="12700">
            <a:solidFill>
              <a:srgbClr val="3A4C30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2852928" y="1609344"/>
            <a:ext cx="6501384" cy="4846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25000"/>
              </a:lnSpc>
              <a:buNone/>
            </a:pPr>
            <a:r>
              <a:rPr lang="en-US" sz="1400" dirty="0">
                <a:solidFill>
                  <a:srgbClr val="DCEFD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print(nama_pelanggan)</a:t>
            </a:r>
            <a:endParaRPr lang="en-US" sz="1400" dirty="0"/>
          </a:p>
        </p:txBody>
      </p:sp>
      <p:sp>
        <p:nvSpPr>
          <p:cNvPr id="6" name="Shape 4"/>
          <p:cNvSpPr/>
          <p:nvPr/>
        </p:nvSpPr>
        <p:spPr>
          <a:xfrm>
            <a:off x="5943600" y="2331720"/>
            <a:ext cx="256032" cy="274320"/>
          </a:xfrm>
          <a:prstGeom prst="downArrow">
            <a:avLst/>
          </a:prstGeom>
          <a:solidFill>
            <a:srgbClr val="7C9473"/>
          </a:solidFill>
          <a:ln w="12700">
            <a:solidFill>
              <a:srgbClr val="7C9473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2331720" y="2743200"/>
            <a:ext cx="7543800" cy="1051560"/>
          </a:xfrm>
          <a:prstGeom prst="roundRect">
            <a:avLst>
              <a:gd name="adj" fmla="val 5217"/>
            </a:avLst>
          </a:prstGeom>
          <a:solidFill>
            <a:srgbClr val="2A1A16"/>
          </a:solidFill>
          <a:ln w="12700">
            <a:solidFill>
              <a:srgbClr val="E0A07A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2651760" y="3145536"/>
            <a:ext cx="13258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350" b="1" dirty="0">
                <a:solidFill>
                  <a:srgbClr val="E0A07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NameError</a:t>
            </a:r>
            <a:endParaRPr lang="en-US" sz="1350" dirty="0"/>
          </a:p>
        </p:txBody>
      </p:sp>
      <p:sp>
        <p:nvSpPr>
          <p:cNvPr id="9" name="Text 7"/>
          <p:cNvSpPr txBox="1"/>
          <p:nvPr/>
        </p:nvSpPr>
        <p:spPr>
          <a:xfrm>
            <a:off x="3977640" y="3145536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350" dirty="0">
                <a:solidFill>
                  <a:srgbClr val="B7C9A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: name</a:t>
            </a:r>
            <a:endParaRPr lang="en-US" sz="1350" dirty="0"/>
          </a:p>
        </p:txBody>
      </p:sp>
      <p:sp>
        <p:nvSpPr>
          <p:cNvPr id="10" name="Text 8"/>
          <p:cNvSpPr txBox="1"/>
          <p:nvPr/>
        </p:nvSpPr>
        <p:spPr>
          <a:xfrm>
            <a:off x="4937760" y="3145536"/>
            <a:ext cx="2103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350" b="1" dirty="0">
                <a:solidFill>
                  <a:srgbClr val="C9A66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'nama_pelanggan'</a:t>
            </a:r>
            <a:endParaRPr lang="en-US" sz="1350" dirty="0"/>
          </a:p>
        </p:txBody>
      </p:sp>
      <p:sp>
        <p:nvSpPr>
          <p:cNvPr id="11" name="Text 9"/>
          <p:cNvSpPr txBox="1"/>
          <p:nvPr/>
        </p:nvSpPr>
        <p:spPr>
          <a:xfrm>
            <a:off x="7086600" y="3145536"/>
            <a:ext cx="1737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350" dirty="0">
                <a:solidFill>
                  <a:srgbClr val="B7C9A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is not defined</a:t>
            </a:r>
            <a:endParaRPr lang="en-US" sz="1350" dirty="0"/>
          </a:p>
        </p:txBody>
      </p:sp>
      <p:sp>
        <p:nvSpPr>
          <p:cNvPr id="12" name="Shape 10"/>
          <p:cNvSpPr/>
          <p:nvPr/>
        </p:nvSpPr>
        <p:spPr>
          <a:xfrm flipV="1">
            <a:off x="3291840" y="3822192"/>
            <a:ext cx="0" cy="658368"/>
          </a:xfrm>
          <a:prstGeom prst="line">
            <a:avLst/>
          </a:prstGeom>
          <a:noFill/>
          <a:ln w="19050">
            <a:solidFill>
              <a:srgbClr val="E0A07A"/>
            </a:solidFill>
            <a:prstDash val="dash"/>
            <a:tailEnd type="triangle"/>
          </a:ln>
        </p:spPr>
      </p:sp>
      <p:sp>
        <p:nvSpPr>
          <p:cNvPr id="13" name="Shape 11"/>
          <p:cNvSpPr/>
          <p:nvPr/>
        </p:nvSpPr>
        <p:spPr>
          <a:xfrm flipV="1">
            <a:off x="5943600" y="3822192"/>
            <a:ext cx="0" cy="658368"/>
          </a:xfrm>
          <a:prstGeom prst="line">
            <a:avLst/>
          </a:prstGeom>
          <a:noFill/>
          <a:ln w="19050">
            <a:solidFill>
              <a:srgbClr val="C9A66B"/>
            </a:solidFill>
            <a:prstDash val="dash"/>
            <a:tailEnd type="triangle"/>
          </a:ln>
        </p:spPr>
      </p:sp>
      <p:sp>
        <p:nvSpPr>
          <p:cNvPr id="14" name="Shape 12"/>
          <p:cNvSpPr/>
          <p:nvPr/>
        </p:nvSpPr>
        <p:spPr>
          <a:xfrm>
            <a:off x="1417320" y="4526280"/>
            <a:ext cx="4251960" cy="1243584"/>
          </a:xfrm>
          <a:prstGeom prst="roundRect">
            <a:avLst>
              <a:gd name="adj" fmla="val 6618"/>
            </a:avLst>
          </a:prstGeom>
          <a:solidFill>
            <a:srgbClr val="22301C"/>
          </a:solidFill>
          <a:ln w="12700">
            <a:solidFill>
              <a:srgbClr val="3A4C30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1691640" y="4718304"/>
            <a:ext cx="3703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350" b="1" dirty="0">
                <a:solidFill>
                  <a:srgbClr val="E0A07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Jenis error-nya</a:t>
            </a:r>
            <a:endParaRPr lang="en-US" sz="1350" dirty="0"/>
          </a:p>
        </p:txBody>
      </p:sp>
      <p:sp>
        <p:nvSpPr>
          <p:cNvPr id="16" name="Text 14"/>
          <p:cNvSpPr txBox="1"/>
          <p:nvPr/>
        </p:nvSpPr>
        <p:spPr>
          <a:xfrm>
            <a:off x="1691640" y="5065776"/>
            <a:ext cx="37033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20000"/>
              </a:lnSpc>
              <a:buNone/>
            </a:pPr>
            <a:r>
              <a:rPr lang="en-US" sz="1150" dirty="0">
                <a:solidFill>
                  <a:srgbClr val="B7C9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Kategori masalahnya. NameError = ada nama yang dipanggil tapi belum pernah dibuat.</a:t>
            </a:r>
            <a:endParaRPr lang="en-US" sz="1150" dirty="0"/>
          </a:p>
        </p:txBody>
      </p:sp>
      <p:sp>
        <p:nvSpPr>
          <p:cNvPr id="17" name="Shape 15"/>
          <p:cNvSpPr/>
          <p:nvPr/>
        </p:nvSpPr>
        <p:spPr>
          <a:xfrm>
            <a:off x="5943600" y="4526280"/>
            <a:ext cx="4251960" cy="1243584"/>
          </a:xfrm>
          <a:prstGeom prst="roundRect">
            <a:avLst>
              <a:gd name="adj" fmla="val 6618"/>
            </a:avLst>
          </a:prstGeom>
          <a:solidFill>
            <a:srgbClr val="22301C"/>
          </a:solidFill>
          <a:ln w="12700">
            <a:solidFill>
              <a:srgbClr val="3A4C30"/>
            </a:solidFill>
            <a:prstDash val="solid"/>
          </a:ln>
        </p:spPr>
      </p:sp>
      <p:sp>
        <p:nvSpPr>
          <p:cNvPr id="18" name="Text 16"/>
          <p:cNvSpPr txBox="1"/>
          <p:nvPr/>
        </p:nvSpPr>
        <p:spPr>
          <a:xfrm>
            <a:off x="6217920" y="4718304"/>
            <a:ext cx="3703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350" b="1" dirty="0">
                <a:solidFill>
                  <a:srgbClr val="C9A66B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Nama yang bermasalah</a:t>
            </a:r>
            <a:endParaRPr lang="en-US" sz="1350" dirty="0"/>
          </a:p>
        </p:txBody>
      </p:sp>
      <p:sp>
        <p:nvSpPr>
          <p:cNvPr id="19" name="Text 17"/>
          <p:cNvSpPr txBox="1"/>
          <p:nvPr/>
        </p:nvSpPr>
        <p:spPr>
          <a:xfrm>
            <a:off x="6217920" y="5065776"/>
            <a:ext cx="37033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20000"/>
              </a:lnSpc>
              <a:buNone/>
            </a:pPr>
            <a:r>
              <a:rPr lang="en-US" sz="1150" dirty="0">
                <a:solidFill>
                  <a:srgbClr val="B7C9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Python menyebut variabel persisnya. Perbaikannya: definisikan dulu di atas baris ini.</a:t>
            </a:r>
            <a:endParaRPr lang="en-US" sz="1150" dirty="0"/>
          </a:p>
        </p:txBody>
      </p:sp>
      <p:sp>
        <p:nvSpPr>
          <p:cNvPr id="20" name="Text 18"/>
          <p:cNvSpPr txBox="1"/>
          <p:nvPr/>
        </p:nvSpPr>
        <p:spPr>
          <a:xfrm>
            <a:off x="566928" y="5961888"/>
            <a:ext cx="11057839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1150" i="1" dirty="0">
                <a:solidFill>
                  <a:srgbClr val="7C94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Colab juga menyebut baris keberapa masalahnya — baca pesan itu dulu sebelum panik atau bertanya.</a:t>
            </a:r>
            <a:endParaRPr lang="en-US" sz="1150" dirty="0"/>
          </a:p>
        </p:txBody>
      </p:sp>
      <p:sp>
        <p:nvSpPr>
          <p:cNvPr id="21" name="Text 19"/>
          <p:cNvSpPr txBox="1"/>
          <p:nvPr/>
        </p:nvSpPr>
        <p:spPr>
          <a:xfrm>
            <a:off x="566928" y="6400800"/>
            <a:ext cx="5486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50" dirty="0">
                <a:solidFill>
                  <a:srgbClr val="6F826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Data Analyst UNSIKA  ·  Pertemuan 1</a:t>
            </a:r>
            <a:endParaRPr lang="en-US" sz="850" dirty="0"/>
          </a:p>
        </p:txBody>
      </p:sp>
      <p:sp>
        <p:nvSpPr>
          <p:cNvPr id="22" name="Text 20"/>
          <p:cNvSpPr txBox="1"/>
          <p:nvPr/>
        </p:nvSpPr>
        <p:spPr>
          <a:xfrm>
            <a:off x="10710367" y="6400800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850" b="1" dirty="0">
                <a:solidFill>
                  <a:srgbClr val="C9A6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12</a:t>
            </a:r>
            <a:endParaRPr lang="en-US" sz="85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1A231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66928" y="384048"/>
            <a:ext cx="11057839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950" b="1" kern="0" spc="200" dirty="0">
                <a:solidFill>
                  <a:srgbClr val="7C94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TEORI 6 DARI 11</a:t>
            </a:r>
            <a:endParaRPr lang="en-US" sz="950" dirty="0"/>
          </a:p>
        </p:txBody>
      </p:sp>
      <p:sp>
        <p:nvSpPr>
          <p:cNvPr id="3" name="Text 1"/>
          <p:cNvSpPr txBox="1"/>
          <p:nvPr/>
        </p:nvSpPr>
        <p:spPr>
          <a:xfrm>
            <a:off x="566928" y="640080"/>
            <a:ext cx="11057839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2900" b="1" dirty="0">
                <a:solidFill>
                  <a:srgbClr val="F6F3E7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Variabel dan Tipe Data</a:t>
            </a:r>
            <a:endParaRPr lang="en-US" sz="2900" dirty="0"/>
          </a:p>
        </p:txBody>
      </p:sp>
      <p:sp>
        <p:nvSpPr>
          <p:cNvPr id="4" name="Text 2"/>
          <p:cNvSpPr txBox="1"/>
          <p:nvPr/>
        </p:nvSpPr>
        <p:spPr>
          <a:xfrm>
            <a:off x="566928" y="1408176"/>
            <a:ext cx="55778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25000"/>
              </a:lnSpc>
              <a:buNone/>
            </a:pPr>
            <a:r>
              <a:rPr lang="en-US" sz="1400" dirty="0">
                <a:solidFill>
                  <a:srgbClr val="F6F3E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Variabel adalah nama yang dipakai untuk menyimpan sebuah nilai, supaya nilai itu bisa dipanggil lagi tanpa ditulis ulang.</a:t>
            </a:r>
            <a:endParaRPr lang="en-US" sz="1400" dirty="0"/>
          </a:p>
        </p:txBody>
      </p:sp>
      <p:sp>
        <p:nvSpPr>
          <p:cNvPr id="5" name="Shape 3"/>
          <p:cNvSpPr/>
          <p:nvPr/>
        </p:nvSpPr>
        <p:spPr>
          <a:xfrm>
            <a:off x="566928" y="2267712"/>
            <a:ext cx="5577840" cy="1280160"/>
          </a:xfrm>
          <a:prstGeom prst="roundRect">
            <a:avLst>
              <a:gd name="adj" fmla="val 4286"/>
            </a:avLst>
          </a:prstGeom>
          <a:solidFill>
            <a:srgbClr val="0F160F"/>
          </a:solidFill>
          <a:ln w="12700">
            <a:solidFill>
              <a:srgbClr val="3A4C30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768096" y="2414016"/>
            <a:ext cx="5175504" cy="9875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25000"/>
              </a:lnSpc>
              <a:buNone/>
            </a:pPr>
            <a:r>
              <a:rPr lang="en-US" sz="1300" dirty="0">
                <a:solidFill>
                  <a:srgbClr val="DCEFD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nama = "Alya"
jumlah_pesanan = 25
rata_rata_nilai = 87.5
aktif = True</a:t>
            </a:r>
            <a:endParaRPr lang="en-US" sz="1300" dirty="0"/>
          </a:p>
        </p:txBody>
      </p:sp>
      <p:sp>
        <p:nvSpPr>
          <p:cNvPr id="7" name="Shape 5"/>
          <p:cNvSpPr/>
          <p:nvPr/>
        </p:nvSpPr>
        <p:spPr>
          <a:xfrm>
            <a:off x="566928" y="3767328"/>
            <a:ext cx="5577840" cy="2240280"/>
          </a:xfrm>
          <a:prstGeom prst="roundRect">
            <a:avLst>
              <a:gd name="adj" fmla="val 3673"/>
            </a:avLst>
          </a:prstGeom>
          <a:solidFill>
            <a:srgbClr val="2A3823"/>
          </a:solidFill>
          <a:ln w="12700">
            <a:solidFill>
              <a:srgbClr val="3A4C30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841248" y="4078224"/>
            <a:ext cx="548640" cy="548640"/>
          </a:xfrm>
          <a:prstGeom prst="ellipse">
            <a:avLst/>
          </a:prstGeom>
          <a:solidFill>
            <a:srgbClr val="1A231A"/>
          </a:solidFill>
          <a:ln w="12700">
            <a:solidFill>
              <a:srgbClr val="7C9473"/>
            </a:solidFill>
            <a:prstDash val="solid"/>
          </a:ln>
        </p:spPr>
      </p:sp>
      <p:pic>
        <p:nvPicPr>
          <p:cNvPr id="9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23544" y="4160520"/>
            <a:ext cx="384048" cy="384048"/>
          </a:xfrm>
          <a:prstGeom prst="rect">
            <a:avLst/>
          </a:prstGeom>
        </p:spPr>
      </p:pic>
      <p:sp>
        <p:nvSpPr>
          <p:cNvPr id="10" name="Text 7"/>
          <p:cNvSpPr txBox="1"/>
          <p:nvPr/>
        </p:nvSpPr>
        <p:spPr>
          <a:xfrm>
            <a:off x="1536192" y="4096512"/>
            <a:ext cx="4297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300" b="1" dirty="0">
                <a:solidFill>
                  <a:srgbClr val="C9A66B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Cek tipe dengan type(nama_variabel)</a:t>
            </a:r>
            <a:endParaRPr lang="en-US" sz="1300" dirty="0"/>
          </a:p>
        </p:txBody>
      </p:sp>
      <p:sp>
        <p:nvSpPr>
          <p:cNvPr id="11" name="Text 8"/>
          <p:cNvSpPr txBox="1"/>
          <p:nvPr/>
        </p:nvSpPr>
        <p:spPr>
          <a:xfrm>
            <a:off x="841248" y="4773168"/>
            <a:ext cx="502920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25000"/>
              </a:lnSpc>
              <a:buNone/>
            </a:pPr>
            <a:r>
              <a:rPr lang="en-US" sz="1150" dirty="0">
                <a:solidFill>
                  <a:srgbClr val="B7C9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Berguna banget nanti saat data dari CSV ternyata bertipe beda dari yang diharapkan — misalnya angka yang malah terbaca sebagai teks.</a:t>
            </a:r>
            <a:endParaRPr lang="en-US" sz="1150" dirty="0"/>
          </a:p>
        </p:txBody>
      </p:sp>
      <p:sp>
        <p:nvSpPr>
          <p:cNvPr id="12" name="Text 9"/>
          <p:cNvSpPr txBox="1"/>
          <p:nvPr/>
        </p:nvSpPr>
        <p:spPr>
          <a:xfrm>
            <a:off x="6537960" y="1426464"/>
            <a:ext cx="50749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600" b="1" dirty="0">
                <a:solidFill>
                  <a:srgbClr val="F6F3E7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Empat tipe data dasar</a:t>
            </a:r>
            <a:endParaRPr lang="en-US" sz="1600" dirty="0"/>
          </a:p>
        </p:txBody>
      </p:sp>
      <p:sp>
        <p:nvSpPr>
          <p:cNvPr id="13" name="Shape 10"/>
          <p:cNvSpPr/>
          <p:nvPr/>
        </p:nvSpPr>
        <p:spPr>
          <a:xfrm>
            <a:off x="6537960" y="1883664"/>
            <a:ext cx="5074920" cy="914400"/>
          </a:xfrm>
          <a:prstGeom prst="roundRect">
            <a:avLst>
              <a:gd name="adj" fmla="val 9000"/>
            </a:avLst>
          </a:prstGeom>
          <a:solidFill>
            <a:srgbClr val="22301C"/>
          </a:solidFill>
          <a:ln w="12700">
            <a:solidFill>
              <a:srgbClr val="3A4C30"/>
            </a:solidFill>
            <a:prstDash val="solid"/>
          </a:ln>
        </p:spPr>
      </p:sp>
      <p:sp>
        <p:nvSpPr>
          <p:cNvPr id="14" name="Shape 11"/>
          <p:cNvSpPr/>
          <p:nvPr/>
        </p:nvSpPr>
        <p:spPr>
          <a:xfrm>
            <a:off x="6784848" y="2139696"/>
            <a:ext cx="868680" cy="402336"/>
          </a:xfrm>
          <a:prstGeom prst="roundRect">
            <a:avLst>
              <a:gd name="adj" fmla="val 113636"/>
            </a:avLst>
          </a:prstGeom>
          <a:solidFill>
            <a:srgbClr val="2A3823"/>
          </a:solidFill>
          <a:ln w="12700">
            <a:solidFill>
              <a:srgbClr val="C9A66B"/>
            </a:solidFill>
            <a:prstDash val="solid"/>
          </a:ln>
        </p:spPr>
      </p:sp>
      <p:sp>
        <p:nvSpPr>
          <p:cNvPr id="15" name="Text 12"/>
          <p:cNvSpPr txBox="1"/>
          <p:nvPr/>
        </p:nvSpPr>
        <p:spPr>
          <a:xfrm>
            <a:off x="6784848" y="2139696"/>
            <a:ext cx="868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50" b="1" dirty="0">
                <a:solidFill>
                  <a:srgbClr val="C9A6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str</a:t>
            </a:r>
            <a:endParaRPr lang="en-US" sz="1150" dirty="0"/>
          </a:p>
        </p:txBody>
      </p:sp>
      <p:sp>
        <p:nvSpPr>
          <p:cNvPr id="16" name="Text 13"/>
          <p:cNvSpPr txBox="1"/>
          <p:nvPr/>
        </p:nvSpPr>
        <p:spPr>
          <a:xfrm>
            <a:off x="7818120" y="2066544"/>
            <a:ext cx="35661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200" dirty="0">
                <a:solidFill>
                  <a:srgbClr val="DCEFD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"Alya"</a:t>
            </a:r>
            <a:endParaRPr lang="en-US" sz="1200" dirty="0"/>
          </a:p>
        </p:txBody>
      </p:sp>
      <p:sp>
        <p:nvSpPr>
          <p:cNvPr id="17" name="Text 14"/>
          <p:cNvSpPr txBox="1"/>
          <p:nvPr/>
        </p:nvSpPr>
        <p:spPr>
          <a:xfrm>
            <a:off x="7818120" y="2377440"/>
            <a:ext cx="3566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100" dirty="0">
                <a:solidFill>
                  <a:srgbClr val="B7C9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Teks, diapit tanda kutip</a:t>
            </a:r>
            <a:endParaRPr lang="en-US" sz="1100" dirty="0"/>
          </a:p>
        </p:txBody>
      </p:sp>
      <p:sp>
        <p:nvSpPr>
          <p:cNvPr id="18" name="Shape 15"/>
          <p:cNvSpPr/>
          <p:nvPr/>
        </p:nvSpPr>
        <p:spPr>
          <a:xfrm>
            <a:off x="6537960" y="2935224"/>
            <a:ext cx="5074920" cy="914400"/>
          </a:xfrm>
          <a:prstGeom prst="roundRect">
            <a:avLst>
              <a:gd name="adj" fmla="val 9000"/>
            </a:avLst>
          </a:prstGeom>
          <a:solidFill>
            <a:srgbClr val="22301C"/>
          </a:solidFill>
          <a:ln w="12700">
            <a:solidFill>
              <a:srgbClr val="3A4C30"/>
            </a:solidFill>
            <a:prstDash val="solid"/>
          </a:ln>
        </p:spPr>
      </p:sp>
      <p:sp>
        <p:nvSpPr>
          <p:cNvPr id="19" name="Shape 16"/>
          <p:cNvSpPr/>
          <p:nvPr/>
        </p:nvSpPr>
        <p:spPr>
          <a:xfrm>
            <a:off x="6784848" y="3191256"/>
            <a:ext cx="868680" cy="402336"/>
          </a:xfrm>
          <a:prstGeom prst="roundRect">
            <a:avLst>
              <a:gd name="adj" fmla="val 113636"/>
            </a:avLst>
          </a:prstGeom>
          <a:solidFill>
            <a:srgbClr val="2A3823"/>
          </a:solidFill>
          <a:ln w="12700">
            <a:solidFill>
              <a:srgbClr val="C9A66B"/>
            </a:solidFill>
            <a:prstDash val="solid"/>
          </a:ln>
        </p:spPr>
      </p:sp>
      <p:sp>
        <p:nvSpPr>
          <p:cNvPr id="20" name="Text 17"/>
          <p:cNvSpPr txBox="1"/>
          <p:nvPr/>
        </p:nvSpPr>
        <p:spPr>
          <a:xfrm>
            <a:off x="6784848" y="3191256"/>
            <a:ext cx="868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50" b="1" dirty="0">
                <a:solidFill>
                  <a:srgbClr val="C9A6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</a:t>
            </a:r>
            <a:endParaRPr lang="en-US" sz="1150" dirty="0"/>
          </a:p>
        </p:txBody>
      </p:sp>
      <p:sp>
        <p:nvSpPr>
          <p:cNvPr id="21" name="Text 18"/>
          <p:cNvSpPr txBox="1"/>
          <p:nvPr/>
        </p:nvSpPr>
        <p:spPr>
          <a:xfrm>
            <a:off x="7818120" y="3118104"/>
            <a:ext cx="35661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200" dirty="0">
                <a:solidFill>
                  <a:srgbClr val="DCEFD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25</a:t>
            </a:r>
            <a:endParaRPr lang="en-US" sz="1200" dirty="0"/>
          </a:p>
        </p:txBody>
      </p:sp>
      <p:sp>
        <p:nvSpPr>
          <p:cNvPr id="22" name="Text 19"/>
          <p:cNvSpPr txBox="1"/>
          <p:nvPr/>
        </p:nvSpPr>
        <p:spPr>
          <a:xfrm>
            <a:off x="7818120" y="3429000"/>
            <a:ext cx="3566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100" dirty="0">
                <a:solidFill>
                  <a:srgbClr val="B7C9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Bilangan bulat</a:t>
            </a:r>
            <a:endParaRPr lang="en-US" sz="1100" dirty="0"/>
          </a:p>
        </p:txBody>
      </p:sp>
      <p:sp>
        <p:nvSpPr>
          <p:cNvPr id="23" name="Shape 20"/>
          <p:cNvSpPr/>
          <p:nvPr/>
        </p:nvSpPr>
        <p:spPr>
          <a:xfrm>
            <a:off x="6537960" y="3986784"/>
            <a:ext cx="5074920" cy="914400"/>
          </a:xfrm>
          <a:prstGeom prst="roundRect">
            <a:avLst>
              <a:gd name="adj" fmla="val 9000"/>
            </a:avLst>
          </a:prstGeom>
          <a:solidFill>
            <a:srgbClr val="22301C"/>
          </a:solidFill>
          <a:ln w="12700">
            <a:solidFill>
              <a:srgbClr val="3A4C30"/>
            </a:solidFill>
            <a:prstDash val="solid"/>
          </a:ln>
        </p:spPr>
      </p:sp>
      <p:sp>
        <p:nvSpPr>
          <p:cNvPr id="24" name="Shape 21"/>
          <p:cNvSpPr/>
          <p:nvPr/>
        </p:nvSpPr>
        <p:spPr>
          <a:xfrm>
            <a:off x="6784848" y="4242816"/>
            <a:ext cx="868680" cy="402336"/>
          </a:xfrm>
          <a:prstGeom prst="roundRect">
            <a:avLst>
              <a:gd name="adj" fmla="val 113636"/>
            </a:avLst>
          </a:prstGeom>
          <a:solidFill>
            <a:srgbClr val="2A3823"/>
          </a:solidFill>
          <a:ln w="12700">
            <a:solidFill>
              <a:srgbClr val="C9A66B"/>
            </a:solidFill>
            <a:prstDash val="solid"/>
          </a:ln>
        </p:spPr>
      </p:sp>
      <p:sp>
        <p:nvSpPr>
          <p:cNvPr id="25" name="Text 22"/>
          <p:cNvSpPr txBox="1"/>
          <p:nvPr/>
        </p:nvSpPr>
        <p:spPr>
          <a:xfrm>
            <a:off x="6784848" y="4242816"/>
            <a:ext cx="868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50" b="1" dirty="0">
                <a:solidFill>
                  <a:srgbClr val="C9A6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float</a:t>
            </a:r>
            <a:endParaRPr lang="en-US" sz="1150" dirty="0"/>
          </a:p>
        </p:txBody>
      </p:sp>
      <p:sp>
        <p:nvSpPr>
          <p:cNvPr id="26" name="Text 23"/>
          <p:cNvSpPr txBox="1"/>
          <p:nvPr/>
        </p:nvSpPr>
        <p:spPr>
          <a:xfrm>
            <a:off x="7818120" y="4169664"/>
            <a:ext cx="35661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200" dirty="0">
                <a:solidFill>
                  <a:srgbClr val="DCEFD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87.5</a:t>
            </a:r>
            <a:endParaRPr lang="en-US" sz="1200" dirty="0"/>
          </a:p>
        </p:txBody>
      </p:sp>
      <p:sp>
        <p:nvSpPr>
          <p:cNvPr id="27" name="Text 24"/>
          <p:cNvSpPr txBox="1"/>
          <p:nvPr/>
        </p:nvSpPr>
        <p:spPr>
          <a:xfrm>
            <a:off x="7818120" y="4480560"/>
            <a:ext cx="3566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100" dirty="0">
                <a:solidFill>
                  <a:srgbClr val="B7C9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Bilangan desimal</a:t>
            </a:r>
            <a:endParaRPr lang="en-US" sz="1100" dirty="0"/>
          </a:p>
        </p:txBody>
      </p:sp>
      <p:sp>
        <p:nvSpPr>
          <p:cNvPr id="28" name="Shape 25"/>
          <p:cNvSpPr/>
          <p:nvPr/>
        </p:nvSpPr>
        <p:spPr>
          <a:xfrm>
            <a:off x="6537960" y="5038344"/>
            <a:ext cx="5074920" cy="914400"/>
          </a:xfrm>
          <a:prstGeom prst="roundRect">
            <a:avLst>
              <a:gd name="adj" fmla="val 9000"/>
            </a:avLst>
          </a:prstGeom>
          <a:solidFill>
            <a:srgbClr val="22301C"/>
          </a:solidFill>
          <a:ln w="12700">
            <a:solidFill>
              <a:srgbClr val="3A4C30"/>
            </a:solidFill>
            <a:prstDash val="solid"/>
          </a:ln>
        </p:spPr>
      </p:sp>
      <p:sp>
        <p:nvSpPr>
          <p:cNvPr id="29" name="Shape 26"/>
          <p:cNvSpPr/>
          <p:nvPr/>
        </p:nvSpPr>
        <p:spPr>
          <a:xfrm>
            <a:off x="6784848" y="5294376"/>
            <a:ext cx="868680" cy="402336"/>
          </a:xfrm>
          <a:prstGeom prst="roundRect">
            <a:avLst>
              <a:gd name="adj" fmla="val 113636"/>
            </a:avLst>
          </a:prstGeom>
          <a:solidFill>
            <a:srgbClr val="2A3823"/>
          </a:solidFill>
          <a:ln w="12700">
            <a:solidFill>
              <a:srgbClr val="C9A66B"/>
            </a:solidFill>
            <a:prstDash val="solid"/>
          </a:ln>
        </p:spPr>
      </p:sp>
      <p:sp>
        <p:nvSpPr>
          <p:cNvPr id="30" name="Text 27"/>
          <p:cNvSpPr txBox="1"/>
          <p:nvPr/>
        </p:nvSpPr>
        <p:spPr>
          <a:xfrm>
            <a:off x="6784848" y="5294376"/>
            <a:ext cx="868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50" b="1" dirty="0">
                <a:solidFill>
                  <a:srgbClr val="C9A6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bool</a:t>
            </a:r>
            <a:endParaRPr lang="en-US" sz="1150" dirty="0"/>
          </a:p>
        </p:txBody>
      </p:sp>
      <p:sp>
        <p:nvSpPr>
          <p:cNvPr id="31" name="Text 28"/>
          <p:cNvSpPr txBox="1"/>
          <p:nvPr/>
        </p:nvSpPr>
        <p:spPr>
          <a:xfrm>
            <a:off x="7818120" y="5221224"/>
            <a:ext cx="35661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200" dirty="0">
                <a:solidFill>
                  <a:srgbClr val="DCEFD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True / False</a:t>
            </a:r>
            <a:endParaRPr lang="en-US" sz="1200" dirty="0"/>
          </a:p>
        </p:txBody>
      </p:sp>
      <p:sp>
        <p:nvSpPr>
          <p:cNvPr id="32" name="Text 29"/>
          <p:cNvSpPr txBox="1"/>
          <p:nvPr/>
        </p:nvSpPr>
        <p:spPr>
          <a:xfrm>
            <a:off x="7818120" y="5532120"/>
            <a:ext cx="3566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100" dirty="0">
                <a:solidFill>
                  <a:srgbClr val="B7C9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Benar atau salah</a:t>
            </a:r>
            <a:endParaRPr lang="en-US" sz="1100" dirty="0"/>
          </a:p>
        </p:txBody>
      </p:sp>
      <p:sp>
        <p:nvSpPr>
          <p:cNvPr id="33" name="Text 30"/>
          <p:cNvSpPr txBox="1"/>
          <p:nvPr/>
        </p:nvSpPr>
        <p:spPr>
          <a:xfrm>
            <a:off x="566928" y="6400800"/>
            <a:ext cx="5486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50" dirty="0">
                <a:solidFill>
                  <a:srgbClr val="6F826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Data Analyst UNSIKA  ·  Pertemuan 1</a:t>
            </a:r>
            <a:endParaRPr lang="en-US" sz="850" dirty="0"/>
          </a:p>
        </p:txBody>
      </p:sp>
      <p:sp>
        <p:nvSpPr>
          <p:cNvPr id="34" name="Text 31"/>
          <p:cNvSpPr txBox="1"/>
          <p:nvPr/>
        </p:nvSpPr>
        <p:spPr>
          <a:xfrm>
            <a:off x="10710367" y="6400800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850" b="1" dirty="0">
                <a:solidFill>
                  <a:srgbClr val="C9A6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13</a:t>
            </a:r>
            <a:endParaRPr lang="en-US" sz="85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1A231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66928" y="384048"/>
            <a:ext cx="11057839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950" b="1" kern="0" spc="200" dirty="0">
                <a:solidFill>
                  <a:srgbClr val="7C94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TEORI 7 DARI 11</a:t>
            </a:r>
            <a:endParaRPr lang="en-US" sz="950" dirty="0"/>
          </a:p>
        </p:txBody>
      </p:sp>
      <p:sp>
        <p:nvSpPr>
          <p:cNvPr id="3" name="Text 1"/>
          <p:cNvSpPr txBox="1"/>
          <p:nvPr/>
        </p:nvSpPr>
        <p:spPr>
          <a:xfrm>
            <a:off x="566928" y="640080"/>
            <a:ext cx="11057839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2900" b="1" dirty="0">
                <a:solidFill>
                  <a:srgbClr val="F6F3E7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print() dan f-string</a:t>
            </a:r>
            <a:endParaRPr lang="en-US" sz="2900" dirty="0"/>
          </a:p>
        </p:txBody>
      </p:sp>
      <p:sp>
        <p:nvSpPr>
          <p:cNvPr id="4" name="Text 2"/>
          <p:cNvSpPr txBox="1"/>
          <p:nvPr/>
        </p:nvSpPr>
        <p:spPr>
          <a:xfrm>
            <a:off x="566928" y="1335024"/>
            <a:ext cx="11057839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350" dirty="0">
                <a:solidFill>
                  <a:srgbClr val="B7C9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Untuk menggabungkan teks dan variabel dalam satu kalimat, cara paling praktis adalah f-string.</a:t>
            </a:r>
            <a:endParaRPr lang="en-US" sz="1350" dirty="0"/>
          </a:p>
        </p:txBody>
      </p:sp>
      <p:sp>
        <p:nvSpPr>
          <p:cNvPr id="5" name="Shape 3"/>
          <p:cNvSpPr/>
          <p:nvPr/>
        </p:nvSpPr>
        <p:spPr>
          <a:xfrm>
            <a:off x="566928" y="1773936"/>
            <a:ext cx="5349240" cy="2286000"/>
          </a:xfrm>
          <a:prstGeom prst="roundRect">
            <a:avLst>
              <a:gd name="adj" fmla="val 3600"/>
            </a:avLst>
          </a:prstGeom>
          <a:solidFill>
            <a:srgbClr val="22301C"/>
          </a:solidFill>
          <a:ln w="12700">
            <a:solidFill>
              <a:srgbClr val="3A4C30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841248" y="1975104"/>
            <a:ext cx="4800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900" b="1" kern="0" spc="180" dirty="0">
                <a:solidFill>
                  <a:srgbClr val="E0A0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TANPA F-STRING</a:t>
            </a:r>
            <a:endParaRPr lang="en-US" sz="900" dirty="0"/>
          </a:p>
        </p:txBody>
      </p:sp>
      <p:sp>
        <p:nvSpPr>
          <p:cNvPr id="7" name="Shape 5"/>
          <p:cNvSpPr/>
          <p:nvPr/>
        </p:nvSpPr>
        <p:spPr>
          <a:xfrm>
            <a:off x="841248" y="2286000"/>
            <a:ext cx="4800600" cy="1051560"/>
          </a:xfrm>
          <a:prstGeom prst="roundRect">
            <a:avLst>
              <a:gd name="adj" fmla="val 5217"/>
            </a:avLst>
          </a:prstGeom>
          <a:solidFill>
            <a:srgbClr val="0F160F"/>
          </a:solidFill>
          <a:ln w="12700">
            <a:solidFill>
              <a:srgbClr val="3A4C30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1042416" y="2432304"/>
            <a:ext cx="4398264" cy="7589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25000"/>
              </a:lnSpc>
              <a:buNone/>
            </a:pPr>
            <a:r>
              <a:rPr lang="en-US" sz="1150" dirty="0">
                <a:solidFill>
                  <a:srgbClr val="DCEFD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print(nama + " memiliki "</a:t>
            </a:r>
            <a:endParaRPr lang="en-US" sz="1150" dirty="0"/>
          </a:p>
          <a:p>
            <a:pPr marL="0" indent="0">
              <a:lnSpc>
                <a:spcPct val="125000"/>
              </a:lnSpc>
              <a:buNone/>
            </a:pPr>
            <a:r>
              <a:rPr lang="en-US" sz="1150" dirty="0">
                <a:solidFill>
                  <a:srgbClr val="DCEFD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+ str(jumlah) + " pesanan.")</a:t>
            </a:r>
            <a:endParaRPr lang="en-US" sz="1150" dirty="0"/>
          </a:p>
        </p:txBody>
      </p:sp>
      <p:sp>
        <p:nvSpPr>
          <p:cNvPr id="9" name="Text 7"/>
          <p:cNvSpPr txBox="1"/>
          <p:nvPr/>
        </p:nvSpPr>
        <p:spPr>
          <a:xfrm>
            <a:off x="841248" y="3438144"/>
            <a:ext cx="4800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15000"/>
              </a:lnSpc>
              <a:buNone/>
            </a:pPr>
            <a:r>
              <a:rPr lang="en-US" sz="1100" dirty="0">
                <a:solidFill>
                  <a:srgbClr val="B7C9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Harus digabung manual pakai + dan dikonversi tipenya satu per satu.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6291072" y="1773936"/>
            <a:ext cx="5330952" cy="2286000"/>
          </a:xfrm>
          <a:prstGeom prst="roundRect">
            <a:avLst>
              <a:gd name="adj" fmla="val 3600"/>
            </a:avLst>
          </a:prstGeom>
          <a:solidFill>
            <a:srgbClr val="2A3823"/>
          </a:solidFill>
          <a:ln w="12700">
            <a:solidFill>
              <a:srgbClr val="3A4C30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6565392" y="1975104"/>
            <a:ext cx="478231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900" b="1" kern="0" spc="180" dirty="0">
                <a:solidFill>
                  <a:srgbClr val="C9A6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DENGAN F-STRING</a:t>
            </a:r>
            <a:endParaRPr lang="en-US" sz="900" dirty="0"/>
          </a:p>
        </p:txBody>
      </p:sp>
      <p:sp>
        <p:nvSpPr>
          <p:cNvPr id="12" name="Shape 10"/>
          <p:cNvSpPr/>
          <p:nvPr/>
        </p:nvSpPr>
        <p:spPr>
          <a:xfrm>
            <a:off x="6565392" y="2286000"/>
            <a:ext cx="4782312" cy="1051560"/>
          </a:xfrm>
          <a:prstGeom prst="roundRect">
            <a:avLst>
              <a:gd name="adj" fmla="val 5217"/>
            </a:avLst>
          </a:prstGeom>
          <a:solidFill>
            <a:srgbClr val="0F160F"/>
          </a:solidFill>
          <a:ln w="12700">
            <a:solidFill>
              <a:srgbClr val="3A4C30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6766560" y="2432304"/>
            <a:ext cx="4379976" cy="7589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25000"/>
              </a:lnSpc>
              <a:buNone/>
            </a:pPr>
            <a:r>
              <a:rPr lang="en-US" sz="1150" dirty="0">
                <a:solidFill>
                  <a:srgbClr val="DCEFD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print(f"{nama} memiliki</a:t>
            </a:r>
            <a:endParaRPr lang="en-US" sz="1150" dirty="0"/>
          </a:p>
          <a:p>
            <a:pPr marL="0" indent="0">
              <a:lnSpc>
                <a:spcPct val="125000"/>
              </a:lnSpc>
              <a:buNone/>
            </a:pPr>
            <a:r>
              <a:rPr lang="en-US" sz="1150" dirty="0">
                <a:solidFill>
                  <a:srgbClr val="DCEFD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{jumlah} pesanan.")</a:t>
            </a:r>
            <a:endParaRPr lang="en-US" sz="1150" dirty="0"/>
          </a:p>
        </p:txBody>
      </p:sp>
      <p:sp>
        <p:nvSpPr>
          <p:cNvPr id="14" name="Text 12"/>
          <p:cNvSpPr txBox="1"/>
          <p:nvPr/>
        </p:nvSpPr>
        <p:spPr>
          <a:xfrm>
            <a:off x="6565392" y="3438144"/>
            <a:ext cx="478231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15000"/>
              </a:lnSpc>
              <a:buNone/>
            </a:pPr>
            <a:r>
              <a:rPr lang="en-US" sz="1100" dirty="0">
                <a:solidFill>
                  <a:srgbClr val="B7C9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Satu baris, langsung terbaca seperti kalimat aslinya.</a:t>
            </a:r>
            <a:endParaRPr lang="en-US" sz="1100" dirty="0"/>
          </a:p>
        </p:txBody>
      </p:sp>
      <p:sp>
        <p:nvSpPr>
          <p:cNvPr id="15" name="Shape 13"/>
          <p:cNvSpPr/>
          <p:nvPr/>
        </p:nvSpPr>
        <p:spPr>
          <a:xfrm>
            <a:off x="566928" y="4261104"/>
            <a:ext cx="11057839" cy="868680"/>
          </a:xfrm>
          <a:prstGeom prst="roundRect">
            <a:avLst>
              <a:gd name="adj" fmla="val 6316"/>
            </a:avLst>
          </a:prstGeom>
          <a:solidFill>
            <a:srgbClr val="162014"/>
          </a:solidFill>
          <a:ln w="12700">
            <a:solidFill>
              <a:srgbClr val="7C9473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768096" y="4379976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00" b="1" kern="0" spc="140" dirty="0">
                <a:solidFill>
                  <a:srgbClr val="7C94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OUTPUT</a:t>
            </a:r>
            <a:endParaRPr lang="en-US" sz="800" dirty="0"/>
          </a:p>
        </p:txBody>
      </p:sp>
      <p:sp>
        <p:nvSpPr>
          <p:cNvPr id="17" name="Text 15"/>
          <p:cNvSpPr txBox="1"/>
          <p:nvPr/>
        </p:nvSpPr>
        <p:spPr>
          <a:xfrm>
            <a:off x="768096" y="4608576"/>
            <a:ext cx="10655503" cy="3566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20000"/>
              </a:lnSpc>
              <a:buNone/>
            </a:pPr>
            <a:r>
              <a:rPr lang="en-US" sz="1300" dirty="0">
                <a:solidFill>
                  <a:srgbClr val="F6F3E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Alya memiliki 25 pesanan.</a:t>
            </a:r>
            <a:endParaRPr lang="en-US" sz="1300" dirty="0"/>
          </a:p>
        </p:txBody>
      </p:sp>
      <p:sp>
        <p:nvSpPr>
          <p:cNvPr id="18" name="Shape 16"/>
          <p:cNvSpPr/>
          <p:nvPr/>
        </p:nvSpPr>
        <p:spPr>
          <a:xfrm>
            <a:off x="566928" y="5440680"/>
            <a:ext cx="91440" cy="91440"/>
          </a:xfrm>
          <a:prstGeom prst="ellipse">
            <a:avLst/>
          </a:prstGeom>
          <a:solidFill>
            <a:srgbClr val="C9A66B"/>
          </a:solidFill>
          <a:ln w="12700">
            <a:solidFill>
              <a:srgbClr val="C9A66B"/>
            </a:solidFill>
            <a:prstDash val="solid"/>
          </a:ln>
        </p:spPr>
      </p:sp>
      <p:sp>
        <p:nvSpPr>
          <p:cNvPr id="19" name="Text 17"/>
          <p:cNvSpPr txBox="1"/>
          <p:nvPr/>
        </p:nvSpPr>
        <p:spPr>
          <a:xfrm>
            <a:off x="795528" y="5358384"/>
            <a:ext cx="51206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B7C9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Huruf f sebelum tanda kutip menandai string itu sebagai f-string.</a:t>
            </a:r>
            <a:endParaRPr lang="en-US" sz="1200" dirty="0"/>
          </a:p>
        </p:txBody>
      </p:sp>
      <p:sp>
        <p:nvSpPr>
          <p:cNvPr id="20" name="Shape 18"/>
          <p:cNvSpPr/>
          <p:nvPr/>
        </p:nvSpPr>
        <p:spPr>
          <a:xfrm>
            <a:off x="6291072" y="5440680"/>
            <a:ext cx="91440" cy="91440"/>
          </a:xfrm>
          <a:prstGeom prst="ellipse">
            <a:avLst/>
          </a:prstGeom>
          <a:solidFill>
            <a:srgbClr val="C9A66B"/>
          </a:solidFill>
          <a:ln w="12700">
            <a:solidFill>
              <a:srgbClr val="C9A66B"/>
            </a:solidFill>
            <a:prstDash val="solid"/>
          </a:ln>
        </p:spPr>
      </p:sp>
      <p:sp>
        <p:nvSpPr>
          <p:cNvPr id="21" name="Text 19"/>
          <p:cNvSpPr txBox="1"/>
          <p:nvPr/>
        </p:nvSpPr>
        <p:spPr>
          <a:xfrm>
            <a:off x="6519672" y="5358384"/>
            <a:ext cx="510235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B7C9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Bagian di dalam { } otomatis diganti nilai variabelnya saat dijalankan.</a:t>
            </a:r>
            <a:endParaRPr lang="en-US" sz="1200" dirty="0"/>
          </a:p>
        </p:txBody>
      </p:sp>
      <p:sp>
        <p:nvSpPr>
          <p:cNvPr id="22" name="Text 20"/>
          <p:cNvSpPr txBox="1"/>
          <p:nvPr/>
        </p:nvSpPr>
        <p:spPr>
          <a:xfrm>
            <a:off x="566928" y="6400800"/>
            <a:ext cx="5486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50" dirty="0">
                <a:solidFill>
                  <a:srgbClr val="6F826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Data Analyst UNSIKA  ·  Pertemuan 1</a:t>
            </a:r>
            <a:endParaRPr lang="en-US" sz="850" dirty="0"/>
          </a:p>
        </p:txBody>
      </p:sp>
      <p:sp>
        <p:nvSpPr>
          <p:cNvPr id="23" name="Text 21"/>
          <p:cNvSpPr txBox="1"/>
          <p:nvPr/>
        </p:nvSpPr>
        <p:spPr>
          <a:xfrm>
            <a:off x="10710367" y="6400800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850" b="1" dirty="0">
                <a:solidFill>
                  <a:srgbClr val="C9A6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14</a:t>
            </a:r>
            <a:endParaRPr lang="en-US" sz="85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1A231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66928" y="384048"/>
            <a:ext cx="11057839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950" b="1" kern="0" spc="200" dirty="0">
                <a:solidFill>
                  <a:srgbClr val="7C94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TEORI 8 DARI 11</a:t>
            </a:r>
            <a:endParaRPr lang="en-US" sz="950" dirty="0"/>
          </a:p>
        </p:txBody>
      </p:sp>
      <p:sp>
        <p:nvSpPr>
          <p:cNvPr id="3" name="Text 1"/>
          <p:cNvSpPr txBox="1"/>
          <p:nvPr/>
        </p:nvSpPr>
        <p:spPr>
          <a:xfrm>
            <a:off x="566928" y="640080"/>
            <a:ext cx="11057839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2900" b="1" dirty="0">
                <a:solidFill>
                  <a:srgbClr val="F6F3E7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Operator Dasar</a:t>
            </a:r>
            <a:endParaRPr lang="en-US" sz="2900" dirty="0"/>
          </a:p>
        </p:txBody>
      </p:sp>
      <p:sp>
        <p:nvSpPr>
          <p:cNvPr id="4" name="Shape 2"/>
          <p:cNvSpPr/>
          <p:nvPr/>
        </p:nvSpPr>
        <p:spPr>
          <a:xfrm>
            <a:off x="566928" y="1463040"/>
            <a:ext cx="5760720" cy="1463040"/>
          </a:xfrm>
          <a:prstGeom prst="roundRect">
            <a:avLst>
              <a:gd name="adj" fmla="val 3750"/>
            </a:avLst>
          </a:prstGeom>
          <a:solidFill>
            <a:srgbClr val="0F160F"/>
          </a:solidFill>
          <a:ln w="12700">
            <a:solidFill>
              <a:srgbClr val="3A4C30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768096" y="1609344"/>
            <a:ext cx="5358384" cy="11704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25000"/>
              </a:lnSpc>
              <a:buNone/>
            </a:pPr>
            <a:r>
              <a:rPr lang="en-US" sz="1250" dirty="0">
                <a:solidFill>
                  <a:srgbClr val="DCEFD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harga = 50000
jumlah = 3
total = harga * jumlah
diskon_berlaku = total &gt; 100000</a:t>
            </a:r>
            <a:endParaRPr lang="en-US" sz="1250" dirty="0"/>
          </a:p>
        </p:txBody>
      </p:sp>
      <p:sp>
        <p:nvSpPr>
          <p:cNvPr id="6" name="Shape 4"/>
          <p:cNvSpPr/>
          <p:nvPr/>
        </p:nvSpPr>
        <p:spPr>
          <a:xfrm>
            <a:off x="566928" y="3127248"/>
            <a:ext cx="5760720" cy="1170432"/>
          </a:xfrm>
          <a:prstGeom prst="roundRect">
            <a:avLst>
              <a:gd name="adj" fmla="val 4688"/>
            </a:avLst>
          </a:prstGeom>
          <a:solidFill>
            <a:srgbClr val="162014"/>
          </a:solidFill>
          <a:ln w="12700">
            <a:solidFill>
              <a:srgbClr val="7C9473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768096" y="3246120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00" b="1" kern="0" spc="140" dirty="0">
                <a:solidFill>
                  <a:srgbClr val="7C94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OUTPUT</a:t>
            </a:r>
            <a:endParaRPr lang="en-US" sz="800" dirty="0"/>
          </a:p>
        </p:txBody>
      </p:sp>
      <p:sp>
        <p:nvSpPr>
          <p:cNvPr id="8" name="Text 6"/>
          <p:cNvSpPr txBox="1"/>
          <p:nvPr/>
        </p:nvSpPr>
        <p:spPr>
          <a:xfrm>
            <a:off x="768096" y="3474720"/>
            <a:ext cx="5358384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20000"/>
              </a:lnSpc>
              <a:buNone/>
            </a:pPr>
            <a:r>
              <a:rPr lang="en-US" sz="1250" dirty="0">
                <a:solidFill>
                  <a:srgbClr val="F6F3E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total           → 150000</a:t>
            </a:r>
            <a:endParaRPr lang="en-US" sz="1250" dirty="0"/>
          </a:p>
          <a:p>
            <a:pPr marL="0" indent="0">
              <a:lnSpc>
                <a:spcPct val="120000"/>
              </a:lnSpc>
              <a:buNone/>
            </a:pPr>
            <a:r>
              <a:rPr lang="en-US" sz="1250" dirty="0">
                <a:solidFill>
                  <a:srgbClr val="F6F3E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diskon_berlaku  → True</a:t>
            </a:r>
            <a:endParaRPr lang="en-US" sz="1250" dirty="0"/>
          </a:p>
        </p:txBody>
      </p:sp>
      <p:sp>
        <p:nvSpPr>
          <p:cNvPr id="9" name="Shape 7"/>
          <p:cNvSpPr/>
          <p:nvPr/>
        </p:nvSpPr>
        <p:spPr>
          <a:xfrm>
            <a:off x="566928" y="4572000"/>
            <a:ext cx="5760720" cy="1517904"/>
          </a:xfrm>
          <a:prstGeom prst="roundRect">
            <a:avLst>
              <a:gd name="adj" fmla="val 5422"/>
            </a:avLst>
          </a:prstGeom>
          <a:solidFill>
            <a:srgbClr val="2A3823"/>
          </a:solidFill>
          <a:ln w="12700">
            <a:solidFill>
              <a:srgbClr val="3A4C30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841248" y="4773168"/>
            <a:ext cx="52120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350" b="1" dirty="0">
                <a:solidFill>
                  <a:srgbClr val="C9A66B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Kenapa perbandingan penting?</a:t>
            </a:r>
            <a:endParaRPr lang="en-US" sz="1350" dirty="0"/>
          </a:p>
        </p:txBody>
      </p:sp>
      <p:sp>
        <p:nvSpPr>
          <p:cNvPr id="11" name="Text 9"/>
          <p:cNvSpPr txBox="1"/>
          <p:nvPr/>
        </p:nvSpPr>
        <p:spPr>
          <a:xfrm>
            <a:off x="841248" y="5138928"/>
            <a:ext cx="52120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22000"/>
              </a:lnSpc>
              <a:buNone/>
            </a:pPr>
            <a:r>
              <a:rPr lang="en-US" sz="1150" dirty="0">
                <a:solidFill>
                  <a:srgbClr val="B7C9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Hasil True/False inilah bahan bakar pengambilan keputusan: if, elif, dan else yang dipelajari di Pertemuan 2, serta filter data di Pandas nanti.</a:t>
            </a:r>
            <a:endParaRPr lang="en-US" sz="1150" dirty="0"/>
          </a:p>
        </p:txBody>
      </p:sp>
      <p:sp>
        <p:nvSpPr>
          <p:cNvPr id="12" name="Shape 10"/>
          <p:cNvSpPr/>
          <p:nvPr/>
        </p:nvSpPr>
        <p:spPr>
          <a:xfrm>
            <a:off x="6537960" y="1463040"/>
            <a:ext cx="5074920" cy="2084832"/>
          </a:xfrm>
          <a:prstGeom prst="roundRect">
            <a:avLst>
              <a:gd name="adj" fmla="val 3947"/>
            </a:avLst>
          </a:prstGeom>
          <a:solidFill>
            <a:srgbClr val="22301C"/>
          </a:solidFill>
          <a:ln w="12700">
            <a:solidFill>
              <a:srgbClr val="3A4C30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6812280" y="1664208"/>
            <a:ext cx="45262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500" b="1" dirty="0">
                <a:solidFill>
                  <a:srgbClr val="F6F3E7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Aritmatika</a:t>
            </a:r>
            <a:endParaRPr lang="en-US" sz="1500" dirty="0"/>
          </a:p>
        </p:txBody>
      </p:sp>
      <p:sp>
        <p:nvSpPr>
          <p:cNvPr id="14" name="Shape 12"/>
          <p:cNvSpPr/>
          <p:nvPr/>
        </p:nvSpPr>
        <p:spPr>
          <a:xfrm>
            <a:off x="6812280" y="2084832"/>
            <a:ext cx="960120" cy="502920"/>
          </a:xfrm>
          <a:prstGeom prst="roundRect">
            <a:avLst>
              <a:gd name="adj" fmla="val 90909"/>
            </a:avLst>
          </a:prstGeom>
          <a:solidFill>
            <a:srgbClr val="2A3823"/>
          </a:solidFill>
          <a:ln w="12700">
            <a:solidFill>
              <a:srgbClr val="C9A66B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6812280" y="2084832"/>
            <a:ext cx="9601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C9A6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</a:t>
            </a:r>
            <a:endParaRPr lang="en-US" sz="1600" dirty="0"/>
          </a:p>
        </p:txBody>
      </p:sp>
      <p:sp>
        <p:nvSpPr>
          <p:cNvPr id="16" name="Shape 14"/>
          <p:cNvSpPr/>
          <p:nvPr/>
        </p:nvSpPr>
        <p:spPr>
          <a:xfrm>
            <a:off x="7946136" y="2084832"/>
            <a:ext cx="960120" cy="502920"/>
          </a:xfrm>
          <a:prstGeom prst="roundRect">
            <a:avLst>
              <a:gd name="adj" fmla="val 90909"/>
            </a:avLst>
          </a:prstGeom>
          <a:solidFill>
            <a:srgbClr val="2A3823"/>
          </a:solidFill>
          <a:ln w="12700">
            <a:solidFill>
              <a:srgbClr val="C9A66B"/>
            </a:solidFill>
            <a:prstDash val="solid"/>
          </a:ln>
        </p:spPr>
      </p:sp>
      <p:sp>
        <p:nvSpPr>
          <p:cNvPr id="17" name="Text 15"/>
          <p:cNvSpPr txBox="1"/>
          <p:nvPr/>
        </p:nvSpPr>
        <p:spPr>
          <a:xfrm>
            <a:off x="7946136" y="2084832"/>
            <a:ext cx="9601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C9A6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−</a:t>
            </a:r>
            <a:endParaRPr lang="en-US" sz="1600" dirty="0"/>
          </a:p>
        </p:txBody>
      </p:sp>
      <p:sp>
        <p:nvSpPr>
          <p:cNvPr id="18" name="Shape 16"/>
          <p:cNvSpPr/>
          <p:nvPr/>
        </p:nvSpPr>
        <p:spPr>
          <a:xfrm>
            <a:off x="9079992" y="2084832"/>
            <a:ext cx="960120" cy="502920"/>
          </a:xfrm>
          <a:prstGeom prst="roundRect">
            <a:avLst>
              <a:gd name="adj" fmla="val 90909"/>
            </a:avLst>
          </a:prstGeom>
          <a:solidFill>
            <a:srgbClr val="2A3823"/>
          </a:solidFill>
          <a:ln w="12700">
            <a:solidFill>
              <a:srgbClr val="C9A66B"/>
            </a:solidFill>
            <a:prstDash val="solid"/>
          </a:ln>
        </p:spPr>
      </p:sp>
      <p:sp>
        <p:nvSpPr>
          <p:cNvPr id="19" name="Text 17"/>
          <p:cNvSpPr txBox="1"/>
          <p:nvPr/>
        </p:nvSpPr>
        <p:spPr>
          <a:xfrm>
            <a:off x="9079992" y="2084832"/>
            <a:ext cx="9601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C9A6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×</a:t>
            </a:r>
            <a:endParaRPr lang="en-US" sz="1600" dirty="0"/>
          </a:p>
        </p:txBody>
      </p:sp>
      <p:sp>
        <p:nvSpPr>
          <p:cNvPr id="20" name="Shape 18"/>
          <p:cNvSpPr/>
          <p:nvPr/>
        </p:nvSpPr>
        <p:spPr>
          <a:xfrm>
            <a:off x="10213848" y="2084832"/>
            <a:ext cx="960120" cy="502920"/>
          </a:xfrm>
          <a:prstGeom prst="roundRect">
            <a:avLst>
              <a:gd name="adj" fmla="val 90909"/>
            </a:avLst>
          </a:prstGeom>
          <a:solidFill>
            <a:srgbClr val="2A3823"/>
          </a:solidFill>
          <a:ln w="12700">
            <a:solidFill>
              <a:srgbClr val="C9A66B"/>
            </a:solidFill>
            <a:prstDash val="solid"/>
          </a:ln>
        </p:spPr>
      </p:sp>
      <p:sp>
        <p:nvSpPr>
          <p:cNvPr id="21" name="Text 19"/>
          <p:cNvSpPr txBox="1"/>
          <p:nvPr/>
        </p:nvSpPr>
        <p:spPr>
          <a:xfrm>
            <a:off x="10213848" y="2084832"/>
            <a:ext cx="9601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C9A6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÷</a:t>
            </a:r>
            <a:endParaRPr lang="en-US" sz="1600" dirty="0"/>
          </a:p>
        </p:txBody>
      </p:sp>
      <p:sp>
        <p:nvSpPr>
          <p:cNvPr id="22" name="Text 20"/>
          <p:cNvSpPr txBox="1"/>
          <p:nvPr/>
        </p:nvSpPr>
        <p:spPr>
          <a:xfrm>
            <a:off x="6812280" y="2761488"/>
            <a:ext cx="45262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15000"/>
              </a:lnSpc>
              <a:buNone/>
            </a:pPr>
            <a:r>
              <a:rPr lang="en-US" sz="1100" dirty="0">
                <a:solidFill>
                  <a:srgbClr val="B7C9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Urutan operasinya sama seperti matematika biasa: kali dan bagi lebih dulu.</a:t>
            </a:r>
            <a:endParaRPr lang="en-US" sz="1100" dirty="0"/>
          </a:p>
        </p:txBody>
      </p:sp>
      <p:sp>
        <p:nvSpPr>
          <p:cNvPr id="23" name="Shape 21"/>
          <p:cNvSpPr/>
          <p:nvPr/>
        </p:nvSpPr>
        <p:spPr>
          <a:xfrm>
            <a:off x="6537960" y="3712464"/>
            <a:ext cx="5074920" cy="2377440"/>
          </a:xfrm>
          <a:prstGeom prst="roundRect">
            <a:avLst>
              <a:gd name="adj" fmla="val 3462"/>
            </a:avLst>
          </a:prstGeom>
          <a:solidFill>
            <a:srgbClr val="2A3823"/>
          </a:solidFill>
          <a:ln w="12700">
            <a:solidFill>
              <a:srgbClr val="3A4C30"/>
            </a:solidFill>
            <a:prstDash val="solid"/>
          </a:ln>
        </p:spPr>
      </p:sp>
      <p:sp>
        <p:nvSpPr>
          <p:cNvPr id="24" name="Text 22"/>
          <p:cNvSpPr txBox="1"/>
          <p:nvPr/>
        </p:nvSpPr>
        <p:spPr>
          <a:xfrm>
            <a:off x="6812280" y="3913632"/>
            <a:ext cx="45262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500" b="1" dirty="0">
                <a:solidFill>
                  <a:srgbClr val="F6F3E7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Perbandingan</a:t>
            </a:r>
            <a:endParaRPr lang="en-US" sz="1500" dirty="0"/>
          </a:p>
        </p:txBody>
      </p:sp>
      <p:sp>
        <p:nvSpPr>
          <p:cNvPr id="25" name="Shape 23"/>
          <p:cNvSpPr/>
          <p:nvPr/>
        </p:nvSpPr>
        <p:spPr>
          <a:xfrm>
            <a:off x="6812280" y="4334256"/>
            <a:ext cx="1325880" cy="502920"/>
          </a:xfrm>
          <a:prstGeom prst="roundRect">
            <a:avLst>
              <a:gd name="adj" fmla="val 90909"/>
            </a:avLst>
          </a:prstGeom>
          <a:solidFill>
            <a:srgbClr val="1A231A"/>
          </a:solidFill>
          <a:ln w="12700">
            <a:solidFill>
              <a:srgbClr val="7C9473"/>
            </a:solidFill>
            <a:prstDash val="solid"/>
          </a:ln>
        </p:spPr>
      </p:sp>
      <p:sp>
        <p:nvSpPr>
          <p:cNvPr id="26" name="Text 24"/>
          <p:cNvSpPr txBox="1"/>
          <p:nvPr/>
        </p:nvSpPr>
        <p:spPr>
          <a:xfrm>
            <a:off x="6812280" y="4334256"/>
            <a:ext cx="13258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C9A6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&gt;</a:t>
            </a:r>
            <a:endParaRPr lang="en-US" sz="1400" dirty="0"/>
          </a:p>
        </p:txBody>
      </p:sp>
      <p:sp>
        <p:nvSpPr>
          <p:cNvPr id="27" name="Shape 25"/>
          <p:cNvSpPr/>
          <p:nvPr/>
        </p:nvSpPr>
        <p:spPr>
          <a:xfrm>
            <a:off x="8348472" y="4334256"/>
            <a:ext cx="1325880" cy="502920"/>
          </a:xfrm>
          <a:prstGeom prst="roundRect">
            <a:avLst>
              <a:gd name="adj" fmla="val 90909"/>
            </a:avLst>
          </a:prstGeom>
          <a:solidFill>
            <a:srgbClr val="1A231A"/>
          </a:solidFill>
          <a:ln w="12700">
            <a:solidFill>
              <a:srgbClr val="7C9473"/>
            </a:solidFill>
            <a:prstDash val="solid"/>
          </a:ln>
        </p:spPr>
      </p:sp>
      <p:sp>
        <p:nvSpPr>
          <p:cNvPr id="28" name="Text 26"/>
          <p:cNvSpPr txBox="1"/>
          <p:nvPr/>
        </p:nvSpPr>
        <p:spPr>
          <a:xfrm>
            <a:off x="8348472" y="4334256"/>
            <a:ext cx="13258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C9A6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&lt;</a:t>
            </a:r>
            <a:endParaRPr lang="en-US" sz="1400" dirty="0"/>
          </a:p>
        </p:txBody>
      </p:sp>
      <p:sp>
        <p:nvSpPr>
          <p:cNvPr id="29" name="Shape 27"/>
          <p:cNvSpPr/>
          <p:nvPr/>
        </p:nvSpPr>
        <p:spPr>
          <a:xfrm>
            <a:off x="9884664" y="4334256"/>
            <a:ext cx="1325880" cy="502920"/>
          </a:xfrm>
          <a:prstGeom prst="roundRect">
            <a:avLst>
              <a:gd name="adj" fmla="val 90909"/>
            </a:avLst>
          </a:prstGeom>
          <a:solidFill>
            <a:srgbClr val="1A231A"/>
          </a:solidFill>
          <a:ln w="12700">
            <a:solidFill>
              <a:srgbClr val="7C9473"/>
            </a:solidFill>
            <a:prstDash val="solid"/>
          </a:ln>
        </p:spPr>
      </p:sp>
      <p:sp>
        <p:nvSpPr>
          <p:cNvPr id="30" name="Text 28"/>
          <p:cNvSpPr txBox="1"/>
          <p:nvPr/>
        </p:nvSpPr>
        <p:spPr>
          <a:xfrm>
            <a:off x="9884664" y="4334256"/>
            <a:ext cx="13258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C9A6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&gt;=</a:t>
            </a:r>
            <a:endParaRPr lang="en-US" sz="1400" dirty="0"/>
          </a:p>
        </p:txBody>
      </p:sp>
      <p:sp>
        <p:nvSpPr>
          <p:cNvPr id="31" name="Shape 29"/>
          <p:cNvSpPr/>
          <p:nvPr/>
        </p:nvSpPr>
        <p:spPr>
          <a:xfrm>
            <a:off x="6812280" y="4974336"/>
            <a:ext cx="1325880" cy="502920"/>
          </a:xfrm>
          <a:prstGeom prst="roundRect">
            <a:avLst>
              <a:gd name="adj" fmla="val 90909"/>
            </a:avLst>
          </a:prstGeom>
          <a:solidFill>
            <a:srgbClr val="1A231A"/>
          </a:solidFill>
          <a:ln w="12700">
            <a:solidFill>
              <a:srgbClr val="7C9473"/>
            </a:solidFill>
            <a:prstDash val="solid"/>
          </a:ln>
        </p:spPr>
      </p:sp>
      <p:sp>
        <p:nvSpPr>
          <p:cNvPr id="32" name="Text 30"/>
          <p:cNvSpPr txBox="1"/>
          <p:nvPr/>
        </p:nvSpPr>
        <p:spPr>
          <a:xfrm>
            <a:off x="6812280" y="4974336"/>
            <a:ext cx="13258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C9A6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&lt;=</a:t>
            </a:r>
            <a:endParaRPr lang="en-US" sz="1400" dirty="0"/>
          </a:p>
        </p:txBody>
      </p:sp>
      <p:sp>
        <p:nvSpPr>
          <p:cNvPr id="33" name="Shape 31"/>
          <p:cNvSpPr/>
          <p:nvPr/>
        </p:nvSpPr>
        <p:spPr>
          <a:xfrm>
            <a:off x="8348472" y="4974336"/>
            <a:ext cx="1325880" cy="502920"/>
          </a:xfrm>
          <a:prstGeom prst="roundRect">
            <a:avLst>
              <a:gd name="adj" fmla="val 90909"/>
            </a:avLst>
          </a:prstGeom>
          <a:solidFill>
            <a:srgbClr val="1A231A"/>
          </a:solidFill>
          <a:ln w="12700">
            <a:solidFill>
              <a:srgbClr val="7C9473"/>
            </a:solidFill>
            <a:prstDash val="solid"/>
          </a:ln>
        </p:spPr>
      </p:sp>
      <p:sp>
        <p:nvSpPr>
          <p:cNvPr id="34" name="Text 32"/>
          <p:cNvSpPr txBox="1"/>
          <p:nvPr/>
        </p:nvSpPr>
        <p:spPr>
          <a:xfrm>
            <a:off x="8348472" y="4974336"/>
            <a:ext cx="13258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C9A6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==</a:t>
            </a:r>
            <a:endParaRPr lang="en-US" sz="1400" dirty="0"/>
          </a:p>
        </p:txBody>
      </p:sp>
      <p:sp>
        <p:nvSpPr>
          <p:cNvPr id="35" name="Shape 33"/>
          <p:cNvSpPr/>
          <p:nvPr/>
        </p:nvSpPr>
        <p:spPr>
          <a:xfrm>
            <a:off x="9884664" y="4974336"/>
            <a:ext cx="1325880" cy="502920"/>
          </a:xfrm>
          <a:prstGeom prst="roundRect">
            <a:avLst>
              <a:gd name="adj" fmla="val 90909"/>
            </a:avLst>
          </a:prstGeom>
          <a:solidFill>
            <a:srgbClr val="1A231A"/>
          </a:solidFill>
          <a:ln w="12700">
            <a:solidFill>
              <a:srgbClr val="7C9473"/>
            </a:solidFill>
            <a:prstDash val="solid"/>
          </a:ln>
        </p:spPr>
      </p:sp>
      <p:sp>
        <p:nvSpPr>
          <p:cNvPr id="36" name="Text 34"/>
          <p:cNvSpPr txBox="1"/>
          <p:nvPr/>
        </p:nvSpPr>
        <p:spPr>
          <a:xfrm>
            <a:off x="9884664" y="4974336"/>
            <a:ext cx="13258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C9A6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!=</a:t>
            </a:r>
            <a:endParaRPr lang="en-US" sz="1400" dirty="0"/>
          </a:p>
        </p:txBody>
      </p:sp>
      <p:sp>
        <p:nvSpPr>
          <p:cNvPr id="37" name="Text 35"/>
          <p:cNvSpPr txBox="1"/>
          <p:nvPr/>
        </p:nvSpPr>
        <p:spPr>
          <a:xfrm>
            <a:off x="6812280" y="5632704"/>
            <a:ext cx="45262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100" dirty="0">
                <a:solidFill>
                  <a:srgbClr val="B7C9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Hasilnya selalu True atau False, bukan angka.</a:t>
            </a:r>
            <a:endParaRPr lang="en-US" sz="1100" dirty="0"/>
          </a:p>
        </p:txBody>
      </p:sp>
      <p:sp>
        <p:nvSpPr>
          <p:cNvPr id="38" name="Text 36"/>
          <p:cNvSpPr txBox="1"/>
          <p:nvPr/>
        </p:nvSpPr>
        <p:spPr>
          <a:xfrm>
            <a:off x="566928" y="6400800"/>
            <a:ext cx="5486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50" dirty="0">
                <a:solidFill>
                  <a:srgbClr val="6F826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Data Analyst UNSIKA  ·  Pertemuan 1</a:t>
            </a:r>
            <a:endParaRPr lang="en-US" sz="850" dirty="0"/>
          </a:p>
        </p:txBody>
      </p:sp>
      <p:sp>
        <p:nvSpPr>
          <p:cNvPr id="39" name="Text 37"/>
          <p:cNvSpPr txBox="1"/>
          <p:nvPr/>
        </p:nvSpPr>
        <p:spPr>
          <a:xfrm>
            <a:off x="10710367" y="6400800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850" b="1" dirty="0">
                <a:solidFill>
                  <a:srgbClr val="C9A6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15</a:t>
            </a:r>
            <a:endParaRPr lang="en-US" sz="85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1A231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66928" y="384048"/>
            <a:ext cx="11057839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950" b="1" kern="0" spc="200" dirty="0">
                <a:solidFill>
                  <a:srgbClr val="7C94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TEORI 9 DARI 11</a:t>
            </a:r>
            <a:endParaRPr lang="en-US" sz="950" dirty="0"/>
          </a:p>
        </p:txBody>
      </p:sp>
      <p:sp>
        <p:nvSpPr>
          <p:cNvPr id="3" name="Text 1"/>
          <p:cNvSpPr txBox="1"/>
          <p:nvPr/>
        </p:nvSpPr>
        <p:spPr>
          <a:xfrm>
            <a:off x="566928" y="640080"/>
            <a:ext cx="11057839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2900" b="1" dirty="0">
                <a:solidFill>
                  <a:srgbClr val="F6F3E7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List: Menyimpan Data Berurutan</a:t>
            </a:r>
            <a:endParaRPr lang="en-US" sz="2900" dirty="0"/>
          </a:p>
        </p:txBody>
      </p:sp>
      <p:sp>
        <p:nvSpPr>
          <p:cNvPr id="4" name="Text 2"/>
          <p:cNvSpPr txBox="1"/>
          <p:nvPr/>
        </p:nvSpPr>
        <p:spPr>
          <a:xfrm>
            <a:off x="566928" y="1408176"/>
            <a:ext cx="56692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25000"/>
              </a:lnSpc>
              <a:buNone/>
            </a:pPr>
            <a:r>
              <a:rPr lang="en-US" sz="1400" dirty="0">
                <a:solidFill>
                  <a:srgbClr val="F6F3E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List dipakai untuk menyimpan sekumpulan data yang urutannya penting, dan biasanya sejenis.</a:t>
            </a:r>
            <a:endParaRPr lang="en-US" sz="1400" dirty="0"/>
          </a:p>
        </p:txBody>
      </p:sp>
      <p:sp>
        <p:nvSpPr>
          <p:cNvPr id="5" name="Shape 3"/>
          <p:cNvSpPr/>
          <p:nvPr/>
        </p:nvSpPr>
        <p:spPr>
          <a:xfrm>
            <a:off x="566928" y="2249424"/>
            <a:ext cx="5669280" cy="1572768"/>
          </a:xfrm>
          <a:prstGeom prst="roundRect">
            <a:avLst>
              <a:gd name="adj" fmla="val 3488"/>
            </a:avLst>
          </a:prstGeom>
          <a:solidFill>
            <a:srgbClr val="0F160F"/>
          </a:solidFill>
          <a:ln w="12700">
            <a:solidFill>
              <a:srgbClr val="3A4C30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768096" y="2395728"/>
            <a:ext cx="5266944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25000"/>
              </a:lnSpc>
              <a:buNone/>
            </a:pPr>
            <a:r>
              <a:rPr lang="en-US" sz="1200" dirty="0">
                <a:solidFill>
                  <a:srgbClr val="DCEFD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kategori = ["Elektronik", "Fashion",
            "Makanan"]
print(kategori[0])   </a:t>
            </a:r>
            <a:r>
              <a:rPr lang="en-US" sz="1200" dirty="0">
                <a:solidFill>
                  <a:srgbClr val="7F947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# "Elektronik"
</a:t>
            </a:r>
            <a:r>
              <a:rPr lang="en-US" sz="1200" dirty="0">
                <a:solidFill>
                  <a:srgbClr val="DCEFD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print(kategori[1])   </a:t>
            </a:r>
            <a:r>
              <a:rPr lang="en-US" sz="1200" dirty="0">
                <a:solidFill>
                  <a:srgbClr val="7F947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# "Fashion"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566928" y="4041648"/>
            <a:ext cx="5669280" cy="1975104"/>
          </a:xfrm>
          <a:prstGeom prst="roundRect">
            <a:avLst>
              <a:gd name="adj" fmla="val 4167"/>
            </a:avLst>
          </a:prstGeom>
          <a:solidFill>
            <a:srgbClr val="2A3823"/>
          </a:solidFill>
          <a:ln w="12700">
            <a:solidFill>
              <a:srgbClr val="3A4C30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841248" y="4352544"/>
            <a:ext cx="548640" cy="548640"/>
          </a:xfrm>
          <a:prstGeom prst="ellipse">
            <a:avLst/>
          </a:prstGeom>
          <a:solidFill>
            <a:srgbClr val="1A231A"/>
          </a:solidFill>
          <a:ln w="12700">
            <a:solidFill>
              <a:srgbClr val="7C9473"/>
            </a:solidFill>
            <a:prstDash val="solid"/>
          </a:ln>
        </p:spPr>
      </p:sp>
      <p:pic>
        <p:nvPicPr>
          <p:cNvPr id="9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23544" y="4434840"/>
            <a:ext cx="384048" cy="384048"/>
          </a:xfrm>
          <a:prstGeom prst="rect">
            <a:avLst/>
          </a:prstGeom>
        </p:spPr>
      </p:pic>
      <p:sp>
        <p:nvSpPr>
          <p:cNvPr id="10" name="Text 7"/>
          <p:cNvSpPr txBox="1"/>
          <p:nvPr/>
        </p:nvSpPr>
        <p:spPr>
          <a:xfrm>
            <a:off x="1536192" y="4370832"/>
            <a:ext cx="4389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300" b="1" dirty="0">
                <a:solidFill>
                  <a:srgbClr val="C9A66B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Analoginya: rak sepatu bernomor</a:t>
            </a:r>
            <a:endParaRPr lang="en-US" sz="1300" dirty="0"/>
          </a:p>
        </p:txBody>
      </p:sp>
      <p:sp>
        <p:nvSpPr>
          <p:cNvPr id="11" name="Text 8"/>
          <p:cNvSpPr txBox="1"/>
          <p:nvPr/>
        </p:nvSpPr>
        <p:spPr>
          <a:xfrm>
            <a:off x="841248" y="5029200"/>
            <a:ext cx="5120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22000"/>
              </a:lnSpc>
              <a:buNone/>
            </a:pPr>
            <a:r>
              <a:rPr lang="en-US" sz="1150" dirty="0">
                <a:solidFill>
                  <a:srgbClr val="B7C9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Rak nomor 0 berisi barang pertama — bukan rak nomor 1. Nomor raknya tetap, isinya yang bisa kita ganti.</a:t>
            </a:r>
            <a:endParaRPr lang="en-US" sz="1150" dirty="0"/>
          </a:p>
        </p:txBody>
      </p:sp>
      <p:sp>
        <p:nvSpPr>
          <p:cNvPr id="12" name="Shape 9"/>
          <p:cNvSpPr/>
          <p:nvPr/>
        </p:nvSpPr>
        <p:spPr>
          <a:xfrm>
            <a:off x="6537960" y="1463040"/>
            <a:ext cx="5074920" cy="1042416"/>
          </a:xfrm>
          <a:prstGeom prst="roundRect">
            <a:avLst>
              <a:gd name="adj" fmla="val 7895"/>
            </a:avLst>
          </a:prstGeom>
          <a:solidFill>
            <a:srgbClr val="22301C"/>
          </a:solidFill>
          <a:ln w="12700">
            <a:solidFill>
              <a:srgbClr val="3A4C30"/>
            </a:solidFill>
            <a:prstDash val="solid"/>
          </a:ln>
        </p:spPr>
      </p:sp>
      <p:sp>
        <p:nvSpPr>
          <p:cNvPr id="13" name="Shape 10"/>
          <p:cNvSpPr/>
          <p:nvPr/>
        </p:nvSpPr>
        <p:spPr>
          <a:xfrm>
            <a:off x="6812280" y="1700784"/>
            <a:ext cx="329184" cy="329184"/>
          </a:xfrm>
          <a:prstGeom prst="ellipse">
            <a:avLst/>
          </a:prstGeom>
          <a:solidFill>
            <a:srgbClr val="C9A66B"/>
          </a:solidFill>
          <a:ln w="12700">
            <a:solidFill>
              <a:srgbClr val="C9A66B"/>
            </a:solidFill>
            <a:prstDash val="solid"/>
          </a:ln>
        </p:spPr>
      </p:sp>
      <p:sp>
        <p:nvSpPr>
          <p:cNvPr id="14" name="Text 11"/>
          <p:cNvSpPr txBox="1"/>
          <p:nvPr/>
        </p:nvSpPr>
        <p:spPr>
          <a:xfrm>
            <a:off x="6812280" y="1700784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50" b="1" dirty="0">
                <a:solidFill>
                  <a:srgbClr val="1A231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1</a:t>
            </a:r>
            <a:endParaRPr lang="en-US" sz="1150" dirty="0"/>
          </a:p>
        </p:txBody>
      </p:sp>
      <p:sp>
        <p:nvSpPr>
          <p:cNvPr id="15" name="Text 12"/>
          <p:cNvSpPr txBox="1"/>
          <p:nvPr/>
        </p:nvSpPr>
        <p:spPr>
          <a:xfrm>
            <a:off x="7260336" y="1682496"/>
            <a:ext cx="4114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300" b="1" dirty="0">
                <a:solidFill>
                  <a:srgbClr val="F6F3E7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Kurung siku</a:t>
            </a:r>
            <a:endParaRPr lang="en-US" sz="1300" dirty="0"/>
          </a:p>
        </p:txBody>
      </p:sp>
      <p:sp>
        <p:nvSpPr>
          <p:cNvPr id="16" name="Text 13"/>
          <p:cNvSpPr txBox="1"/>
          <p:nvPr/>
        </p:nvSpPr>
        <p:spPr>
          <a:xfrm>
            <a:off x="7260336" y="1993392"/>
            <a:ext cx="4114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15000"/>
              </a:lnSpc>
              <a:buNone/>
            </a:pPr>
            <a:r>
              <a:rPr lang="en-US" sz="1100" dirty="0">
                <a:solidFill>
                  <a:srgbClr val="B7C9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List ditulis dengan [ ], tiap item dipisah koma.</a:t>
            </a:r>
            <a:endParaRPr lang="en-US" sz="1100" dirty="0"/>
          </a:p>
        </p:txBody>
      </p:sp>
      <p:sp>
        <p:nvSpPr>
          <p:cNvPr id="17" name="Shape 14"/>
          <p:cNvSpPr/>
          <p:nvPr/>
        </p:nvSpPr>
        <p:spPr>
          <a:xfrm>
            <a:off x="6537960" y="2633472"/>
            <a:ext cx="5074920" cy="1042416"/>
          </a:xfrm>
          <a:prstGeom prst="roundRect">
            <a:avLst>
              <a:gd name="adj" fmla="val 7895"/>
            </a:avLst>
          </a:prstGeom>
          <a:solidFill>
            <a:srgbClr val="22301C"/>
          </a:solidFill>
          <a:ln w="12700">
            <a:solidFill>
              <a:srgbClr val="3A4C30"/>
            </a:solidFill>
            <a:prstDash val="solid"/>
          </a:ln>
        </p:spPr>
      </p:sp>
      <p:sp>
        <p:nvSpPr>
          <p:cNvPr id="18" name="Shape 15"/>
          <p:cNvSpPr/>
          <p:nvPr/>
        </p:nvSpPr>
        <p:spPr>
          <a:xfrm>
            <a:off x="6812280" y="2871216"/>
            <a:ext cx="329184" cy="329184"/>
          </a:xfrm>
          <a:prstGeom prst="ellipse">
            <a:avLst/>
          </a:prstGeom>
          <a:solidFill>
            <a:srgbClr val="C9A66B"/>
          </a:solidFill>
          <a:ln w="12700">
            <a:solidFill>
              <a:srgbClr val="C9A66B"/>
            </a:solidFill>
            <a:prstDash val="solid"/>
          </a:ln>
        </p:spPr>
      </p:sp>
      <p:sp>
        <p:nvSpPr>
          <p:cNvPr id="19" name="Text 16"/>
          <p:cNvSpPr txBox="1"/>
          <p:nvPr/>
        </p:nvSpPr>
        <p:spPr>
          <a:xfrm>
            <a:off x="6812280" y="2871216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50" b="1" dirty="0">
                <a:solidFill>
                  <a:srgbClr val="1A231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2</a:t>
            </a:r>
            <a:endParaRPr lang="en-US" sz="1150" dirty="0"/>
          </a:p>
        </p:txBody>
      </p:sp>
      <p:sp>
        <p:nvSpPr>
          <p:cNvPr id="20" name="Text 17"/>
          <p:cNvSpPr txBox="1"/>
          <p:nvPr/>
        </p:nvSpPr>
        <p:spPr>
          <a:xfrm>
            <a:off x="7260336" y="2852928"/>
            <a:ext cx="4114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300" b="1" dirty="0">
                <a:solidFill>
                  <a:srgbClr val="F6F3E7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Punya index</a:t>
            </a:r>
            <a:endParaRPr lang="en-US" sz="1300" dirty="0"/>
          </a:p>
        </p:txBody>
      </p:sp>
      <p:sp>
        <p:nvSpPr>
          <p:cNvPr id="21" name="Text 18"/>
          <p:cNvSpPr txBox="1"/>
          <p:nvPr/>
        </p:nvSpPr>
        <p:spPr>
          <a:xfrm>
            <a:off x="7260336" y="3163824"/>
            <a:ext cx="4114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15000"/>
              </a:lnSpc>
              <a:buNone/>
            </a:pPr>
            <a:r>
              <a:rPr lang="en-US" sz="1100" dirty="0">
                <a:solidFill>
                  <a:srgbClr val="B7C9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Tiap item punya posisi/index, dimulai dari 0 — bukan 1.</a:t>
            </a:r>
            <a:endParaRPr lang="en-US" sz="1100" dirty="0"/>
          </a:p>
        </p:txBody>
      </p:sp>
      <p:sp>
        <p:nvSpPr>
          <p:cNvPr id="22" name="Shape 19"/>
          <p:cNvSpPr/>
          <p:nvPr/>
        </p:nvSpPr>
        <p:spPr>
          <a:xfrm>
            <a:off x="6537960" y="3803904"/>
            <a:ext cx="5074920" cy="1042416"/>
          </a:xfrm>
          <a:prstGeom prst="roundRect">
            <a:avLst>
              <a:gd name="adj" fmla="val 7895"/>
            </a:avLst>
          </a:prstGeom>
          <a:solidFill>
            <a:srgbClr val="22301C"/>
          </a:solidFill>
          <a:ln w="12700">
            <a:solidFill>
              <a:srgbClr val="3A4C30"/>
            </a:solidFill>
            <a:prstDash val="solid"/>
          </a:ln>
        </p:spPr>
      </p:sp>
      <p:sp>
        <p:nvSpPr>
          <p:cNvPr id="23" name="Shape 20"/>
          <p:cNvSpPr/>
          <p:nvPr/>
        </p:nvSpPr>
        <p:spPr>
          <a:xfrm>
            <a:off x="6812280" y="4041648"/>
            <a:ext cx="329184" cy="329184"/>
          </a:xfrm>
          <a:prstGeom prst="ellipse">
            <a:avLst/>
          </a:prstGeom>
          <a:solidFill>
            <a:srgbClr val="C9A66B"/>
          </a:solidFill>
          <a:ln w="12700">
            <a:solidFill>
              <a:srgbClr val="C9A66B"/>
            </a:solidFill>
            <a:prstDash val="solid"/>
          </a:ln>
        </p:spPr>
      </p:sp>
      <p:sp>
        <p:nvSpPr>
          <p:cNvPr id="24" name="Text 21"/>
          <p:cNvSpPr txBox="1"/>
          <p:nvPr/>
        </p:nvSpPr>
        <p:spPr>
          <a:xfrm>
            <a:off x="6812280" y="4041648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50" b="1" dirty="0">
                <a:solidFill>
                  <a:srgbClr val="1A231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3</a:t>
            </a:r>
            <a:endParaRPr lang="en-US" sz="1150" dirty="0"/>
          </a:p>
        </p:txBody>
      </p:sp>
      <p:sp>
        <p:nvSpPr>
          <p:cNvPr id="25" name="Text 22"/>
          <p:cNvSpPr txBox="1"/>
          <p:nvPr/>
        </p:nvSpPr>
        <p:spPr>
          <a:xfrm>
            <a:off x="7260336" y="4023360"/>
            <a:ext cx="4114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300" b="1" dirty="0">
                <a:solidFill>
                  <a:srgbClr val="F6F3E7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Urutan dijaga</a:t>
            </a:r>
            <a:endParaRPr lang="en-US" sz="1300" dirty="0"/>
          </a:p>
        </p:txBody>
      </p:sp>
      <p:sp>
        <p:nvSpPr>
          <p:cNvPr id="26" name="Text 23"/>
          <p:cNvSpPr txBox="1"/>
          <p:nvPr/>
        </p:nvSpPr>
        <p:spPr>
          <a:xfrm>
            <a:off x="7260336" y="4334256"/>
            <a:ext cx="4114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15000"/>
              </a:lnSpc>
              <a:buNone/>
            </a:pPr>
            <a:r>
              <a:rPr lang="en-US" sz="1100" dirty="0">
                <a:solidFill>
                  <a:srgbClr val="B7C9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Item tetap berada di urutan yang sama sampai kita ubah sendiri.</a:t>
            </a:r>
            <a:endParaRPr lang="en-US" sz="1100" dirty="0"/>
          </a:p>
        </p:txBody>
      </p:sp>
      <p:sp>
        <p:nvSpPr>
          <p:cNvPr id="27" name="Shape 24"/>
          <p:cNvSpPr/>
          <p:nvPr/>
        </p:nvSpPr>
        <p:spPr>
          <a:xfrm>
            <a:off x="6537960" y="4974336"/>
            <a:ext cx="5074920" cy="1042416"/>
          </a:xfrm>
          <a:prstGeom prst="roundRect">
            <a:avLst>
              <a:gd name="adj" fmla="val 7895"/>
            </a:avLst>
          </a:prstGeom>
          <a:solidFill>
            <a:srgbClr val="22301C"/>
          </a:solidFill>
          <a:ln w="12700">
            <a:solidFill>
              <a:srgbClr val="3A4C30"/>
            </a:solidFill>
            <a:prstDash val="solid"/>
          </a:ln>
        </p:spPr>
      </p:sp>
      <p:sp>
        <p:nvSpPr>
          <p:cNvPr id="28" name="Shape 25"/>
          <p:cNvSpPr/>
          <p:nvPr/>
        </p:nvSpPr>
        <p:spPr>
          <a:xfrm>
            <a:off x="6812280" y="5212080"/>
            <a:ext cx="329184" cy="329184"/>
          </a:xfrm>
          <a:prstGeom prst="ellipse">
            <a:avLst/>
          </a:prstGeom>
          <a:solidFill>
            <a:srgbClr val="C9A66B"/>
          </a:solidFill>
          <a:ln w="12700">
            <a:solidFill>
              <a:srgbClr val="C9A66B"/>
            </a:solidFill>
            <a:prstDash val="solid"/>
          </a:ln>
        </p:spPr>
      </p:sp>
      <p:sp>
        <p:nvSpPr>
          <p:cNvPr id="29" name="Text 26"/>
          <p:cNvSpPr txBox="1"/>
          <p:nvPr/>
        </p:nvSpPr>
        <p:spPr>
          <a:xfrm>
            <a:off x="6812280" y="5212080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50" b="1" dirty="0">
                <a:solidFill>
                  <a:srgbClr val="1A231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4</a:t>
            </a:r>
            <a:endParaRPr lang="en-US" sz="1150" dirty="0"/>
          </a:p>
        </p:txBody>
      </p:sp>
      <p:sp>
        <p:nvSpPr>
          <p:cNvPr id="30" name="Text 27"/>
          <p:cNvSpPr txBox="1"/>
          <p:nvPr/>
        </p:nvSpPr>
        <p:spPr>
          <a:xfrm>
            <a:off x="7260336" y="5193792"/>
            <a:ext cx="4114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300" b="1" dirty="0">
                <a:solidFill>
                  <a:srgbClr val="F6F3E7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Error paling umum</a:t>
            </a:r>
            <a:endParaRPr lang="en-US" sz="1300" dirty="0"/>
          </a:p>
        </p:txBody>
      </p:sp>
      <p:sp>
        <p:nvSpPr>
          <p:cNvPr id="31" name="Text 28"/>
          <p:cNvSpPr txBox="1"/>
          <p:nvPr/>
        </p:nvSpPr>
        <p:spPr>
          <a:xfrm>
            <a:off x="7260336" y="5504688"/>
            <a:ext cx="4114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15000"/>
              </a:lnSpc>
              <a:buNone/>
            </a:pPr>
            <a:r>
              <a:rPr lang="en-US" sz="1100" dirty="0">
                <a:solidFill>
                  <a:srgbClr val="B7C9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IndexError muncul kalau index yang diminta melebihi jumlah item.</a:t>
            </a:r>
            <a:endParaRPr lang="en-US" sz="1100" dirty="0"/>
          </a:p>
        </p:txBody>
      </p:sp>
      <p:sp>
        <p:nvSpPr>
          <p:cNvPr id="32" name="Text 29"/>
          <p:cNvSpPr txBox="1"/>
          <p:nvPr/>
        </p:nvSpPr>
        <p:spPr>
          <a:xfrm>
            <a:off x="566928" y="6400800"/>
            <a:ext cx="5486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50" dirty="0">
                <a:solidFill>
                  <a:srgbClr val="6F826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Data Analyst UNSIKA  ·  Pertemuan 1</a:t>
            </a:r>
            <a:endParaRPr lang="en-US" sz="850" dirty="0"/>
          </a:p>
        </p:txBody>
      </p:sp>
      <p:sp>
        <p:nvSpPr>
          <p:cNvPr id="33" name="Text 30"/>
          <p:cNvSpPr txBox="1"/>
          <p:nvPr/>
        </p:nvSpPr>
        <p:spPr>
          <a:xfrm>
            <a:off x="10710367" y="6400800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850" b="1" dirty="0">
                <a:solidFill>
                  <a:srgbClr val="C9A6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16</a:t>
            </a:r>
            <a:endParaRPr lang="en-US" sz="85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1A231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66928" y="384048"/>
            <a:ext cx="11057839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950" b="1" kern="0" spc="200" dirty="0">
                <a:solidFill>
                  <a:srgbClr val="7C94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TEORI 9 DARI 11</a:t>
            </a:r>
            <a:endParaRPr lang="en-US" sz="950" dirty="0"/>
          </a:p>
        </p:txBody>
      </p:sp>
      <p:sp>
        <p:nvSpPr>
          <p:cNvPr id="3" name="Text 1"/>
          <p:cNvSpPr txBox="1"/>
          <p:nvPr/>
        </p:nvSpPr>
        <p:spPr>
          <a:xfrm>
            <a:off x="566928" y="640080"/>
            <a:ext cx="11057839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2900" b="1" dirty="0">
                <a:solidFill>
                  <a:srgbClr val="F6F3E7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Index Dimulai dari Nol</a:t>
            </a:r>
            <a:endParaRPr lang="en-US" sz="2900" dirty="0"/>
          </a:p>
        </p:txBody>
      </p:sp>
      <p:sp>
        <p:nvSpPr>
          <p:cNvPr id="4" name="Shape 2"/>
          <p:cNvSpPr/>
          <p:nvPr/>
        </p:nvSpPr>
        <p:spPr>
          <a:xfrm>
            <a:off x="2148840" y="1371600"/>
            <a:ext cx="7909560" cy="713232"/>
          </a:xfrm>
          <a:prstGeom prst="roundRect">
            <a:avLst>
              <a:gd name="adj" fmla="val 7692"/>
            </a:avLst>
          </a:prstGeom>
          <a:solidFill>
            <a:srgbClr val="0F160F"/>
          </a:solidFill>
          <a:ln w="12700">
            <a:solidFill>
              <a:srgbClr val="3A4C30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2350008" y="1517904"/>
            <a:ext cx="75072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25000"/>
              </a:lnSpc>
              <a:buNone/>
            </a:pPr>
            <a:r>
              <a:rPr lang="en-US" sz="1350" dirty="0">
                <a:solidFill>
                  <a:srgbClr val="DCEFD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kategori = ["Elektronik", "Fashion", "Makanan"]</a:t>
            </a:r>
            <a:endParaRPr lang="en-US" sz="1350" dirty="0"/>
          </a:p>
        </p:txBody>
      </p:sp>
      <p:sp>
        <p:nvSpPr>
          <p:cNvPr id="6" name="Shape 4"/>
          <p:cNvSpPr/>
          <p:nvPr/>
        </p:nvSpPr>
        <p:spPr>
          <a:xfrm>
            <a:off x="1523848" y="2889504"/>
            <a:ext cx="2743200" cy="1280160"/>
          </a:xfrm>
          <a:prstGeom prst="roundRect">
            <a:avLst>
              <a:gd name="adj" fmla="val 6429"/>
            </a:avLst>
          </a:prstGeom>
          <a:solidFill>
            <a:srgbClr val="22301C"/>
          </a:solidFill>
          <a:ln w="12700">
            <a:solidFill>
              <a:srgbClr val="3A4C30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633576" y="3346704"/>
            <a:ext cx="252374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F6F3E7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Elektronik</a:t>
            </a:r>
            <a:endParaRPr lang="en-US" sz="1600" dirty="0"/>
          </a:p>
        </p:txBody>
      </p:sp>
      <p:sp>
        <p:nvSpPr>
          <p:cNvPr id="8" name="Shape 6"/>
          <p:cNvSpPr/>
          <p:nvPr/>
        </p:nvSpPr>
        <p:spPr>
          <a:xfrm>
            <a:off x="2657704" y="2286000"/>
            <a:ext cx="475488" cy="475488"/>
          </a:xfrm>
          <a:prstGeom prst="ellipse">
            <a:avLst/>
          </a:prstGeom>
          <a:solidFill>
            <a:srgbClr val="C9A66B"/>
          </a:solidFill>
          <a:ln w="12700">
            <a:solidFill>
              <a:srgbClr val="C9A66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2657704" y="2286000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1A231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0</a:t>
            </a:r>
            <a:endParaRPr lang="en-US" sz="1500" dirty="0"/>
          </a:p>
        </p:txBody>
      </p:sp>
      <p:sp>
        <p:nvSpPr>
          <p:cNvPr id="10" name="Text 8"/>
          <p:cNvSpPr txBox="1"/>
          <p:nvPr/>
        </p:nvSpPr>
        <p:spPr>
          <a:xfrm>
            <a:off x="1633576" y="4480560"/>
            <a:ext cx="252374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7C94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index 0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4724248" y="2889504"/>
            <a:ext cx="2743200" cy="1280160"/>
          </a:xfrm>
          <a:prstGeom prst="roundRect">
            <a:avLst>
              <a:gd name="adj" fmla="val 6429"/>
            </a:avLst>
          </a:prstGeom>
          <a:solidFill>
            <a:srgbClr val="2A3823"/>
          </a:solidFill>
          <a:ln w="12700">
            <a:solidFill>
              <a:srgbClr val="3A4C30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4833976" y="3346704"/>
            <a:ext cx="252374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C9A66B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Fashion</a:t>
            </a:r>
            <a:endParaRPr lang="en-US" sz="1600" dirty="0"/>
          </a:p>
        </p:txBody>
      </p:sp>
      <p:sp>
        <p:nvSpPr>
          <p:cNvPr id="13" name="Shape 11"/>
          <p:cNvSpPr/>
          <p:nvPr/>
        </p:nvSpPr>
        <p:spPr>
          <a:xfrm>
            <a:off x="5858104" y="2286000"/>
            <a:ext cx="475488" cy="475488"/>
          </a:xfrm>
          <a:prstGeom prst="ellipse">
            <a:avLst/>
          </a:prstGeom>
          <a:solidFill>
            <a:srgbClr val="C9A66B"/>
          </a:solidFill>
          <a:ln w="12700">
            <a:solidFill>
              <a:srgbClr val="C9A66B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5858104" y="2286000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1A231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1</a:t>
            </a:r>
            <a:endParaRPr lang="en-US" sz="1500" dirty="0"/>
          </a:p>
        </p:txBody>
      </p:sp>
      <p:sp>
        <p:nvSpPr>
          <p:cNvPr id="15" name="Text 13"/>
          <p:cNvSpPr txBox="1"/>
          <p:nvPr/>
        </p:nvSpPr>
        <p:spPr>
          <a:xfrm>
            <a:off x="4833976" y="4480560"/>
            <a:ext cx="252374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7C94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index 1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7924648" y="2889504"/>
            <a:ext cx="2743200" cy="1280160"/>
          </a:xfrm>
          <a:prstGeom prst="roundRect">
            <a:avLst>
              <a:gd name="adj" fmla="val 6429"/>
            </a:avLst>
          </a:prstGeom>
          <a:solidFill>
            <a:srgbClr val="22301C"/>
          </a:solidFill>
          <a:ln w="12700">
            <a:solidFill>
              <a:srgbClr val="3A4C30"/>
            </a:solidFill>
            <a:prstDash val="solid"/>
          </a:ln>
        </p:spPr>
      </p:sp>
      <p:sp>
        <p:nvSpPr>
          <p:cNvPr id="17" name="Text 15"/>
          <p:cNvSpPr txBox="1"/>
          <p:nvPr/>
        </p:nvSpPr>
        <p:spPr>
          <a:xfrm>
            <a:off x="8034376" y="3346704"/>
            <a:ext cx="252374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F6F3E7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Makanan</a:t>
            </a:r>
            <a:endParaRPr lang="en-US" sz="1600" dirty="0"/>
          </a:p>
        </p:txBody>
      </p:sp>
      <p:sp>
        <p:nvSpPr>
          <p:cNvPr id="18" name="Shape 16"/>
          <p:cNvSpPr/>
          <p:nvPr/>
        </p:nvSpPr>
        <p:spPr>
          <a:xfrm>
            <a:off x="9058504" y="2286000"/>
            <a:ext cx="475488" cy="475488"/>
          </a:xfrm>
          <a:prstGeom prst="ellipse">
            <a:avLst/>
          </a:prstGeom>
          <a:solidFill>
            <a:srgbClr val="C9A66B"/>
          </a:solidFill>
          <a:ln w="12700">
            <a:solidFill>
              <a:srgbClr val="C9A66B"/>
            </a:solidFill>
            <a:prstDash val="solid"/>
          </a:ln>
        </p:spPr>
      </p:sp>
      <p:sp>
        <p:nvSpPr>
          <p:cNvPr id="19" name="Text 17"/>
          <p:cNvSpPr txBox="1"/>
          <p:nvPr/>
        </p:nvSpPr>
        <p:spPr>
          <a:xfrm>
            <a:off x="9058504" y="2286000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1A231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2</a:t>
            </a:r>
            <a:endParaRPr lang="en-US" sz="1500" dirty="0"/>
          </a:p>
        </p:txBody>
      </p:sp>
      <p:sp>
        <p:nvSpPr>
          <p:cNvPr id="20" name="Text 18"/>
          <p:cNvSpPr txBox="1"/>
          <p:nvPr/>
        </p:nvSpPr>
        <p:spPr>
          <a:xfrm>
            <a:off x="8034376" y="4480560"/>
            <a:ext cx="252374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7C94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index 2</a:t>
            </a:r>
            <a:endParaRPr lang="en-US" sz="1100" dirty="0"/>
          </a:p>
        </p:txBody>
      </p:sp>
      <p:sp>
        <p:nvSpPr>
          <p:cNvPr id="21" name="Shape 19"/>
          <p:cNvSpPr/>
          <p:nvPr/>
        </p:nvSpPr>
        <p:spPr>
          <a:xfrm>
            <a:off x="1340968" y="4242816"/>
            <a:ext cx="9509760" cy="118872"/>
          </a:xfrm>
          <a:prstGeom prst="roundRect">
            <a:avLst>
              <a:gd name="adj" fmla="val 46154"/>
            </a:avLst>
          </a:prstGeom>
          <a:solidFill>
            <a:srgbClr val="7C9473"/>
          </a:solidFill>
          <a:ln w="12700">
            <a:solidFill>
              <a:srgbClr val="7C9473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566928" y="5047488"/>
            <a:ext cx="11057839" cy="1152144"/>
          </a:xfrm>
          <a:prstGeom prst="roundRect">
            <a:avLst>
              <a:gd name="adj" fmla="val 7143"/>
            </a:avLst>
          </a:prstGeom>
          <a:solidFill>
            <a:srgbClr val="2A3823"/>
          </a:solidFill>
          <a:ln w="12700">
            <a:solidFill>
              <a:srgbClr val="3A4C30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877824" y="5303520"/>
            <a:ext cx="548640" cy="548640"/>
          </a:xfrm>
          <a:prstGeom prst="ellipse">
            <a:avLst/>
          </a:prstGeom>
          <a:solidFill>
            <a:srgbClr val="1A231A"/>
          </a:solidFill>
          <a:ln w="12700">
            <a:solidFill>
              <a:srgbClr val="E0A07A"/>
            </a:solidFill>
            <a:prstDash val="solid"/>
          </a:ln>
        </p:spPr>
      </p:sp>
      <p:pic>
        <p:nvPicPr>
          <p:cNvPr id="24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60120" y="5385816"/>
            <a:ext cx="384048" cy="384048"/>
          </a:xfrm>
          <a:prstGeom prst="rect">
            <a:avLst/>
          </a:prstGeom>
        </p:spPr>
      </p:pic>
      <p:sp>
        <p:nvSpPr>
          <p:cNvPr id="25" name="Text 22"/>
          <p:cNvSpPr txBox="1"/>
          <p:nvPr/>
        </p:nvSpPr>
        <p:spPr>
          <a:xfrm>
            <a:off x="1609344" y="5303520"/>
            <a:ext cx="9692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400" b="1" dirty="0">
                <a:solidFill>
                  <a:srgbClr val="C9A66B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kategori[1] berisi “Fashion”, bukan “Elektronik”</a:t>
            </a:r>
            <a:endParaRPr lang="en-US" sz="1400" dirty="0"/>
          </a:p>
        </p:txBody>
      </p:sp>
      <p:sp>
        <p:nvSpPr>
          <p:cNvPr id="26" name="Text 23"/>
          <p:cNvSpPr txBox="1"/>
          <p:nvPr/>
        </p:nvSpPr>
        <p:spPr>
          <a:xfrm>
            <a:off x="1609344" y="5650992"/>
            <a:ext cx="96926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200" dirty="0">
                <a:solidFill>
                  <a:srgbClr val="B7C9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Ini sumber kebingungan paling umum di minggu pertama. Item pertama selalu ada di index 0.</a:t>
            </a:r>
            <a:endParaRPr lang="en-US" sz="1200" dirty="0"/>
          </a:p>
        </p:txBody>
      </p:sp>
      <p:sp>
        <p:nvSpPr>
          <p:cNvPr id="27" name="Text 24"/>
          <p:cNvSpPr txBox="1"/>
          <p:nvPr/>
        </p:nvSpPr>
        <p:spPr>
          <a:xfrm>
            <a:off x="566928" y="6400800"/>
            <a:ext cx="5486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50" dirty="0">
                <a:solidFill>
                  <a:srgbClr val="6F826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Data Analyst UNSIKA  ·  Pertemuan 1</a:t>
            </a:r>
            <a:endParaRPr lang="en-US" sz="850" dirty="0"/>
          </a:p>
        </p:txBody>
      </p:sp>
      <p:sp>
        <p:nvSpPr>
          <p:cNvPr id="28" name="Text 25"/>
          <p:cNvSpPr txBox="1"/>
          <p:nvPr/>
        </p:nvSpPr>
        <p:spPr>
          <a:xfrm>
            <a:off x="10710367" y="6400800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850" b="1" dirty="0">
                <a:solidFill>
                  <a:srgbClr val="C9A6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17</a:t>
            </a:r>
            <a:endParaRPr lang="en-US" sz="85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1A231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66928" y="384048"/>
            <a:ext cx="11057839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950" b="1" kern="0" spc="200" dirty="0">
                <a:solidFill>
                  <a:srgbClr val="7C94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TEORI 10 DARI 11</a:t>
            </a:r>
            <a:endParaRPr lang="en-US" sz="950" dirty="0"/>
          </a:p>
        </p:txBody>
      </p:sp>
      <p:sp>
        <p:nvSpPr>
          <p:cNvPr id="3" name="Text 1"/>
          <p:cNvSpPr txBox="1"/>
          <p:nvPr/>
        </p:nvSpPr>
        <p:spPr>
          <a:xfrm>
            <a:off x="566928" y="640080"/>
            <a:ext cx="11057839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2900" b="1" dirty="0">
                <a:solidFill>
                  <a:srgbClr val="F6F3E7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Dictionary: Menyimpan Data Berpasangan</a:t>
            </a:r>
            <a:endParaRPr lang="en-US" sz="2900" dirty="0"/>
          </a:p>
        </p:txBody>
      </p:sp>
      <p:sp>
        <p:nvSpPr>
          <p:cNvPr id="4" name="Text 2"/>
          <p:cNvSpPr txBox="1"/>
          <p:nvPr/>
        </p:nvSpPr>
        <p:spPr>
          <a:xfrm>
            <a:off x="566928" y="1408176"/>
            <a:ext cx="56692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25000"/>
              </a:lnSpc>
              <a:buNone/>
            </a:pPr>
            <a:r>
              <a:rPr lang="en-US" sz="1400" dirty="0">
                <a:solidFill>
                  <a:srgbClr val="F6F3E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Dictionary dipakai saat setiap nilai punya nama/label sendiri — disebut key — bukan sekadar urutan.</a:t>
            </a:r>
            <a:endParaRPr lang="en-US" sz="1400" dirty="0"/>
          </a:p>
        </p:txBody>
      </p:sp>
      <p:sp>
        <p:nvSpPr>
          <p:cNvPr id="5" name="Shape 3"/>
          <p:cNvSpPr/>
          <p:nvPr/>
        </p:nvSpPr>
        <p:spPr>
          <a:xfrm>
            <a:off x="566928" y="2249424"/>
            <a:ext cx="5669280" cy="1664208"/>
          </a:xfrm>
          <a:prstGeom prst="roundRect">
            <a:avLst>
              <a:gd name="adj" fmla="val 3297"/>
            </a:avLst>
          </a:prstGeom>
          <a:solidFill>
            <a:srgbClr val="0F160F"/>
          </a:solidFill>
          <a:ln w="12700">
            <a:solidFill>
              <a:srgbClr val="3A4C30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768096" y="2395728"/>
            <a:ext cx="5266944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25000"/>
              </a:lnSpc>
              <a:buNone/>
            </a:pPr>
            <a:r>
              <a:rPr lang="en-US" sz="1200" dirty="0">
                <a:solidFill>
                  <a:srgbClr val="DCEFD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produk = {"nama": "Headset",
          "harga": 250000,
          "stok": 12}
print(produk["nama"])    </a:t>
            </a:r>
            <a:r>
              <a:rPr lang="en-US" sz="1200" dirty="0">
                <a:solidFill>
                  <a:srgbClr val="7F947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# "Headset"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566928" y="4114800"/>
            <a:ext cx="5669280" cy="1901952"/>
          </a:xfrm>
          <a:prstGeom prst="roundRect">
            <a:avLst>
              <a:gd name="adj" fmla="val 4327"/>
            </a:avLst>
          </a:prstGeom>
          <a:solidFill>
            <a:srgbClr val="2A3823"/>
          </a:solidFill>
          <a:ln w="12700">
            <a:solidFill>
              <a:srgbClr val="3A4C30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841248" y="4425696"/>
            <a:ext cx="548640" cy="548640"/>
          </a:xfrm>
          <a:prstGeom prst="ellipse">
            <a:avLst/>
          </a:prstGeom>
          <a:solidFill>
            <a:srgbClr val="1A231A"/>
          </a:solidFill>
          <a:ln w="12700">
            <a:solidFill>
              <a:srgbClr val="7C9473"/>
            </a:solidFill>
            <a:prstDash val="solid"/>
          </a:ln>
        </p:spPr>
      </p:sp>
      <p:pic>
        <p:nvPicPr>
          <p:cNvPr id="9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23544" y="4507992"/>
            <a:ext cx="384048" cy="384048"/>
          </a:xfrm>
          <a:prstGeom prst="rect">
            <a:avLst/>
          </a:prstGeom>
        </p:spPr>
      </p:pic>
      <p:sp>
        <p:nvSpPr>
          <p:cNvPr id="10" name="Text 7"/>
          <p:cNvSpPr txBox="1"/>
          <p:nvPr/>
        </p:nvSpPr>
        <p:spPr>
          <a:xfrm>
            <a:off x="1536192" y="4443984"/>
            <a:ext cx="4389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300" b="1" dirty="0">
                <a:solidFill>
                  <a:srgbClr val="C9A66B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Analoginya: KTP</a:t>
            </a:r>
            <a:endParaRPr lang="en-US" sz="1300" dirty="0"/>
          </a:p>
        </p:txBody>
      </p:sp>
      <p:sp>
        <p:nvSpPr>
          <p:cNvPr id="11" name="Text 8"/>
          <p:cNvSpPr txBox="1"/>
          <p:nvPr/>
        </p:nvSpPr>
        <p:spPr>
          <a:xfrm>
            <a:off x="841248" y="5102352"/>
            <a:ext cx="51206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20000"/>
              </a:lnSpc>
              <a:buNone/>
            </a:pPr>
            <a:r>
              <a:rPr lang="en-US" sz="1150" dirty="0">
                <a:solidFill>
                  <a:srgbClr val="B7C9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Tiap kolom punya label jelas (“Nama”, “Alamat”). Datanya diambil lewat label itu, bukan lewat urutan kolom ke berapa.</a:t>
            </a:r>
            <a:endParaRPr lang="en-US" sz="1150" dirty="0"/>
          </a:p>
        </p:txBody>
      </p:sp>
      <p:sp>
        <p:nvSpPr>
          <p:cNvPr id="12" name="Shape 9"/>
          <p:cNvSpPr/>
          <p:nvPr/>
        </p:nvSpPr>
        <p:spPr>
          <a:xfrm>
            <a:off x="6537960" y="1463040"/>
            <a:ext cx="5074920" cy="3218688"/>
          </a:xfrm>
          <a:prstGeom prst="roundRect">
            <a:avLst>
              <a:gd name="adj" fmla="val 2557"/>
            </a:avLst>
          </a:prstGeom>
          <a:solidFill>
            <a:srgbClr val="22301C"/>
          </a:solidFill>
          <a:ln w="12700">
            <a:solidFill>
              <a:srgbClr val="3A4C30"/>
            </a:solidFill>
            <a:prstDash val="solid"/>
          </a:ln>
        </p:spPr>
      </p:sp>
      <p:sp>
        <p:nvSpPr>
          <p:cNvPr id="13" name="Text 10"/>
          <p:cNvSpPr txBox="1"/>
          <p:nvPr/>
        </p:nvSpPr>
        <p:spPr>
          <a:xfrm>
            <a:off x="6812280" y="1682496"/>
            <a:ext cx="452628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900" b="1" kern="0" spc="180" dirty="0">
                <a:solidFill>
                  <a:srgbClr val="C9A6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SATU DATA PRODUK</a:t>
            </a:r>
            <a:endParaRPr lang="en-US" sz="900" dirty="0"/>
          </a:p>
        </p:txBody>
      </p:sp>
      <p:sp>
        <p:nvSpPr>
          <p:cNvPr id="14" name="Shape 11"/>
          <p:cNvSpPr/>
          <p:nvPr/>
        </p:nvSpPr>
        <p:spPr>
          <a:xfrm>
            <a:off x="6812280" y="2103120"/>
            <a:ext cx="4526280" cy="585216"/>
          </a:xfrm>
          <a:prstGeom prst="roundRect">
            <a:avLst>
              <a:gd name="adj" fmla="val 7813"/>
            </a:avLst>
          </a:prstGeom>
          <a:solidFill>
            <a:srgbClr val="1A231A"/>
          </a:solidFill>
          <a:ln w="12700">
            <a:solidFill>
              <a:srgbClr val="3A4C30"/>
            </a:solidFill>
            <a:prstDash val="solid"/>
          </a:ln>
        </p:spPr>
      </p:sp>
      <p:sp>
        <p:nvSpPr>
          <p:cNvPr id="15" name="Text 12"/>
          <p:cNvSpPr txBox="1"/>
          <p:nvPr/>
        </p:nvSpPr>
        <p:spPr>
          <a:xfrm>
            <a:off x="6995160" y="2267712"/>
            <a:ext cx="14630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200" b="1" dirty="0">
                <a:solidFill>
                  <a:srgbClr val="7C947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nama</a:t>
            </a:r>
            <a:endParaRPr lang="en-US" sz="1200" dirty="0"/>
          </a:p>
        </p:txBody>
      </p:sp>
      <p:sp>
        <p:nvSpPr>
          <p:cNvPr id="16" name="Text 13"/>
          <p:cNvSpPr txBox="1"/>
          <p:nvPr/>
        </p:nvSpPr>
        <p:spPr>
          <a:xfrm>
            <a:off x="8503920" y="2267712"/>
            <a:ext cx="1828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200" dirty="0">
                <a:solidFill>
                  <a:srgbClr val="B7C9A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:</a:t>
            </a:r>
            <a:endParaRPr lang="en-US" sz="1200" dirty="0"/>
          </a:p>
        </p:txBody>
      </p:sp>
      <p:sp>
        <p:nvSpPr>
          <p:cNvPr id="17" name="Text 14"/>
          <p:cNvSpPr txBox="1"/>
          <p:nvPr/>
        </p:nvSpPr>
        <p:spPr>
          <a:xfrm>
            <a:off x="8732520" y="2267712"/>
            <a:ext cx="24688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200" dirty="0">
                <a:solidFill>
                  <a:srgbClr val="DCEFD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"Headset"</a:t>
            </a:r>
            <a:endParaRPr lang="en-US" sz="1200" dirty="0"/>
          </a:p>
        </p:txBody>
      </p:sp>
      <p:sp>
        <p:nvSpPr>
          <p:cNvPr id="18" name="Shape 15"/>
          <p:cNvSpPr/>
          <p:nvPr/>
        </p:nvSpPr>
        <p:spPr>
          <a:xfrm>
            <a:off x="6812280" y="2852928"/>
            <a:ext cx="4526280" cy="585216"/>
          </a:xfrm>
          <a:prstGeom prst="roundRect">
            <a:avLst>
              <a:gd name="adj" fmla="val 7813"/>
            </a:avLst>
          </a:prstGeom>
          <a:solidFill>
            <a:srgbClr val="1A231A"/>
          </a:solidFill>
          <a:ln w="12700">
            <a:solidFill>
              <a:srgbClr val="3A4C30"/>
            </a:solidFill>
            <a:prstDash val="solid"/>
          </a:ln>
        </p:spPr>
      </p:sp>
      <p:sp>
        <p:nvSpPr>
          <p:cNvPr id="19" name="Text 16"/>
          <p:cNvSpPr txBox="1"/>
          <p:nvPr/>
        </p:nvSpPr>
        <p:spPr>
          <a:xfrm>
            <a:off x="6995160" y="3017520"/>
            <a:ext cx="14630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200" b="1" dirty="0">
                <a:solidFill>
                  <a:srgbClr val="7C947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harga</a:t>
            </a:r>
            <a:endParaRPr lang="en-US" sz="1200" dirty="0"/>
          </a:p>
        </p:txBody>
      </p:sp>
      <p:sp>
        <p:nvSpPr>
          <p:cNvPr id="20" name="Text 17"/>
          <p:cNvSpPr txBox="1"/>
          <p:nvPr/>
        </p:nvSpPr>
        <p:spPr>
          <a:xfrm>
            <a:off x="8503920" y="3017520"/>
            <a:ext cx="1828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200" dirty="0">
                <a:solidFill>
                  <a:srgbClr val="B7C9A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:</a:t>
            </a:r>
            <a:endParaRPr lang="en-US" sz="1200" dirty="0"/>
          </a:p>
        </p:txBody>
      </p:sp>
      <p:sp>
        <p:nvSpPr>
          <p:cNvPr id="21" name="Text 18"/>
          <p:cNvSpPr txBox="1"/>
          <p:nvPr/>
        </p:nvSpPr>
        <p:spPr>
          <a:xfrm>
            <a:off x="8732520" y="3017520"/>
            <a:ext cx="24688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200" dirty="0">
                <a:solidFill>
                  <a:srgbClr val="DCEFD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250000</a:t>
            </a:r>
            <a:endParaRPr lang="en-US" sz="1200" dirty="0"/>
          </a:p>
        </p:txBody>
      </p:sp>
      <p:sp>
        <p:nvSpPr>
          <p:cNvPr id="22" name="Shape 19"/>
          <p:cNvSpPr/>
          <p:nvPr/>
        </p:nvSpPr>
        <p:spPr>
          <a:xfrm>
            <a:off x="6812280" y="3602736"/>
            <a:ext cx="4526280" cy="585216"/>
          </a:xfrm>
          <a:prstGeom prst="roundRect">
            <a:avLst>
              <a:gd name="adj" fmla="val 7813"/>
            </a:avLst>
          </a:prstGeom>
          <a:solidFill>
            <a:srgbClr val="1A231A"/>
          </a:solidFill>
          <a:ln w="12700">
            <a:solidFill>
              <a:srgbClr val="3A4C30"/>
            </a:solidFill>
            <a:prstDash val="solid"/>
          </a:ln>
        </p:spPr>
      </p:sp>
      <p:sp>
        <p:nvSpPr>
          <p:cNvPr id="23" name="Text 20"/>
          <p:cNvSpPr txBox="1"/>
          <p:nvPr/>
        </p:nvSpPr>
        <p:spPr>
          <a:xfrm>
            <a:off x="6995160" y="3767328"/>
            <a:ext cx="14630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200" b="1" dirty="0">
                <a:solidFill>
                  <a:srgbClr val="7C947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stok</a:t>
            </a:r>
            <a:endParaRPr lang="en-US" sz="1200" dirty="0"/>
          </a:p>
        </p:txBody>
      </p:sp>
      <p:sp>
        <p:nvSpPr>
          <p:cNvPr id="24" name="Text 21"/>
          <p:cNvSpPr txBox="1"/>
          <p:nvPr/>
        </p:nvSpPr>
        <p:spPr>
          <a:xfrm>
            <a:off x="8503920" y="3767328"/>
            <a:ext cx="1828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200" dirty="0">
                <a:solidFill>
                  <a:srgbClr val="B7C9A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:</a:t>
            </a:r>
            <a:endParaRPr lang="en-US" sz="1200" dirty="0"/>
          </a:p>
        </p:txBody>
      </p:sp>
      <p:sp>
        <p:nvSpPr>
          <p:cNvPr id="25" name="Text 22"/>
          <p:cNvSpPr txBox="1"/>
          <p:nvPr/>
        </p:nvSpPr>
        <p:spPr>
          <a:xfrm>
            <a:off x="8732520" y="3767328"/>
            <a:ext cx="24688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200" dirty="0">
                <a:solidFill>
                  <a:srgbClr val="DCEFD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12</a:t>
            </a:r>
            <a:endParaRPr lang="en-US" sz="1200" dirty="0"/>
          </a:p>
        </p:txBody>
      </p:sp>
      <p:sp>
        <p:nvSpPr>
          <p:cNvPr id="26" name="Text 23"/>
          <p:cNvSpPr txBox="1"/>
          <p:nvPr/>
        </p:nvSpPr>
        <p:spPr>
          <a:xfrm>
            <a:off x="6995160" y="4352544"/>
            <a:ext cx="146304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950" b="1" kern="0" spc="120" dirty="0">
                <a:solidFill>
                  <a:srgbClr val="7C94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key</a:t>
            </a:r>
            <a:endParaRPr lang="en-US" sz="950" dirty="0"/>
          </a:p>
        </p:txBody>
      </p:sp>
      <p:sp>
        <p:nvSpPr>
          <p:cNvPr id="27" name="Text 24"/>
          <p:cNvSpPr txBox="1"/>
          <p:nvPr/>
        </p:nvSpPr>
        <p:spPr>
          <a:xfrm>
            <a:off x="8732520" y="4352544"/>
            <a:ext cx="146304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950" b="1" kern="0" spc="120" dirty="0">
                <a:solidFill>
                  <a:srgbClr val="C9A6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value</a:t>
            </a:r>
            <a:endParaRPr lang="en-US" sz="950" dirty="0"/>
          </a:p>
        </p:txBody>
      </p:sp>
      <p:sp>
        <p:nvSpPr>
          <p:cNvPr id="28" name="Shape 25"/>
          <p:cNvSpPr/>
          <p:nvPr/>
        </p:nvSpPr>
        <p:spPr>
          <a:xfrm>
            <a:off x="6537960" y="4882896"/>
            <a:ext cx="5074920" cy="1133856"/>
          </a:xfrm>
          <a:prstGeom prst="roundRect">
            <a:avLst>
              <a:gd name="adj" fmla="val 7258"/>
            </a:avLst>
          </a:prstGeom>
          <a:solidFill>
            <a:srgbClr val="2A3823"/>
          </a:solidFill>
          <a:ln w="12700">
            <a:solidFill>
              <a:srgbClr val="3A4C30"/>
            </a:solidFill>
            <a:prstDash val="solid"/>
          </a:ln>
        </p:spPr>
      </p:sp>
      <p:sp>
        <p:nvSpPr>
          <p:cNvPr id="29" name="Text 26"/>
          <p:cNvSpPr txBox="1"/>
          <p:nvPr/>
        </p:nvSpPr>
        <p:spPr>
          <a:xfrm>
            <a:off x="6812280" y="5065776"/>
            <a:ext cx="4526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300" b="1" dirty="0">
                <a:solidFill>
                  <a:srgbClr val="F6F3E7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Diakses lewat nama, bukan posisi</a:t>
            </a:r>
            <a:endParaRPr lang="en-US" sz="1300" dirty="0"/>
          </a:p>
        </p:txBody>
      </p:sp>
      <p:sp>
        <p:nvSpPr>
          <p:cNvPr id="30" name="Text 27"/>
          <p:cNvSpPr txBox="1"/>
          <p:nvPr/>
        </p:nvSpPr>
        <p:spPr>
          <a:xfrm>
            <a:off x="6812280" y="5413248"/>
            <a:ext cx="45262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200" dirty="0">
                <a:solidFill>
                  <a:srgbClr val="B7C9A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produk["harga"]  ✓      produk[1]  ✗</a:t>
            </a:r>
            <a:endParaRPr lang="en-US" sz="1200" dirty="0"/>
          </a:p>
        </p:txBody>
      </p:sp>
      <p:sp>
        <p:nvSpPr>
          <p:cNvPr id="31" name="Text 28"/>
          <p:cNvSpPr txBox="1"/>
          <p:nvPr/>
        </p:nvSpPr>
        <p:spPr>
          <a:xfrm>
            <a:off x="566928" y="6400800"/>
            <a:ext cx="5486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50" dirty="0">
                <a:solidFill>
                  <a:srgbClr val="6F826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Data Analyst UNSIKA  ·  Pertemuan 1</a:t>
            </a:r>
            <a:endParaRPr lang="en-US" sz="850" dirty="0"/>
          </a:p>
        </p:txBody>
      </p:sp>
      <p:sp>
        <p:nvSpPr>
          <p:cNvPr id="32" name="Text 29"/>
          <p:cNvSpPr txBox="1"/>
          <p:nvPr/>
        </p:nvSpPr>
        <p:spPr>
          <a:xfrm>
            <a:off x="10710367" y="6400800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850" b="1" dirty="0">
                <a:solidFill>
                  <a:srgbClr val="C9A6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18</a:t>
            </a:r>
            <a:endParaRPr lang="en-US" sz="85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1A231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66928" y="384048"/>
            <a:ext cx="11057839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950" b="1" kern="0" spc="200" dirty="0">
                <a:solidFill>
                  <a:srgbClr val="7C94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TEORI 11 DARI 11</a:t>
            </a:r>
            <a:endParaRPr lang="en-US" sz="950" dirty="0"/>
          </a:p>
        </p:txBody>
      </p:sp>
      <p:sp>
        <p:nvSpPr>
          <p:cNvPr id="3" name="Text 1"/>
          <p:cNvSpPr txBox="1"/>
          <p:nvPr/>
        </p:nvSpPr>
        <p:spPr>
          <a:xfrm>
            <a:off x="566928" y="640080"/>
            <a:ext cx="11057839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2900" b="1" dirty="0">
                <a:solidFill>
                  <a:srgbClr val="F6F3E7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Kapan Pakai List, Kapan Pakai Dictionary?</a:t>
            </a:r>
            <a:endParaRPr lang="en-US" sz="2900" dirty="0"/>
          </a:p>
        </p:txBody>
      </p:sp>
      <p:sp>
        <p:nvSpPr>
          <p:cNvPr id="4" name="Shape 2"/>
          <p:cNvSpPr/>
          <p:nvPr/>
        </p:nvSpPr>
        <p:spPr>
          <a:xfrm>
            <a:off x="566928" y="1417320"/>
            <a:ext cx="5349240" cy="2999232"/>
          </a:xfrm>
          <a:prstGeom prst="roundRect">
            <a:avLst>
              <a:gd name="adj" fmla="val 2744"/>
            </a:avLst>
          </a:prstGeom>
          <a:solidFill>
            <a:srgbClr val="22301C"/>
          </a:solidFill>
          <a:ln w="12700">
            <a:solidFill>
              <a:srgbClr val="3A4C30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841248" y="1691640"/>
            <a:ext cx="566928" cy="566928"/>
          </a:xfrm>
          <a:prstGeom prst="ellipse">
            <a:avLst/>
          </a:prstGeom>
          <a:solidFill>
            <a:srgbClr val="2A3823"/>
          </a:solidFill>
          <a:ln w="12700">
            <a:solidFill>
              <a:srgbClr val="7C9473"/>
            </a:solidFill>
            <a:prstDash val="solid"/>
          </a:ln>
        </p:spPr>
      </p:sp>
      <p:pic>
        <p:nvPicPr>
          <p:cNvPr id="6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26287" y="1776679"/>
            <a:ext cx="396850" cy="396850"/>
          </a:xfrm>
          <a:prstGeom prst="rect">
            <a:avLst/>
          </a:prstGeom>
        </p:spPr>
      </p:pic>
      <p:sp>
        <p:nvSpPr>
          <p:cNvPr id="7" name="Text 4"/>
          <p:cNvSpPr txBox="1"/>
          <p:nvPr/>
        </p:nvSpPr>
        <p:spPr>
          <a:xfrm>
            <a:off x="1536192" y="1737360"/>
            <a:ext cx="410565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700" b="1" dirty="0">
                <a:solidFill>
                  <a:srgbClr val="7C9473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List</a:t>
            </a:r>
            <a:endParaRPr lang="en-US" sz="1700" dirty="0"/>
          </a:p>
        </p:txBody>
      </p:sp>
      <p:sp>
        <p:nvSpPr>
          <p:cNvPr id="8" name="Text 5"/>
          <p:cNvSpPr txBox="1"/>
          <p:nvPr/>
        </p:nvSpPr>
        <p:spPr>
          <a:xfrm>
            <a:off x="841248" y="2395728"/>
            <a:ext cx="4800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200" dirty="0">
                <a:solidFill>
                  <a:srgbClr val="B7C9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Kumpulan hal sejenis, urutannya penting.</a:t>
            </a:r>
            <a:endParaRPr lang="en-US" sz="1200" dirty="0"/>
          </a:p>
        </p:txBody>
      </p:sp>
      <p:sp>
        <p:nvSpPr>
          <p:cNvPr id="9" name="Shape 6"/>
          <p:cNvSpPr/>
          <p:nvPr/>
        </p:nvSpPr>
        <p:spPr>
          <a:xfrm>
            <a:off x="841248" y="2798064"/>
            <a:ext cx="4800600" cy="786384"/>
          </a:xfrm>
          <a:prstGeom prst="roundRect">
            <a:avLst>
              <a:gd name="adj" fmla="val 6977"/>
            </a:avLst>
          </a:prstGeom>
          <a:solidFill>
            <a:srgbClr val="0F160F"/>
          </a:solidFill>
          <a:ln w="12700">
            <a:solidFill>
              <a:srgbClr val="3A4C30"/>
            </a:solidFill>
            <a:prstDash val="solid"/>
          </a:ln>
        </p:spPr>
      </p:sp>
      <p:sp>
        <p:nvSpPr>
          <p:cNvPr id="10" name="Text 7"/>
          <p:cNvSpPr txBox="1"/>
          <p:nvPr/>
        </p:nvSpPr>
        <p:spPr>
          <a:xfrm>
            <a:off x="1042416" y="2944368"/>
            <a:ext cx="4398264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25000"/>
              </a:lnSpc>
              <a:buNone/>
            </a:pPr>
            <a:r>
              <a:rPr lang="en-US" sz="1100" dirty="0">
                <a:solidFill>
                  <a:srgbClr val="DCEFD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kategori = ["Elektronik",</a:t>
            </a:r>
            <a:endParaRPr lang="en-US" sz="1100" dirty="0"/>
          </a:p>
          <a:p>
            <a:pPr marL="0" indent="0">
              <a:lnSpc>
                <a:spcPct val="125000"/>
              </a:lnSpc>
              <a:buNone/>
            </a:pPr>
            <a:r>
              <a:rPr lang="en-US" sz="1100" dirty="0">
                <a:solidFill>
                  <a:srgbClr val="DCEFD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    "Fashion"]</a:t>
            </a:r>
            <a:endParaRPr lang="en-US" sz="1100" dirty="0"/>
          </a:p>
        </p:txBody>
      </p:sp>
      <p:sp>
        <p:nvSpPr>
          <p:cNvPr id="11" name="Text 8"/>
          <p:cNvSpPr txBox="1"/>
          <p:nvPr/>
        </p:nvSpPr>
        <p:spPr>
          <a:xfrm>
            <a:off x="841248" y="3712464"/>
            <a:ext cx="4800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15000"/>
              </a:lnSpc>
              <a:buNone/>
            </a:pPr>
            <a:r>
              <a:rPr lang="en-US" sz="1150" dirty="0">
                <a:solidFill>
                  <a:srgbClr val="7C94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Diakses lewat nomor index  →  kategori[0]</a:t>
            </a:r>
            <a:endParaRPr lang="en-US" sz="1150" dirty="0"/>
          </a:p>
        </p:txBody>
      </p:sp>
      <p:sp>
        <p:nvSpPr>
          <p:cNvPr id="12" name="Shape 9"/>
          <p:cNvSpPr/>
          <p:nvPr/>
        </p:nvSpPr>
        <p:spPr>
          <a:xfrm>
            <a:off x="6291072" y="1417320"/>
            <a:ext cx="5330952" cy="2999232"/>
          </a:xfrm>
          <a:prstGeom prst="roundRect">
            <a:avLst>
              <a:gd name="adj" fmla="val 2744"/>
            </a:avLst>
          </a:prstGeom>
          <a:solidFill>
            <a:srgbClr val="22301C"/>
          </a:solidFill>
          <a:ln w="12700">
            <a:solidFill>
              <a:srgbClr val="3A4C30"/>
            </a:solidFill>
            <a:prstDash val="solid"/>
          </a:ln>
        </p:spPr>
      </p:sp>
      <p:sp>
        <p:nvSpPr>
          <p:cNvPr id="13" name="Shape 10"/>
          <p:cNvSpPr/>
          <p:nvPr/>
        </p:nvSpPr>
        <p:spPr>
          <a:xfrm>
            <a:off x="6565392" y="1691640"/>
            <a:ext cx="566928" cy="566928"/>
          </a:xfrm>
          <a:prstGeom prst="ellipse">
            <a:avLst/>
          </a:prstGeom>
          <a:solidFill>
            <a:srgbClr val="2A3823"/>
          </a:solidFill>
          <a:ln w="12700">
            <a:solidFill>
              <a:srgbClr val="C9A66B"/>
            </a:solidFill>
            <a:prstDash val="solid"/>
          </a:ln>
        </p:spPr>
      </p:sp>
      <p:pic>
        <p:nvPicPr>
          <p:cNvPr id="14" name="Image 1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650431" y="1776679"/>
            <a:ext cx="396850" cy="396850"/>
          </a:xfrm>
          <a:prstGeom prst="rect">
            <a:avLst/>
          </a:prstGeom>
        </p:spPr>
      </p:pic>
      <p:sp>
        <p:nvSpPr>
          <p:cNvPr id="15" name="Text 11"/>
          <p:cNvSpPr txBox="1"/>
          <p:nvPr/>
        </p:nvSpPr>
        <p:spPr>
          <a:xfrm>
            <a:off x="7260336" y="1737360"/>
            <a:ext cx="408736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700" b="1" dirty="0">
                <a:solidFill>
                  <a:srgbClr val="C9A66B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Dictionary</a:t>
            </a:r>
            <a:endParaRPr lang="en-US" sz="1700" dirty="0"/>
          </a:p>
        </p:txBody>
      </p:sp>
      <p:sp>
        <p:nvSpPr>
          <p:cNvPr id="16" name="Text 12"/>
          <p:cNvSpPr txBox="1"/>
          <p:nvPr/>
        </p:nvSpPr>
        <p:spPr>
          <a:xfrm>
            <a:off x="6565392" y="2395728"/>
            <a:ext cx="478231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200" dirty="0">
                <a:solidFill>
                  <a:srgbClr val="B7C9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Satu data dengan beberapa atribut bernama.</a:t>
            </a:r>
            <a:endParaRPr lang="en-US" sz="1200" dirty="0"/>
          </a:p>
        </p:txBody>
      </p:sp>
      <p:sp>
        <p:nvSpPr>
          <p:cNvPr id="17" name="Shape 13"/>
          <p:cNvSpPr/>
          <p:nvPr/>
        </p:nvSpPr>
        <p:spPr>
          <a:xfrm>
            <a:off x="6565392" y="2798064"/>
            <a:ext cx="4782312" cy="786384"/>
          </a:xfrm>
          <a:prstGeom prst="roundRect">
            <a:avLst>
              <a:gd name="adj" fmla="val 6977"/>
            </a:avLst>
          </a:prstGeom>
          <a:solidFill>
            <a:srgbClr val="0F160F"/>
          </a:solidFill>
          <a:ln w="12700">
            <a:solidFill>
              <a:srgbClr val="3A4C30"/>
            </a:solidFill>
            <a:prstDash val="solid"/>
          </a:ln>
        </p:spPr>
      </p:sp>
      <p:sp>
        <p:nvSpPr>
          <p:cNvPr id="18" name="Text 14"/>
          <p:cNvSpPr txBox="1"/>
          <p:nvPr/>
        </p:nvSpPr>
        <p:spPr>
          <a:xfrm>
            <a:off x="6766560" y="2944368"/>
            <a:ext cx="4379976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25000"/>
              </a:lnSpc>
              <a:buNone/>
            </a:pPr>
            <a:r>
              <a:rPr lang="en-US" sz="1100" dirty="0">
                <a:solidFill>
                  <a:srgbClr val="DCEFD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produk = {"nama": "Mouse",</a:t>
            </a:r>
            <a:endParaRPr lang="en-US" sz="1100" dirty="0"/>
          </a:p>
          <a:p>
            <a:pPr marL="0" indent="0">
              <a:lnSpc>
                <a:spcPct val="125000"/>
              </a:lnSpc>
              <a:buNone/>
            </a:pPr>
            <a:r>
              <a:rPr lang="en-US" sz="1100" dirty="0">
                <a:solidFill>
                  <a:srgbClr val="DCEFD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  "harga": 150000}</a:t>
            </a:r>
            <a:endParaRPr lang="en-US" sz="1100" dirty="0"/>
          </a:p>
        </p:txBody>
      </p:sp>
      <p:sp>
        <p:nvSpPr>
          <p:cNvPr id="19" name="Text 15"/>
          <p:cNvSpPr txBox="1"/>
          <p:nvPr/>
        </p:nvSpPr>
        <p:spPr>
          <a:xfrm>
            <a:off x="6565392" y="3712464"/>
            <a:ext cx="478231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15000"/>
              </a:lnSpc>
              <a:buNone/>
            </a:pPr>
            <a:r>
              <a:rPr lang="en-US" sz="1150" dirty="0">
                <a:solidFill>
                  <a:srgbClr val="7C94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Diakses lewat nama key  →  produk["harga"]</a:t>
            </a:r>
            <a:endParaRPr lang="en-US" sz="1150" dirty="0"/>
          </a:p>
        </p:txBody>
      </p:sp>
      <p:sp>
        <p:nvSpPr>
          <p:cNvPr id="20" name="Shape 16"/>
          <p:cNvSpPr/>
          <p:nvPr/>
        </p:nvSpPr>
        <p:spPr>
          <a:xfrm>
            <a:off x="3017520" y="4517136"/>
            <a:ext cx="237744" cy="292608"/>
          </a:xfrm>
          <a:prstGeom prst="downArrow">
            <a:avLst/>
          </a:prstGeom>
          <a:solidFill>
            <a:srgbClr val="C9A66B"/>
          </a:solidFill>
          <a:ln w="12700">
            <a:solidFill>
              <a:srgbClr val="C9A66B"/>
            </a:solidFill>
            <a:prstDash val="solid"/>
          </a:ln>
        </p:spPr>
      </p:sp>
      <p:sp>
        <p:nvSpPr>
          <p:cNvPr id="21" name="Shape 17"/>
          <p:cNvSpPr/>
          <p:nvPr/>
        </p:nvSpPr>
        <p:spPr>
          <a:xfrm>
            <a:off x="8851392" y="4517136"/>
            <a:ext cx="237744" cy="292608"/>
          </a:xfrm>
          <a:prstGeom prst="downArrow">
            <a:avLst/>
          </a:prstGeom>
          <a:solidFill>
            <a:srgbClr val="C9A66B"/>
          </a:solidFill>
          <a:ln w="12700">
            <a:solidFill>
              <a:srgbClr val="C9A66B"/>
            </a:solidFill>
            <a:prstDash val="solid"/>
          </a:ln>
        </p:spPr>
      </p:sp>
      <p:sp>
        <p:nvSpPr>
          <p:cNvPr id="22" name="Shape 18"/>
          <p:cNvSpPr/>
          <p:nvPr/>
        </p:nvSpPr>
        <p:spPr>
          <a:xfrm>
            <a:off x="566928" y="4956048"/>
            <a:ext cx="11057839" cy="1280160"/>
          </a:xfrm>
          <a:prstGeom prst="roundRect">
            <a:avLst>
              <a:gd name="adj" fmla="val 6429"/>
            </a:avLst>
          </a:prstGeom>
          <a:solidFill>
            <a:srgbClr val="2A3823"/>
          </a:solidFill>
          <a:ln w="12700">
            <a:solidFill>
              <a:srgbClr val="3A4C30"/>
            </a:solidFill>
            <a:prstDash val="solid"/>
          </a:ln>
        </p:spPr>
      </p:sp>
      <p:sp>
        <p:nvSpPr>
          <p:cNvPr id="23" name="Shape 19"/>
          <p:cNvSpPr/>
          <p:nvPr/>
        </p:nvSpPr>
        <p:spPr>
          <a:xfrm>
            <a:off x="877824" y="5230368"/>
            <a:ext cx="566928" cy="566928"/>
          </a:xfrm>
          <a:prstGeom prst="ellipse">
            <a:avLst/>
          </a:prstGeom>
          <a:solidFill>
            <a:srgbClr val="1A231A"/>
          </a:solidFill>
          <a:ln w="12700">
            <a:solidFill>
              <a:srgbClr val="7C9473"/>
            </a:solidFill>
            <a:prstDash val="solid"/>
          </a:ln>
        </p:spPr>
      </p:sp>
      <p:pic>
        <p:nvPicPr>
          <p:cNvPr id="24" name="Image 2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962863" y="5315407"/>
            <a:ext cx="396850" cy="396850"/>
          </a:xfrm>
          <a:prstGeom prst="rect">
            <a:avLst/>
          </a:prstGeom>
        </p:spPr>
      </p:pic>
      <p:sp>
        <p:nvSpPr>
          <p:cNvPr id="25" name="Text 20"/>
          <p:cNvSpPr txBox="1"/>
          <p:nvPr/>
        </p:nvSpPr>
        <p:spPr>
          <a:xfrm>
            <a:off x="1627632" y="5212080"/>
            <a:ext cx="96926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450" b="1" dirty="0">
                <a:solidFill>
                  <a:srgbClr val="C9A66B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Gabungan keduanya = DataFrame (Pandas)</a:t>
            </a:r>
            <a:endParaRPr lang="en-US" sz="1450" dirty="0"/>
          </a:p>
        </p:txBody>
      </p:sp>
      <p:sp>
        <p:nvSpPr>
          <p:cNvPr id="26" name="Text 21"/>
          <p:cNvSpPr txBox="1"/>
          <p:nvPr/>
        </p:nvSpPr>
        <p:spPr>
          <a:xfrm>
            <a:off x="1627632" y="5559552"/>
            <a:ext cx="96926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200" dirty="0">
                <a:solidFill>
                  <a:srgbClr val="B7C9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Tabel data punya kolom bernama seperti dictionary, dan baris berurutan seperti list — dipelajari di Pertemuan 3.</a:t>
            </a:r>
            <a:endParaRPr lang="en-US" sz="1200" dirty="0"/>
          </a:p>
        </p:txBody>
      </p:sp>
      <p:sp>
        <p:nvSpPr>
          <p:cNvPr id="27" name="Text 22"/>
          <p:cNvSpPr txBox="1"/>
          <p:nvPr/>
        </p:nvSpPr>
        <p:spPr>
          <a:xfrm>
            <a:off x="566928" y="6400800"/>
            <a:ext cx="5486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50" dirty="0">
                <a:solidFill>
                  <a:srgbClr val="6F826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Data Analyst UNSIKA  ·  Pertemuan 1</a:t>
            </a:r>
            <a:endParaRPr lang="en-US" sz="850" dirty="0"/>
          </a:p>
        </p:txBody>
      </p:sp>
      <p:sp>
        <p:nvSpPr>
          <p:cNvPr id="28" name="Text 23"/>
          <p:cNvSpPr txBox="1"/>
          <p:nvPr/>
        </p:nvSpPr>
        <p:spPr>
          <a:xfrm>
            <a:off x="10710367" y="6400800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850" b="1" dirty="0">
                <a:solidFill>
                  <a:srgbClr val="C9A6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19</a:t>
            </a:r>
            <a:endParaRPr lang="en-US" sz="850" dirty="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1A231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66928" y="384048"/>
            <a:ext cx="11057839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950" b="1" kern="0" spc="200" dirty="0">
                <a:solidFill>
                  <a:srgbClr val="7C94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HANDS-ON</a:t>
            </a:r>
            <a:endParaRPr lang="en-US" sz="950" dirty="0"/>
          </a:p>
        </p:txBody>
      </p:sp>
      <p:sp>
        <p:nvSpPr>
          <p:cNvPr id="3" name="Text 1"/>
          <p:cNvSpPr txBox="1"/>
          <p:nvPr/>
        </p:nvSpPr>
        <p:spPr>
          <a:xfrm>
            <a:off x="566928" y="640080"/>
            <a:ext cx="11057839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2900" b="1" dirty="0">
                <a:solidFill>
                  <a:srgbClr val="F6F3E7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Sekarang Praktik di Colab</a:t>
            </a:r>
            <a:endParaRPr lang="en-US" sz="2900" dirty="0"/>
          </a:p>
        </p:txBody>
      </p:sp>
      <p:sp>
        <p:nvSpPr>
          <p:cNvPr id="4" name="Text 2"/>
          <p:cNvSpPr txBox="1"/>
          <p:nvPr/>
        </p:nvSpPr>
        <p:spPr>
          <a:xfrm>
            <a:off x="566928" y="1335024"/>
            <a:ext cx="11057839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300" dirty="0">
                <a:solidFill>
                  <a:srgbClr val="B7C9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Sepuluh langkah, satu langkah = satu cell baru. Ikuti pelan-pelan, jangan menyalin semuanya sekaligus.</a:t>
            </a:r>
            <a:endParaRPr lang="en-US" sz="1300" dirty="0"/>
          </a:p>
        </p:txBody>
      </p:sp>
      <p:sp>
        <p:nvSpPr>
          <p:cNvPr id="5" name="Shape 3"/>
          <p:cNvSpPr/>
          <p:nvPr/>
        </p:nvSpPr>
        <p:spPr>
          <a:xfrm>
            <a:off x="566928" y="1847088"/>
            <a:ext cx="5349240" cy="676656"/>
          </a:xfrm>
          <a:prstGeom prst="roundRect">
            <a:avLst>
              <a:gd name="adj" fmla="val 12162"/>
            </a:avLst>
          </a:prstGeom>
          <a:solidFill>
            <a:srgbClr val="22301C"/>
          </a:solidFill>
          <a:ln w="12700">
            <a:solidFill>
              <a:srgbClr val="3A4C30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749808" y="2002536"/>
            <a:ext cx="365760" cy="365760"/>
          </a:xfrm>
          <a:prstGeom prst="ellipse">
            <a:avLst/>
          </a:prstGeom>
          <a:solidFill>
            <a:srgbClr val="C9A66B"/>
          </a:solidFill>
          <a:ln w="12700">
            <a:solidFill>
              <a:srgbClr val="C9A66B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749808" y="2002536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1A231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1</a:t>
            </a:r>
            <a:endParaRPr lang="en-US" sz="1200" dirty="0"/>
          </a:p>
        </p:txBody>
      </p:sp>
      <p:sp>
        <p:nvSpPr>
          <p:cNvPr id="8" name="Text 6"/>
          <p:cNvSpPr txBox="1"/>
          <p:nvPr/>
        </p:nvSpPr>
        <p:spPr>
          <a:xfrm>
            <a:off x="1243584" y="1965960"/>
            <a:ext cx="4489704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10000"/>
              </a:lnSpc>
              <a:buNone/>
            </a:pPr>
            <a:r>
              <a:rPr lang="en-US" sz="1150" dirty="0">
                <a:solidFill>
                  <a:srgbClr val="B7C9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Buat notebook baru, ganti namanya jadi pertemuan-1.ipynb</a:t>
            </a:r>
            <a:endParaRPr lang="en-US" sz="1150" dirty="0"/>
          </a:p>
        </p:txBody>
      </p:sp>
      <p:sp>
        <p:nvSpPr>
          <p:cNvPr id="9" name="Shape 7"/>
          <p:cNvSpPr/>
          <p:nvPr/>
        </p:nvSpPr>
        <p:spPr>
          <a:xfrm>
            <a:off x="566928" y="2633472"/>
            <a:ext cx="5349240" cy="676656"/>
          </a:xfrm>
          <a:prstGeom prst="roundRect">
            <a:avLst>
              <a:gd name="adj" fmla="val 12162"/>
            </a:avLst>
          </a:prstGeom>
          <a:solidFill>
            <a:srgbClr val="22301C"/>
          </a:solidFill>
          <a:ln w="12700">
            <a:solidFill>
              <a:srgbClr val="3A4C30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749808" y="2788920"/>
            <a:ext cx="365760" cy="365760"/>
          </a:xfrm>
          <a:prstGeom prst="ellipse">
            <a:avLst/>
          </a:prstGeom>
          <a:solidFill>
            <a:srgbClr val="C9A66B"/>
          </a:solidFill>
          <a:ln w="12700">
            <a:solidFill>
              <a:srgbClr val="C9A66B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749808" y="278892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1A231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2</a:t>
            </a:r>
            <a:endParaRPr lang="en-US" sz="1200" dirty="0"/>
          </a:p>
        </p:txBody>
      </p:sp>
      <p:sp>
        <p:nvSpPr>
          <p:cNvPr id="12" name="Text 10"/>
          <p:cNvSpPr txBox="1"/>
          <p:nvPr/>
        </p:nvSpPr>
        <p:spPr>
          <a:xfrm>
            <a:off x="1243584" y="2752344"/>
            <a:ext cx="4489704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10000"/>
              </a:lnSpc>
              <a:buNone/>
            </a:pPr>
            <a:r>
              <a:rPr lang="en-US" sz="1150" dirty="0">
                <a:solidFill>
                  <a:srgbClr val="B7C9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Cell pertama: komentar + print("Halo, Data Analyst!")</a:t>
            </a:r>
            <a:endParaRPr lang="en-US" sz="1150" dirty="0"/>
          </a:p>
        </p:txBody>
      </p:sp>
      <p:sp>
        <p:nvSpPr>
          <p:cNvPr id="13" name="Shape 11"/>
          <p:cNvSpPr/>
          <p:nvPr/>
        </p:nvSpPr>
        <p:spPr>
          <a:xfrm>
            <a:off x="566928" y="3419856"/>
            <a:ext cx="5349240" cy="676656"/>
          </a:xfrm>
          <a:prstGeom prst="roundRect">
            <a:avLst>
              <a:gd name="adj" fmla="val 12162"/>
            </a:avLst>
          </a:prstGeom>
          <a:solidFill>
            <a:srgbClr val="22301C"/>
          </a:solidFill>
          <a:ln w="12700">
            <a:solidFill>
              <a:srgbClr val="3A4C30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749808" y="3575304"/>
            <a:ext cx="365760" cy="365760"/>
          </a:xfrm>
          <a:prstGeom prst="ellipse">
            <a:avLst/>
          </a:prstGeom>
          <a:solidFill>
            <a:srgbClr val="C9A66B"/>
          </a:solidFill>
          <a:ln w="12700">
            <a:solidFill>
              <a:srgbClr val="C9A66B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749808" y="3575304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1A231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3</a:t>
            </a:r>
            <a:endParaRPr lang="en-US" sz="1200" dirty="0"/>
          </a:p>
        </p:txBody>
      </p:sp>
      <p:sp>
        <p:nvSpPr>
          <p:cNvPr id="16" name="Text 14"/>
          <p:cNvSpPr txBox="1"/>
          <p:nvPr/>
        </p:nvSpPr>
        <p:spPr>
          <a:xfrm>
            <a:off x="1243584" y="3538728"/>
            <a:ext cx="4489704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10000"/>
              </a:lnSpc>
              <a:buNone/>
            </a:pPr>
            <a:r>
              <a:rPr lang="en-US" sz="1150" dirty="0">
                <a:solidFill>
                  <a:srgbClr val="B7C9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Bikin error dengan sengaja, lalu baca pesannya</a:t>
            </a:r>
            <a:endParaRPr lang="en-US" sz="1150" dirty="0"/>
          </a:p>
        </p:txBody>
      </p:sp>
      <p:sp>
        <p:nvSpPr>
          <p:cNvPr id="17" name="Shape 15"/>
          <p:cNvSpPr/>
          <p:nvPr/>
        </p:nvSpPr>
        <p:spPr>
          <a:xfrm>
            <a:off x="566928" y="4206240"/>
            <a:ext cx="5349240" cy="676656"/>
          </a:xfrm>
          <a:prstGeom prst="roundRect">
            <a:avLst>
              <a:gd name="adj" fmla="val 12162"/>
            </a:avLst>
          </a:prstGeom>
          <a:solidFill>
            <a:srgbClr val="22301C"/>
          </a:solidFill>
          <a:ln w="12700">
            <a:solidFill>
              <a:srgbClr val="3A4C30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749808" y="4361688"/>
            <a:ext cx="365760" cy="365760"/>
          </a:xfrm>
          <a:prstGeom prst="ellipse">
            <a:avLst/>
          </a:prstGeom>
          <a:solidFill>
            <a:srgbClr val="C9A66B"/>
          </a:solidFill>
          <a:ln w="12700">
            <a:solidFill>
              <a:srgbClr val="C9A66B"/>
            </a:solidFill>
            <a:prstDash val="solid"/>
          </a:ln>
        </p:spPr>
      </p:sp>
      <p:sp>
        <p:nvSpPr>
          <p:cNvPr id="19" name="Text 17"/>
          <p:cNvSpPr txBox="1"/>
          <p:nvPr/>
        </p:nvSpPr>
        <p:spPr>
          <a:xfrm>
            <a:off x="749808" y="4361688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1A231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4</a:t>
            </a:r>
            <a:endParaRPr lang="en-US" sz="1200" dirty="0"/>
          </a:p>
        </p:txBody>
      </p:sp>
      <p:sp>
        <p:nvSpPr>
          <p:cNvPr id="20" name="Text 18"/>
          <p:cNvSpPr txBox="1"/>
          <p:nvPr/>
        </p:nvSpPr>
        <p:spPr>
          <a:xfrm>
            <a:off x="1243584" y="4325112"/>
            <a:ext cx="4489704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10000"/>
              </a:lnSpc>
              <a:buNone/>
            </a:pPr>
            <a:r>
              <a:rPr lang="en-US" sz="1150" dirty="0">
                <a:solidFill>
                  <a:srgbClr val="B7C9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Variabel + f-string: tulis kalimat perkenalan</a:t>
            </a:r>
            <a:endParaRPr lang="en-US" sz="1150" dirty="0"/>
          </a:p>
        </p:txBody>
      </p:sp>
      <p:sp>
        <p:nvSpPr>
          <p:cNvPr id="21" name="Shape 19"/>
          <p:cNvSpPr/>
          <p:nvPr/>
        </p:nvSpPr>
        <p:spPr>
          <a:xfrm>
            <a:off x="566928" y="4992624"/>
            <a:ext cx="5349240" cy="676656"/>
          </a:xfrm>
          <a:prstGeom prst="roundRect">
            <a:avLst>
              <a:gd name="adj" fmla="val 12162"/>
            </a:avLst>
          </a:prstGeom>
          <a:solidFill>
            <a:srgbClr val="22301C"/>
          </a:solidFill>
          <a:ln w="12700">
            <a:solidFill>
              <a:srgbClr val="3A4C30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749808" y="5148072"/>
            <a:ext cx="365760" cy="365760"/>
          </a:xfrm>
          <a:prstGeom prst="ellipse">
            <a:avLst/>
          </a:prstGeom>
          <a:solidFill>
            <a:srgbClr val="C9A66B"/>
          </a:solidFill>
          <a:ln w="12700">
            <a:solidFill>
              <a:srgbClr val="C9A66B"/>
            </a:solidFill>
            <a:prstDash val="solid"/>
          </a:ln>
        </p:spPr>
      </p:sp>
      <p:sp>
        <p:nvSpPr>
          <p:cNvPr id="23" name="Text 21"/>
          <p:cNvSpPr txBox="1"/>
          <p:nvPr/>
        </p:nvSpPr>
        <p:spPr>
          <a:xfrm>
            <a:off x="749808" y="5148072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1A231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5</a:t>
            </a:r>
            <a:endParaRPr lang="en-US" sz="1200" dirty="0"/>
          </a:p>
        </p:txBody>
      </p:sp>
      <p:sp>
        <p:nvSpPr>
          <p:cNvPr id="24" name="Text 22"/>
          <p:cNvSpPr txBox="1"/>
          <p:nvPr/>
        </p:nvSpPr>
        <p:spPr>
          <a:xfrm>
            <a:off x="1243584" y="5111496"/>
            <a:ext cx="4489704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10000"/>
              </a:lnSpc>
              <a:buNone/>
            </a:pPr>
            <a:r>
              <a:rPr lang="en-US" sz="1150" dirty="0">
                <a:solidFill>
                  <a:srgbClr val="B7C9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Cek tipe data setiap variabel dengan type()</a:t>
            </a:r>
            <a:endParaRPr lang="en-US" sz="1150" dirty="0"/>
          </a:p>
        </p:txBody>
      </p:sp>
      <p:sp>
        <p:nvSpPr>
          <p:cNvPr id="25" name="Shape 23"/>
          <p:cNvSpPr/>
          <p:nvPr/>
        </p:nvSpPr>
        <p:spPr>
          <a:xfrm>
            <a:off x="6291072" y="1847088"/>
            <a:ext cx="5330952" cy="676656"/>
          </a:xfrm>
          <a:prstGeom prst="roundRect">
            <a:avLst>
              <a:gd name="adj" fmla="val 12162"/>
            </a:avLst>
          </a:prstGeom>
          <a:solidFill>
            <a:srgbClr val="2A3823"/>
          </a:solidFill>
          <a:ln w="12700">
            <a:solidFill>
              <a:srgbClr val="3A4C30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6473952" y="2002536"/>
            <a:ext cx="365760" cy="365760"/>
          </a:xfrm>
          <a:prstGeom prst="ellipse">
            <a:avLst/>
          </a:prstGeom>
          <a:solidFill>
            <a:srgbClr val="C9A66B"/>
          </a:solidFill>
          <a:ln w="12700">
            <a:solidFill>
              <a:srgbClr val="C9A66B"/>
            </a:solidFill>
            <a:prstDash val="solid"/>
          </a:ln>
        </p:spPr>
      </p:sp>
      <p:sp>
        <p:nvSpPr>
          <p:cNvPr id="27" name="Text 25"/>
          <p:cNvSpPr txBox="1"/>
          <p:nvPr/>
        </p:nvSpPr>
        <p:spPr>
          <a:xfrm>
            <a:off x="6473952" y="2002536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1A231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6</a:t>
            </a:r>
            <a:endParaRPr lang="en-US" sz="1200" dirty="0"/>
          </a:p>
        </p:txBody>
      </p:sp>
      <p:sp>
        <p:nvSpPr>
          <p:cNvPr id="28" name="Text 26"/>
          <p:cNvSpPr txBox="1"/>
          <p:nvPr/>
        </p:nvSpPr>
        <p:spPr>
          <a:xfrm>
            <a:off x="6967728" y="1965960"/>
            <a:ext cx="447141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10000"/>
              </a:lnSpc>
              <a:buNone/>
            </a:pPr>
            <a:r>
              <a:rPr lang="en-US" sz="1150" dirty="0">
                <a:solidFill>
                  <a:srgbClr val="B7C9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Operator: hitung total belanja lalu bandingkan</a:t>
            </a:r>
            <a:endParaRPr lang="en-US" sz="1150" dirty="0"/>
          </a:p>
        </p:txBody>
      </p:sp>
      <p:sp>
        <p:nvSpPr>
          <p:cNvPr id="29" name="Shape 27"/>
          <p:cNvSpPr/>
          <p:nvPr/>
        </p:nvSpPr>
        <p:spPr>
          <a:xfrm>
            <a:off x="6291072" y="2633472"/>
            <a:ext cx="5330952" cy="676656"/>
          </a:xfrm>
          <a:prstGeom prst="roundRect">
            <a:avLst>
              <a:gd name="adj" fmla="val 12162"/>
            </a:avLst>
          </a:prstGeom>
          <a:solidFill>
            <a:srgbClr val="2A3823"/>
          </a:solidFill>
          <a:ln w="12700">
            <a:solidFill>
              <a:srgbClr val="3A4C30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6473952" y="2788920"/>
            <a:ext cx="365760" cy="365760"/>
          </a:xfrm>
          <a:prstGeom prst="ellipse">
            <a:avLst/>
          </a:prstGeom>
          <a:solidFill>
            <a:srgbClr val="C9A66B"/>
          </a:solidFill>
          <a:ln w="12700">
            <a:solidFill>
              <a:srgbClr val="C9A66B"/>
            </a:solidFill>
            <a:prstDash val="solid"/>
          </a:ln>
        </p:spPr>
      </p:sp>
      <p:sp>
        <p:nvSpPr>
          <p:cNvPr id="31" name="Text 29"/>
          <p:cNvSpPr txBox="1"/>
          <p:nvPr/>
        </p:nvSpPr>
        <p:spPr>
          <a:xfrm>
            <a:off x="6473952" y="278892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1A231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7</a:t>
            </a:r>
            <a:endParaRPr lang="en-US" sz="1200" dirty="0"/>
          </a:p>
        </p:txBody>
      </p:sp>
      <p:sp>
        <p:nvSpPr>
          <p:cNvPr id="32" name="Text 30"/>
          <p:cNvSpPr txBox="1"/>
          <p:nvPr/>
        </p:nvSpPr>
        <p:spPr>
          <a:xfrm>
            <a:off x="6967728" y="2752344"/>
            <a:ext cx="447141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10000"/>
              </a:lnSpc>
              <a:buNone/>
            </a:pPr>
            <a:r>
              <a:rPr lang="en-US" sz="1150" dirty="0">
                <a:solidFill>
                  <a:srgbClr val="B7C9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Buat list kategori, ambil item lewat index</a:t>
            </a:r>
            <a:endParaRPr lang="en-US" sz="1150" dirty="0"/>
          </a:p>
        </p:txBody>
      </p:sp>
      <p:sp>
        <p:nvSpPr>
          <p:cNvPr id="33" name="Shape 31"/>
          <p:cNvSpPr/>
          <p:nvPr/>
        </p:nvSpPr>
        <p:spPr>
          <a:xfrm>
            <a:off x="6291072" y="3419856"/>
            <a:ext cx="5330952" cy="676656"/>
          </a:xfrm>
          <a:prstGeom prst="roundRect">
            <a:avLst>
              <a:gd name="adj" fmla="val 12162"/>
            </a:avLst>
          </a:prstGeom>
          <a:solidFill>
            <a:srgbClr val="2A3823"/>
          </a:solidFill>
          <a:ln w="12700">
            <a:solidFill>
              <a:srgbClr val="3A4C30"/>
            </a:solidFill>
            <a:prstDash val="solid"/>
          </a:ln>
        </p:spPr>
      </p:sp>
      <p:sp>
        <p:nvSpPr>
          <p:cNvPr id="34" name="Shape 32"/>
          <p:cNvSpPr/>
          <p:nvPr/>
        </p:nvSpPr>
        <p:spPr>
          <a:xfrm>
            <a:off x="6473952" y="3575304"/>
            <a:ext cx="365760" cy="365760"/>
          </a:xfrm>
          <a:prstGeom prst="ellipse">
            <a:avLst/>
          </a:prstGeom>
          <a:solidFill>
            <a:srgbClr val="C9A66B"/>
          </a:solidFill>
          <a:ln w="12700">
            <a:solidFill>
              <a:srgbClr val="C9A66B"/>
            </a:solidFill>
            <a:prstDash val="solid"/>
          </a:ln>
        </p:spPr>
      </p:sp>
      <p:sp>
        <p:nvSpPr>
          <p:cNvPr id="35" name="Text 33"/>
          <p:cNvSpPr txBox="1"/>
          <p:nvPr/>
        </p:nvSpPr>
        <p:spPr>
          <a:xfrm>
            <a:off x="6473952" y="3575304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1A231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8</a:t>
            </a:r>
            <a:endParaRPr lang="en-US" sz="1200" dirty="0"/>
          </a:p>
        </p:txBody>
      </p:sp>
      <p:sp>
        <p:nvSpPr>
          <p:cNvPr id="36" name="Text 34"/>
          <p:cNvSpPr txBox="1"/>
          <p:nvPr/>
        </p:nvSpPr>
        <p:spPr>
          <a:xfrm>
            <a:off x="6967728" y="3538728"/>
            <a:ext cx="447141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10000"/>
              </a:lnSpc>
              <a:buNone/>
            </a:pPr>
            <a:r>
              <a:rPr lang="en-US" sz="1150" dirty="0">
                <a:solidFill>
                  <a:srgbClr val="B7C9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Buat dictionary produk, ambil nilai lewat key</a:t>
            </a:r>
            <a:endParaRPr lang="en-US" sz="1150" dirty="0"/>
          </a:p>
        </p:txBody>
      </p:sp>
      <p:sp>
        <p:nvSpPr>
          <p:cNvPr id="37" name="Shape 35"/>
          <p:cNvSpPr/>
          <p:nvPr/>
        </p:nvSpPr>
        <p:spPr>
          <a:xfrm>
            <a:off x="6291072" y="4206240"/>
            <a:ext cx="5330952" cy="676656"/>
          </a:xfrm>
          <a:prstGeom prst="roundRect">
            <a:avLst>
              <a:gd name="adj" fmla="val 12162"/>
            </a:avLst>
          </a:prstGeom>
          <a:solidFill>
            <a:srgbClr val="2A3823"/>
          </a:solidFill>
          <a:ln w="12700">
            <a:solidFill>
              <a:srgbClr val="3A4C30"/>
            </a:solidFill>
            <a:prstDash val="solid"/>
          </a:ln>
        </p:spPr>
      </p:sp>
      <p:sp>
        <p:nvSpPr>
          <p:cNvPr id="38" name="Shape 36"/>
          <p:cNvSpPr/>
          <p:nvPr/>
        </p:nvSpPr>
        <p:spPr>
          <a:xfrm>
            <a:off x="6473952" y="4361688"/>
            <a:ext cx="365760" cy="365760"/>
          </a:xfrm>
          <a:prstGeom prst="ellipse">
            <a:avLst/>
          </a:prstGeom>
          <a:solidFill>
            <a:srgbClr val="C9A66B"/>
          </a:solidFill>
          <a:ln w="12700">
            <a:solidFill>
              <a:srgbClr val="C9A66B"/>
            </a:solidFill>
            <a:prstDash val="solid"/>
          </a:ln>
        </p:spPr>
      </p:sp>
      <p:sp>
        <p:nvSpPr>
          <p:cNvPr id="39" name="Text 37"/>
          <p:cNvSpPr txBox="1"/>
          <p:nvPr/>
        </p:nvSpPr>
        <p:spPr>
          <a:xfrm>
            <a:off x="6473952" y="4361688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1A231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9</a:t>
            </a:r>
            <a:endParaRPr lang="en-US" sz="1200" dirty="0"/>
          </a:p>
        </p:txBody>
      </p:sp>
      <p:sp>
        <p:nvSpPr>
          <p:cNvPr id="40" name="Text 38"/>
          <p:cNvSpPr txBox="1"/>
          <p:nvPr/>
        </p:nvSpPr>
        <p:spPr>
          <a:xfrm>
            <a:off x="6967728" y="4325112"/>
            <a:ext cx="447141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10000"/>
              </a:lnSpc>
              <a:buNone/>
            </a:pPr>
            <a:r>
              <a:rPr lang="en-US" sz="1150" dirty="0">
                <a:solidFill>
                  <a:srgbClr val="B7C9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Ubah nilai di dictionary — stok berkurang 2</a:t>
            </a:r>
            <a:endParaRPr lang="en-US" sz="1150" dirty="0"/>
          </a:p>
        </p:txBody>
      </p:sp>
      <p:sp>
        <p:nvSpPr>
          <p:cNvPr id="41" name="Shape 39"/>
          <p:cNvSpPr/>
          <p:nvPr/>
        </p:nvSpPr>
        <p:spPr>
          <a:xfrm>
            <a:off x="6291072" y="4992624"/>
            <a:ext cx="5330952" cy="676656"/>
          </a:xfrm>
          <a:prstGeom prst="roundRect">
            <a:avLst>
              <a:gd name="adj" fmla="val 12162"/>
            </a:avLst>
          </a:prstGeom>
          <a:solidFill>
            <a:srgbClr val="2A3823"/>
          </a:solidFill>
          <a:ln w="12700">
            <a:solidFill>
              <a:srgbClr val="3A4C30"/>
            </a:solidFill>
            <a:prstDash val="solid"/>
          </a:ln>
        </p:spPr>
      </p:sp>
      <p:sp>
        <p:nvSpPr>
          <p:cNvPr id="42" name="Shape 40"/>
          <p:cNvSpPr/>
          <p:nvPr/>
        </p:nvSpPr>
        <p:spPr>
          <a:xfrm>
            <a:off x="6473952" y="5148072"/>
            <a:ext cx="365760" cy="365760"/>
          </a:xfrm>
          <a:prstGeom prst="ellipse">
            <a:avLst/>
          </a:prstGeom>
          <a:solidFill>
            <a:srgbClr val="C9A66B"/>
          </a:solidFill>
          <a:ln w="12700">
            <a:solidFill>
              <a:srgbClr val="C9A66B"/>
            </a:solidFill>
            <a:prstDash val="solid"/>
          </a:ln>
        </p:spPr>
      </p:sp>
      <p:sp>
        <p:nvSpPr>
          <p:cNvPr id="43" name="Text 41"/>
          <p:cNvSpPr txBox="1"/>
          <p:nvPr/>
        </p:nvSpPr>
        <p:spPr>
          <a:xfrm>
            <a:off x="6473952" y="5148072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1A231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10</a:t>
            </a:r>
            <a:endParaRPr lang="en-US" sz="1200" dirty="0"/>
          </a:p>
        </p:txBody>
      </p:sp>
      <p:sp>
        <p:nvSpPr>
          <p:cNvPr id="44" name="Text 42"/>
          <p:cNvSpPr txBox="1"/>
          <p:nvPr/>
        </p:nvSpPr>
        <p:spPr>
          <a:xfrm>
            <a:off x="6967728" y="5111496"/>
            <a:ext cx="447141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10000"/>
              </a:lnSpc>
              <a:buNone/>
            </a:pPr>
            <a:r>
              <a:rPr lang="en-US" sz="1150" dirty="0">
                <a:solidFill>
                  <a:srgbClr val="B7C9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Gabungan: tiga produk, tampilkan nama dan harganya</a:t>
            </a:r>
            <a:endParaRPr lang="en-US" sz="1150" dirty="0"/>
          </a:p>
        </p:txBody>
      </p:sp>
      <p:sp>
        <p:nvSpPr>
          <p:cNvPr id="45" name="Text 43"/>
          <p:cNvSpPr txBox="1"/>
          <p:nvPr/>
        </p:nvSpPr>
        <p:spPr>
          <a:xfrm>
            <a:off x="566928" y="5943600"/>
            <a:ext cx="11057839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1150" i="1" dirty="0">
                <a:solidFill>
                  <a:srgbClr val="7C94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Tiap langkah punya bagian “Cek hasil” dan “Kalau error” di README pertemuan ini — pakai itu kalau tertinggal.</a:t>
            </a:r>
            <a:endParaRPr lang="en-US" sz="1150" dirty="0"/>
          </a:p>
        </p:txBody>
      </p:sp>
      <p:sp>
        <p:nvSpPr>
          <p:cNvPr id="46" name="Text 44"/>
          <p:cNvSpPr txBox="1"/>
          <p:nvPr/>
        </p:nvSpPr>
        <p:spPr>
          <a:xfrm>
            <a:off x="566928" y="6400800"/>
            <a:ext cx="5486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50" dirty="0">
                <a:solidFill>
                  <a:srgbClr val="6F826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Data Analyst UNSIKA  ·  Pertemuan 1</a:t>
            </a:r>
            <a:endParaRPr lang="en-US" sz="850" dirty="0"/>
          </a:p>
        </p:txBody>
      </p:sp>
      <p:sp>
        <p:nvSpPr>
          <p:cNvPr id="47" name="Text 45"/>
          <p:cNvSpPr txBox="1"/>
          <p:nvPr/>
        </p:nvSpPr>
        <p:spPr>
          <a:xfrm>
            <a:off x="10710367" y="6400800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850" b="1" dirty="0">
                <a:solidFill>
                  <a:srgbClr val="C9A6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</a:t>
            </a:r>
            <a:endParaRPr lang="en-US" sz="850" dirty="0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1A231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66928" y="384048"/>
            <a:ext cx="11057839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950" b="1" kern="0" spc="200" dirty="0">
                <a:solidFill>
                  <a:srgbClr val="7C94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PENUTUP</a:t>
            </a:r>
            <a:endParaRPr lang="en-US" sz="950" dirty="0"/>
          </a:p>
        </p:txBody>
      </p:sp>
      <p:sp>
        <p:nvSpPr>
          <p:cNvPr id="3" name="Text 1"/>
          <p:cNvSpPr txBox="1"/>
          <p:nvPr/>
        </p:nvSpPr>
        <p:spPr>
          <a:xfrm>
            <a:off x="566928" y="640080"/>
            <a:ext cx="11057839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2900" b="1" dirty="0">
                <a:solidFill>
                  <a:srgbClr val="F6F3E7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Rangkuman &amp; Istilah Penting</a:t>
            </a:r>
            <a:endParaRPr lang="en-US" sz="2900" dirty="0"/>
          </a:p>
        </p:txBody>
      </p:sp>
      <p:sp>
        <p:nvSpPr>
          <p:cNvPr id="4" name="Shape 2"/>
          <p:cNvSpPr/>
          <p:nvPr/>
        </p:nvSpPr>
        <p:spPr>
          <a:xfrm>
            <a:off x="566928" y="1463040"/>
            <a:ext cx="5577840" cy="1207008"/>
          </a:xfrm>
          <a:prstGeom prst="roundRect">
            <a:avLst>
              <a:gd name="adj" fmla="val 6818"/>
            </a:avLst>
          </a:prstGeom>
          <a:solidFill>
            <a:srgbClr val="22301C"/>
          </a:solidFill>
          <a:ln w="12700">
            <a:solidFill>
              <a:srgbClr val="3A4C30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841248" y="1737360"/>
            <a:ext cx="365760" cy="365760"/>
          </a:xfrm>
          <a:prstGeom prst="ellipse">
            <a:avLst/>
          </a:prstGeom>
          <a:solidFill>
            <a:srgbClr val="C9A66B"/>
          </a:solidFill>
          <a:ln w="12700">
            <a:solidFill>
              <a:srgbClr val="C9A66B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841248" y="173736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1A231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1</a:t>
            </a:r>
            <a:endParaRPr lang="en-US" sz="1200" dirty="0"/>
          </a:p>
        </p:txBody>
      </p:sp>
      <p:sp>
        <p:nvSpPr>
          <p:cNvPr id="7" name="Text 5"/>
          <p:cNvSpPr txBox="1"/>
          <p:nvPr/>
        </p:nvSpPr>
        <p:spPr>
          <a:xfrm>
            <a:off x="1353312" y="1719072"/>
            <a:ext cx="44805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400" b="1" dirty="0">
                <a:solidFill>
                  <a:srgbClr val="F6F3E7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Alur kerjanya tetap</a:t>
            </a:r>
            <a:endParaRPr lang="en-US" sz="1400" dirty="0"/>
          </a:p>
        </p:txBody>
      </p:sp>
      <p:sp>
        <p:nvSpPr>
          <p:cNvPr id="8" name="Text 6"/>
          <p:cNvSpPr txBox="1"/>
          <p:nvPr/>
        </p:nvSpPr>
        <p:spPr>
          <a:xfrm>
            <a:off x="841248" y="2176272"/>
            <a:ext cx="50292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18000"/>
              </a:lnSpc>
              <a:buNone/>
            </a:pPr>
            <a:r>
              <a:rPr lang="en-US" sz="1150" dirty="0">
                <a:solidFill>
                  <a:srgbClr val="B7C9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Pertanyaan → kumpulkan → bersihkan → analisis → visualisasi → rekomendasi.</a:t>
            </a:r>
            <a:endParaRPr lang="en-US" sz="1150" dirty="0"/>
          </a:p>
        </p:txBody>
      </p:sp>
      <p:sp>
        <p:nvSpPr>
          <p:cNvPr id="9" name="Shape 7"/>
          <p:cNvSpPr/>
          <p:nvPr/>
        </p:nvSpPr>
        <p:spPr>
          <a:xfrm>
            <a:off x="566928" y="2944368"/>
            <a:ext cx="5577840" cy="1207008"/>
          </a:xfrm>
          <a:prstGeom prst="roundRect">
            <a:avLst>
              <a:gd name="adj" fmla="val 6818"/>
            </a:avLst>
          </a:prstGeom>
          <a:solidFill>
            <a:srgbClr val="22301C"/>
          </a:solidFill>
          <a:ln w="12700">
            <a:solidFill>
              <a:srgbClr val="3A4C30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841248" y="3218688"/>
            <a:ext cx="365760" cy="365760"/>
          </a:xfrm>
          <a:prstGeom prst="ellipse">
            <a:avLst/>
          </a:prstGeom>
          <a:solidFill>
            <a:srgbClr val="C9A66B"/>
          </a:solidFill>
          <a:ln w="12700">
            <a:solidFill>
              <a:srgbClr val="C9A66B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841248" y="3218688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1A231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2</a:t>
            </a:r>
            <a:endParaRPr lang="en-US" sz="1200" dirty="0"/>
          </a:p>
        </p:txBody>
      </p:sp>
      <p:sp>
        <p:nvSpPr>
          <p:cNvPr id="12" name="Text 10"/>
          <p:cNvSpPr txBox="1"/>
          <p:nvPr/>
        </p:nvSpPr>
        <p:spPr>
          <a:xfrm>
            <a:off x="1353312" y="3200400"/>
            <a:ext cx="44805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400" b="1" dirty="0">
                <a:solidFill>
                  <a:srgbClr val="F6F3E7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Python itu alat</a:t>
            </a:r>
            <a:endParaRPr lang="en-US" sz="1400" dirty="0"/>
          </a:p>
        </p:txBody>
      </p:sp>
      <p:sp>
        <p:nvSpPr>
          <p:cNvPr id="13" name="Text 11"/>
          <p:cNvSpPr txBox="1"/>
          <p:nvPr/>
        </p:nvSpPr>
        <p:spPr>
          <a:xfrm>
            <a:off x="841248" y="3657600"/>
            <a:ext cx="50292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18000"/>
              </a:lnSpc>
              <a:buNone/>
            </a:pPr>
            <a:r>
              <a:rPr lang="en-US" sz="1150" dirty="0">
                <a:solidFill>
                  <a:srgbClr val="B7C9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Bukan tujuan akhir. Tujuannya selalu menjawab pertanyaan bisnis.</a:t>
            </a:r>
            <a:endParaRPr lang="en-US" sz="1150" dirty="0"/>
          </a:p>
        </p:txBody>
      </p:sp>
      <p:sp>
        <p:nvSpPr>
          <p:cNvPr id="14" name="Shape 12"/>
          <p:cNvSpPr/>
          <p:nvPr/>
        </p:nvSpPr>
        <p:spPr>
          <a:xfrm>
            <a:off x="566928" y="4425696"/>
            <a:ext cx="5577840" cy="1207008"/>
          </a:xfrm>
          <a:prstGeom prst="roundRect">
            <a:avLst>
              <a:gd name="adj" fmla="val 6818"/>
            </a:avLst>
          </a:prstGeom>
          <a:solidFill>
            <a:srgbClr val="22301C"/>
          </a:solidFill>
          <a:ln w="12700">
            <a:solidFill>
              <a:srgbClr val="3A4C30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841248" y="4700016"/>
            <a:ext cx="365760" cy="365760"/>
          </a:xfrm>
          <a:prstGeom prst="ellipse">
            <a:avLst/>
          </a:prstGeom>
          <a:solidFill>
            <a:srgbClr val="C9A66B"/>
          </a:solidFill>
          <a:ln w="12700">
            <a:solidFill>
              <a:srgbClr val="C9A66B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841248" y="4700016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1A231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3</a:t>
            </a:r>
            <a:endParaRPr lang="en-US" sz="1200" dirty="0"/>
          </a:p>
        </p:txBody>
      </p:sp>
      <p:sp>
        <p:nvSpPr>
          <p:cNvPr id="17" name="Text 15"/>
          <p:cNvSpPr txBox="1"/>
          <p:nvPr/>
        </p:nvSpPr>
        <p:spPr>
          <a:xfrm>
            <a:off x="1353312" y="4681728"/>
            <a:ext cx="44805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400" b="1" dirty="0">
                <a:solidFill>
                  <a:srgbClr val="F6F3E7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List vs Dictionary</a:t>
            </a:r>
            <a:endParaRPr lang="en-US" sz="1400" dirty="0"/>
          </a:p>
        </p:txBody>
      </p:sp>
      <p:sp>
        <p:nvSpPr>
          <p:cNvPr id="18" name="Text 16"/>
          <p:cNvSpPr txBox="1"/>
          <p:nvPr/>
        </p:nvSpPr>
        <p:spPr>
          <a:xfrm>
            <a:off x="841248" y="5138928"/>
            <a:ext cx="50292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18000"/>
              </a:lnSpc>
              <a:buNone/>
            </a:pPr>
            <a:r>
              <a:rPr lang="en-US" sz="1150" dirty="0">
                <a:solidFill>
                  <a:srgbClr val="B7C9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List untuk urutan, dictionary untuk pasangan key–value bernama.</a:t>
            </a:r>
            <a:endParaRPr lang="en-US" sz="1150" dirty="0"/>
          </a:p>
        </p:txBody>
      </p:sp>
      <p:sp>
        <p:nvSpPr>
          <p:cNvPr id="19" name="Text 17"/>
          <p:cNvSpPr txBox="1"/>
          <p:nvPr/>
        </p:nvSpPr>
        <p:spPr>
          <a:xfrm>
            <a:off x="6537960" y="1426464"/>
            <a:ext cx="50749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600" b="1" dirty="0">
                <a:solidFill>
                  <a:srgbClr val="F6F3E7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Istilah Penting</a:t>
            </a:r>
            <a:endParaRPr lang="en-US" sz="1600" dirty="0"/>
          </a:p>
        </p:txBody>
      </p:sp>
      <p:sp>
        <p:nvSpPr>
          <p:cNvPr id="20" name="Text 18"/>
          <p:cNvSpPr txBox="1"/>
          <p:nvPr/>
        </p:nvSpPr>
        <p:spPr>
          <a:xfrm>
            <a:off x="6537960" y="1883664"/>
            <a:ext cx="1691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150" b="1" dirty="0">
                <a:solidFill>
                  <a:srgbClr val="C9A6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Insight</a:t>
            </a:r>
            <a:endParaRPr lang="en-US" sz="1150" dirty="0"/>
          </a:p>
        </p:txBody>
      </p:sp>
      <p:sp>
        <p:nvSpPr>
          <p:cNvPr id="21" name="Text 19"/>
          <p:cNvSpPr txBox="1"/>
          <p:nvPr/>
        </p:nvSpPr>
        <p:spPr>
          <a:xfrm>
            <a:off x="8321040" y="1883664"/>
            <a:ext cx="32918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10000"/>
              </a:lnSpc>
              <a:buNone/>
            </a:pPr>
            <a:r>
              <a:rPr lang="en-US" sz="1100" dirty="0">
                <a:solidFill>
                  <a:srgbClr val="B7C9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Temuan bermakna hasil olahan data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6537960" y="2340864"/>
            <a:ext cx="5074920" cy="0"/>
          </a:xfrm>
          <a:prstGeom prst="line">
            <a:avLst/>
          </a:prstGeom>
          <a:noFill/>
          <a:ln w="12700">
            <a:solidFill>
              <a:srgbClr val="3A4C30"/>
            </a:solidFill>
            <a:prstDash val="solid"/>
          </a:ln>
        </p:spPr>
      </p:sp>
      <p:sp>
        <p:nvSpPr>
          <p:cNvPr id="23" name="Text 21"/>
          <p:cNvSpPr txBox="1"/>
          <p:nvPr/>
        </p:nvSpPr>
        <p:spPr>
          <a:xfrm>
            <a:off x="6537960" y="2505456"/>
            <a:ext cx="1691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150" b="1" dirty="0">
                <a:solidFill>
                  <a:srgbClr val="C9A6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Google Colab</a:t>
            </a:r>
            <a:endParaRPr lang="en-US" sz="1150" dirty="0"/>
          </a:p>
        </p:txBody>
      </p:sp>
      <p:sp>
        <p:nvSpPr>
          <p:cNvPr id="24" name="Text 22"/>
          <p:cNvSpPr txBox="1"/>
          <p:nvPr/>
        </p:nvSpPr>
        <p:spPr>
          <a:xfrm>
            <a:off x="8321040" y="2505456"/>
            <a:ext cx="32918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10000"/>
              </a:lnSpc>
              <a:buNone/>
            </a:pPr>
            <a:r>
              <a:rPr lang="en-US" sz="1100" dirty="0">
                <a:solidFill>
                  <a:srgbClr val="B7C9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Notebook Python di browser</a:t>
            </a:r>
            <a:endParaRPr lang="en-US" sz="1100" dirty="0"/>
          </a:p>
        </p:txBody>
      </p:sp>
      <p:sp>
        <p:nvSpPr>
          <p:cNvPr id="25" name="Shape 23"/>
          <p:cNvSpPr/>
          <p:nvPr/>
        </p:nvSpPr>
        <p:spPr>
          <a:xfrm>
            <a:off x="6537960" y="2962656"/>
            <a:ext cx="5074920" cy="0"/>
          </a:xfrm>
          <a:prstGeom prst="line">
            <a:avLst/>
          </a:prstGeom>
          <a:noFill/>
          <a:ln w="12700">
            <a:solidFill>
              <a:srgbClr val="3A4C30"/>
            </a:solidFill>
            <a:prstDash val="solid"/>
          </a:ln>
        </p:spPr>
      </p:sp>
      <p:sp>
        <p:nvSpPr>
          <p:cNvPr id="26" name="Text 24"/>
          <p:cNvSpPr txBox="1"/>
          <p:nvPr/>
        </p:nvSpPr>
        <p:spPr>
          <a:xfrm>
            <a:off x="6537960" y="3127248"/>
            <a:ext cx="1691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150" b="1" dirty="0">
                <a:solidFill>
                  <a:srgbClr val="C9A6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Cell</a:t>
            </a:r>
            <a:endParaRPr lang="en-US" sz="1150" dirty="0"/>
          </a:p>
        </p:txBody>
      </p:sp>
      <p:sp>
        <p:nvSpPr>
          <p:cNvPr id="27" name="Text 25"/>
          <p:cNvSpPr txBox="1"/>
          <p:nvPr/>
        </p:nvSpPr>
        <p:spPr>
          <a:xfrm>
            <a:off x="8321040" y="3127248"/>
            <a:ext cx="32918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10000"/>
              </a:lnSpc>
              <a:buNone/>
            </a:pPr>
            <a:r>
              <a:rPr lang="en-US" sz="1100" dirty="0">
                <a:solidFill>
                  <a:srgbClr val="B7C9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Blok kode atau teks di notebook</a:t>
            </a:r>
            <a:endParaRPr lang="en-US" sz="1100" dirty="0"/>
          </a:p>
        </p:txBody>
      </p:sp>
      <p:sp>
        <p:nvSpPr>
          <p:cNvPr id="28" name="Shape 26"/>
          <p:cNvSpPr/>
          <p:nvPr/>
        </p:nvSpPr>
        <p:spPr>
          <a:xfrm>
            <a:off x="6537960" y="3584448"/>
            <a:ext cx="5074920" cy="0"/>
          </a:xfrm>
          <a:prstGeom prst="line">
            <a:avLst/>
          </a:prstGeom>
          <a:noFill/>
          <a:ln w="12700">
            <a:solidFill>
              <a:srgbClr val="3A4C30"/>
            </a:solidFill>
            <a:prstDash val="solid"/>
          </a:ln>
        </p:spPr>
      </p:sp>
      <p:sp>
        <p:nvSpPr>
          <p:cNvPr id="29" name="Text 27"/>
          <p:cNvSpPr txBox="1"/>
          <p:nvPr/>
        </p:nvSpPr>
        <p:spPr>
          <a:xfrm>
            <a:off x="6537960" y="3749040"/>
            <a:ext cx="1691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150" b="1" dirty="0">
                <a:solidFill>
                  <a:srgbClr val="C9A6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Variabel</a:t>
            </a:r>
            <a:endParaRPr lang="en-US" sz="1150" dirty="0"/>
          </a:p>
        </p:txBody>
      </p:sp>
      <p:sp>
        <p:nvSpPr>
          <p:cNvPr id="30" name="Text 28"/>
          <p:cNvSpPr txBox="1"/>
          <p:nvPr/>
        </p:nvSpPr>
        <p:spPr>
          <a:xfrm>
            <a:off x="8321040" y="3749040"/>
            <a:ext cx="32918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10000"/>
              </a:lnSpc>
              <a:buNone/>
            </a:pPr>
            <a:r>
              <a:rPr lang="en-US" sz="1100" dirty="0">
                <a:solidFill>
                  <a:srgbClr val="B7C9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Nama untuk menyimpan sebuah nilai</a:t>
            </a:r>
            <a:endParaRPr lang="en-US" sz="1100" dirty="0"/>
          </a:p>
        </p:txBody>
      </p:sp>
      <p:sp>
        <p:nvSpPr>
          <p:cNvPr id="31" name="Shape 29"/>
          <p:cNvSpPr/>
          <p:nvPr/>
        </p:nvSpPr>
        <p:spPr>
          <a:xfrm>
            <a:off x="6537960" y="4206240"/>
            <a:ext cx="5074920" cy="0"/>
          </a:xfrm>
          <a:prstGeom prst="line">
            <a:avLst/>
          </a:prstGeom>
          <a:noFill/>
          <a:ln w="12700">
            <a:solidFill>
              <a:srgbClr val="3A4C30"/>
            </a:solidFill>
            <a:prstDash val="solid"/>
          </a:ln>
        </p:spPr>
      </p:sp>
      <p:sp>
        <p:nvSpPr>
          <p:cNvPr id="32" name="Text 30"/>
          <p:cNvSpPr txBox="1"/>
          <p:nvPr/>
        </p:nvSpPr>
        <p:spPr>
          <a:xfrm>
            <a:off x="6537960" y="4370832"/>
            <a:ext cx="1691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150" b="1" dirty="0">
                <a:solidFill>
                  <a:srgbClr val="C9A6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f-string</a:t>
            </a:r>
            <a:endParaRPr lang="en-US" sz="1150" dirty="0"/>
          </a:p>
        </p:txBody>
      </p:sp>
      <p:sp>
        <p:nvSpPr>
          <p:cNvPr id="33" name="Text 31"/>
          <p:cNvSpPr txBox="1"/>
          <p:nvPr/>
        </p:nvSpPr>
        <p:spPr>
          <a:xfrm>
            <a:off x="8321040" y="4370832"/>
            <a:ext cx="32918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10000"/>
              </a:lnSpc>
              <a:buNone/>
            </a:pPr>
            <a:r>
              <a:rPr lang="en-US" sz="1100" dirty="0">
                <a:solidFill>
                  <a:srgbClr val="B7C9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Menyisipkan variabel lewat f"..." dan { }</a:t>
            </a:r>
            <a:endParaRPr lang="en-US" sz="1100" dirty="0"/>
          </a:p>
        </p:txBody>
      </p:sp>
      <p:sp>
        <p:nvSpPr>
          <p:cNvPr id="34" name="Shape 32"/>
          <p:cNvSpPr/>
          <p:nvPr/>
        </p:nvSpPr>
        <p:spPr>
          <a:xfrm>
            <a:off x="6537960" y="4828032"/>
            <a:ext cx="5074920" cy="0"/>
          </a:xfrm>
          <a:prstGeom prst="line">
            <a:avLst/>
          </a:prstGeom>
          <a:noFill/>
          <a:ln w="12700">
            <a:solidFill>
              <a:srgbClr val="3A4C30"/>
            </a:solidFill>
            <a:prstDash val="solid"/>
          </a:ln>
        </p:spPr>
      </p:sp>
      <p:sp>
        <p:nvSpPr>
          <p:cNvPr id="35" name="Text 33"/>
          <p:cNvSpPr txBox="1"/>
          <p:nvPr/>
        </p:nvSpPr>
        <p:spPr>
          <a:xfrm>
            <a:off x="6537960" y="4992624"/>
            <a:ext cx="1691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150" b="1" dirty="0">
                <a:solidFill>
                  <a:srgbClr val="C9A6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List</a:t>
            </a:r>
            <a:endParaRPr lang="en-US" sz="1150" dirty="0"/>
          </a:p>
        </p:txBody>
      </p:sp>
      <p:sp>
        <p:nvSpPr>
          <p:cNvPr id="36" name="Text 34"/>
          <p:cNvSpPr txBox="1"/>
          <p:nvPr/>
        </p:nvSpPr>
        <p:spPr>
          <a:xfrm>
            <a:off x="8321040" y="4992624"/>
            <a:ext cx="32918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10000"/>
              </a:lnSpc>
              <a:buNone/>
            </a:pPr>
            <a:r>
              <a:rPr lang="en-US" sz="1100" dirty="0">
                <a:solidFill>
                  <a:srgbClr val="B7C9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Kumpulan nilai berurutan</a:t>
            </a:r>
            <a:endParaRPr lang="en-US" sz="1100" dirty="0"/>
          </a:p>
        </p:txBody>
      </p:sp>
      <p:sp>
        <p:nvSpPr>
          <p:cNvPr id="37" name="Shape 35"/>
          <p:cNvSpPr/>
          <p:nvPr/>
        </p:nvSpPr>
        <p:spPr>
          <a:xfrm>
            <a:off x="6537960" y="5449824"/>
            <a:ext cx="5074920" cy="0"/>
          </a:xfrm>
          <a:prstGeom prst="line">
            <a:avLst/>
          </a:prstGeom>
          <a:noFill/>
          <a:ln w="12700">
            <a:solidFill>
              <a:srgbClr val="3A4C30"/>
            </a:solidFill>
            <a:prstDash val="solid"/>
          </a:ln>
        </p:spPr>
      </p:sp>
      <p:sp>
        <p:nvSpPr>
          <p:cNvPr id="38" name="Text 36"/>
          <p:cNvSpPr txBox="1"/>
          <p:nvPr/>
        </p:nvSpPr>
        <p:spPr>
          <a:xfrm>
            <a:off x="6537960" y="5614416"/>
            <a:ext cx="1691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150" b="1" dirty="0">
                <a:solidFill>
                  <a:srgbClr val="C9A6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Dictionary</a:t>
            </a:r>
            <a:endParaRPr lang="en-US" sz="1150" dirty="0"/>
          </a:p>
        </p:txBody>
      </p:sp>
      <p:sp>
        <p:nvSpPr>
          <p:cNvPr id="39" name="Text 37"/>
          <p:cNvSpPr txBox="1"/>
          <p:nvPr/>
        </p:nvSpPr>
        <p:spPr>
          <a:xfrm>
            <a:off x="8321040" y="5614416"/>
            <a:ext cx="32918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10000"/>
              </a:lnSpc>
              <a:buNone/>
            </a:pPr>
            <a:r>
              <a:rPr lang="en-US" sz="1100" dirty="0">
                <a:solidFill>
                  <a:srgbClr val="B7C9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Pasangan key–value bernama</a:t>
            </a:r>
            <a:endParaRPr lang="en-US" sz="1100" dirty="0"/>
          </a:p>
        </p:txBody>
      </p:sp>
      <p:sp>
        <p:nvSpPr>
          <p:cNvPr id="40" name="Text 38"/>
          <p:cNvSpPr txBox="1"/>
          <p:nvPr/>
        </p:nvSpPr>
        <p:spPr>
          <a:xfrm>
            <a:off x="566928" y="6400800"/>
            <a:ext cx="5486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50" dirty="0">
                <a:solidFill>
                  <a:srgbClr val="6F826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Data Analyst UNSIKA  ·  Pertemuan 1</a:t>
            </a:r>
            <a:endParaRPr lang="en-US" sz="850" dirty="0"/>
          </a:p>
        </p:txBody>
      </p:sp>
      <p:sp>
        <p:nvSpPr>
          <p:cNvPr id="41" name="Text 39"/>
          <p:cNvSpPr txBox="1"/>
          <p:nvPr/>
        </p:nvSpPr>
        <p:spPr>
          <a:xfrm>
            <a:off x="10710367" y="6400800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850" b="1" dirty="0">
                <a:solidFill>
                  <a:srgbClr val="C9A6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21</a:t>
            </a:r>
            <a:endParaRPr lang="en-US" sz="850" dirty="0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solidFill>
          <a:srgbClr val="1A231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-1463040" y="3383280"/>
            <a:ext cx="4937760" cy="4937760"/>
          </a:xfrm>
          <a:prstGeom prst="ellipse">
            <a:avLst/>
          </a:prstGeom>
          <a:solidFill>
            <a:srgbClr val="7C9473">
              <a:alpha val="10000"/>
            </a:srgbClr>
          </a:solidFill>
          <a:ln w="12700">
            <a:solidFill>
              <a:srgbClr val="7C9473">
                <a:alpha val="10000"/>
              </a:srgbClr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9509760" y="-1005840"/>
            <a:ext cx="4206240" cy="4206240"/>
          </a:xfrm>
          <a:prstGeom prst="ellipse">
            <a:avLst/>
          </a:prstGeom>
          <a:solidFill>
            <a:srgbClr val="C9A66B">
              <a:alpha val="8000"/>
            </a:srgbClr>
          </a:solidFill>
          <a:ln w="12700">
            <a:solidFill>
              <a:srgbClr val="C9A66B">
                <a:alpha val="8000"/>
              </a:srgbClr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1280160" y="178308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200" b="1" kern="0" spc="350" dirty="0">
                <a:solidFill>
                  <a:srgbClr val="C9A6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MINGGU DEPAN</a:t>
            </a:r>
            <a:endParaRPr lang="en-US" sz="1200" dirty="0"/>
          </a:p>
        </p:txBody>
      </p:sp>
      <p:sp>
        <p:nvSpPr>
          <p:cNvPr id="5" name="Text 3"/>
          <p:cNvSpPr txBox="1"/>
          <p:nvPr/>
        </p:nvSpPr>
        <p:spPr>
          <a:xfrm>
            <a:off x="1280160" y="2148840"/>
            <a:ext cx="82296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4400" b="1" dirty="0">
                <a:solidFill>
                  <a:srgbClr val="F6F3E7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Pertemuan 2</a:t>
            </a:r>
            <a:endParaRPr lang="en-US" sz="4400" dirty="0"/>
          </a:p>
        </p:txBody>
      </p:sp>
      <p:sp>
        <p:nvSpPr>
          <p:cNvPr id="6" name="Text 4"/>
          <p:cNvSpPr txBox="1"/>
          <p:nvPr/>
        </p:nvSpPr>
        <p:spPr>
          <a:xfrm>
            <a:off x="1280160" y="2962656"/>
            <a:ext cx="8686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2600" b="1" dirty="0">
                <a:solidFill>
                  <a:srgbClr val="7C9473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Logika, Perulangan, dan Function</a:t>
            </a:r>
            <a:endParaRPr lang="en-US" sz="2600" dirty="0"/>
          </a:p>
        </p:txBody>
      </p:sp>
      <p:sp>
        <p:nvSpPr>
          <p:cNvPr id="7" name="Text 5"/>
          <p:cNvSpPr txBox="1"/>
          <p:nvPr/>
        </p:nvSpPr>
        <p:spPr>
          <a:xfrm>
            <a:off x="1280160" y="3657600"/>
            <a:ext cx="7498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25000"/>
              </a:lnSpc>
              <a:buNone/>
            </a:pPr>
            <a:r>
              <a:rPr lang="en-US" sz="1350" dirty="0">
                <a:solidFill>
                  <a:srgbClr val="B7C9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Membuat program yang bisa mengambil keputusan sendiri dan mengulang pekerjaan tanpa menulis kode yang sama berkali-kali.</a:t>
            </a:r>
            <a:endParaRPr lang="en-US" sz="1350" dirty="0"/>
          </a:p>
        </p:txBody>
      </p:sp>
      <p:sp>
        <p:nvSpPr>
          <p:cNvPr id="8" name="Shape 6"/>
          <p:cNvSpPr/>
          <p:nvPr/>
        </p:nvSpPr>
        <p:spPr>
          <a:xfrm>
            <a:off x="1280160" y="4480560"/>
            <a:ext cx="2423160" cy="457200"/>
          </a:xfrm>
          <a:prstGeom prst="roundRect">
            <a:avLst>
              <a:gd name="adj" fmla="val 100000"/>
            </a:avLst>
          </a:prstGeom>
          <a:solidFill>
            <a:srgbClr val="2A3823"/>
          </a:solidFill>
          <a:ln w="12700">
            <a:solidFill>
              <a:srgbClr val="7C9473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1280160" y="4480560"/>
            <a:ext cx="2423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B7C9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if / elif / else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3931920" y="4480560"/>
            <a:ext cx="2423160" cy="457200"/>
          </a:xfrm>
          <a:prstGeom prst="roundRect">
            <a:avLst>
              <a:gd name="adj" fmla="val 100000"/>
            </a:avLst>
          </a:prstGeom>
          <a:solidFill>
            <a:srgbClr val="2A3823"/>
          </a:solidFill>
          <a:ln w="12700">
            <a:solidFill>
              <a:srgbClr val="7C9473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3931920" y="4480560"/>
            <a:ext cx="2423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B7C9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for &amp; while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6583680" y="4480560"/>
            <a:ext cx="2423160" cy="457200"/>
          </a:xfrm>
          <a:prstGeom prst="roundRect">
            <a:avLst>
              <a:gd name="adj" fmla="val 100000"/>
            </a:avLst>
          </a:prstGeom>
          <a:solidFill>
            <a:srgbClr val="2A3823"/>
          </a:solidFill>
          <a:ln w="12700">
            <a:solidFill>
              <a:srgbClr val="7C9473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6583680" y="4480560"/>
            <a:ext cx="2423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B7C9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function &amp; return</a:t>
            </a:r>
            <a:endParaRPr lang="en-US" sz="1100" dirty="0"/>
          </a:p>
        </p:txBody>
      </p:sp>
      <p:sp>
        <p:nvSpPr>
          <p:cNvPr id="14" name="Shape 12"/>
          <p:cNvSpPr/>
          <p:nvPr/>
        </p:nvSpPr>
        <p:spPr>
          <a:xfrm>
            <a:off x="1280160" y="5349240"/>
            <a:ext cx="9601200" cy="841248"/>
          </a:xfrm>
          <a:prstGeom prst="roundRect">
            <a:avLst>
              <a:gd name="adj" fmla="val 9783"/>
            </a:avLst>
          </a:prstGeom>
          <a:solidFill>
            <a:srgbClr val="2A3823"/>
          </a:solidFill>
          <a:ln w="12700">
            <a:solidFill>
              <a:srgbClr val="3A4C30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1572768" y="5577840"/>
            <a:ext cx="90525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C9A6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Sebelum pulang: kerjakan Kuis 1 dan latihan mandiri di README pertemuan ini.</a:t>
            </a:r>
            <a:endParaRPr lang="en-US" sz="13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2313</Words>
  <Application>Microsoft Office PowerPoint</Application>
  <PresentationFormat>Widescreen</PresentationFormat>
  <Paragraphs>442</Paragraphs>
  <Slides>22</Slides>
  <Notes>22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22</vt:i4>
      </vt:variant>
    </vt:vector>
  </HeadingPairs>
  <TitlesOfParts>
    <vt:vector size="27" baseType="lpstr">
      <vt:lpstr>Arial</vt:lpstr>
      <vt:lpstr>Calibri</vt:lpstr>
      <vt:lpstr>Consolas</vt:lpstr>
      <vt:lpstr>Poppins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>Haltev Study Club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Data Analyst UNSIKA — Pertemuan 1</dc:title>
  <dc:subject>Kenalan dengan Data Analyst &amp; Python Dasar</dc:subject>
  <dc:creator>Vanya Mayazura</dc:creator>
  <cp:lastModifiedBy>Vanya Zura</cp:lastModifiedBy>
  <cp:revision>3</cp:revision>
  <dcterms:created xsi:type="dcterms:W3CDTF">2026-09-02T12:14:46Z</dcterms:created>
  <dcterms:modified xsi:type="dcterms:W3CDTF">2026-09-02T12:24:34Z</dcterms:modified>
</cp:coreProperties>
</file>