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4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99855" y="3749040"/>
            <a:ext cx="3840480" cy="3840480"/>
          </a:xfrm>
          <a:prstGeom prst="ellipse">
            <a:avLst/>
          </a:prstGeom>
          <a:solidFill>
            <a:srgbClr val="7C9473">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14255" y="4572000"/>
            <a:ext cx="2743200" cy="2743200"/>
          </a:xfrm>
          <a:prstGeom prst="ellipse">
            <a:avLst/>
          </a:prstGeom>
          <a:solidFill>
            <a:srgbClr val="B7C9A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820095" y="5486400"/>
            <a:ext cx="1554480" cy="1554480"/>
          </a:xfrm>
          <a:prstGeom prst="ellipse">
            <a:avLst/>
          </a:prstGeom>
          <a:solidFill>
            <a:srgbClr val="C9A66B">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0160" y="-1463040"/>
            <a:ext cx="2926080" cy="2926080"/>
          </a:xfrm>
          <a:prstGeom prst="ellipse">
            <a:avLst/>
          </a:prstGeom>
          <a:solidFill>
            <a:srgbClr val="7C947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10911535" cy="320040"/>
          </a:xfrm>
          <a:prstGeom prst="rect">
            <a:avLst/>
          </a:prstGeom>
          <a:noFill/>
        </p:spPr>
        <p:txBody>
          <a:bodyPr wrap="none">
            <a:spAutoFit/>
          </a:bodyPr>
          <a:lstStyle/>
          <a:p>
            <a:r>
              <a:rPr sz="1300" b="1">
                <a:solidFill>
                  <a:srgbClr val="C9A66B"/>
                </a:solidFill>
                <a:latin typeface="Calibri"/>
              </a:rPr>
              <a:t>HALTEV STUDY CLUB</a:t>
            </a:r>
          </a:p>
        </p:txBody>
      </p:sp>
      <p:sp>
        <p:nvSpPr>
          <p:cNvPr id="8" name="TextBox 7"/>
          <p:cNvSpPr txBox="1"/>
          <p:nvPr/>
        </p:nvSpPr>
        <p:spPr>
          <a:xfrm>
            <a:off x="640080" y="1691640"/>
            <a:ext cx="10911535" cy="914400"/>
          </a:xfrm>
          <a:prstGeom prst="rect">
            <a:avLst/>
          </a:prstGeom>
          <a:noFill/>
        </p:spPr>
        <p:txBody>
          <a:bodyPr wrap="square">
            <a:spAutoFit/>
          </a:bodyPr>
          <a:lstStyle/>
          <a:p>
            <a:r>
              <a:rPr sz="5400" b="1">
                <a:solidFill>
                  <a:srgbClr val="FFFFFF"/>
                </a:solidFill>
                <a:latin typeface="Poppins"/>
              </a:rPr>
              <a:t>DATA ANALYST UNSIKA</a:t>
            </a:r>
          </a:p>
        </p:txBody>
      </p:sp>
      <p:sp>
        <p:nvSpPr>
          <p:cNvPr id="9" name="Rectangle 8"/>
          <p:cNvSpPr/>
          <p:nvPr/>
        </p:nvSpPr>
        <p:spPr>
          <a:xfrm>
            <a:off x="640080" y="2788920"/>
            <a:ext cx="137160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9144000" cy="914400"/>
          </a:xfrm>
          <a:prstGeom prst="rect">
            <a:avLst/>
          </a:prstGeom>
          <a:noFill/>
        </p:spPr>
        <p:txBody>
          <a:bodyPr wrap="square">
            <a:spAutoFit/>
          </a:bodyPr>
          <a:lstStyle/>
          <a:p>
            <a:r>
              <a:rPr sz="2400" i="0">
                <a:solidFill>
                  <a:srgbClr val="F6F3E7"/>
                </a:solidFill>
                <a:latin typeface="Calibri"/>
              </a:rPr>
              <a:t>Pertemuan 1 — Kenalan dengan Data Analyst &amp; Python Dasar</a:t>
            </a:r>
          </a:p>
        </p:txBody>
      </p:sp>
      <p:sp>
        <p:nvSpPr>
          <p:cNvPr id="11" name="TextBox 10"/>
          <p:cNvSpPr txBox="1"/>
          <p:nvPr/>
        </p:nvSpPr>
        <p:spPr>
          <a:xfrm>
            <a:off x="640080" y="3611880"/>
            <a:ext cx="9144000" cy="914400"/>
          </a:xfrm>
          <a:prstGeom prst="rect">
            <a:avLst/>
          </a:prstGeom>
          <a:noFill/>
        </p:spPr>
        <p:txBody>
          <a:bodyPr wrap="square">
            <a:spAutoFit/>
          </a:bodyPr>
          <a:lstStyle/>
          <a:p>
            <a:r>
              <a:rPr sz="1500" i="1">
                <a:solidFill>
                  <a:srgbClr val="B7C9A8"/>
                </a:solidFill>
                <a:latin typeface="Calibri"/>
              </a:rPr>
              <a:t>Studi Kasus: Data Penjualan E-commerce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3000" b="1">
                <a:solidFill>
                  <a:srgbClr val="33422B"/>
                </a:solidFill>
                <a:latin typeface="Poppins"/>
              </a:rPr>
              <a:t>Gambaran Sesi Ini</a:t>
            </a:r>
          </a:p>
        </p:txBody>
      </p:sp>
      <p:sp>
        <p:nvSpPr>
          <p:cNvPr id="6" name="Rectangle 5"/>
          <p:cNvSpPr/>
          <p:nvPr/>
        </p:nvSpPr>
        <p:spPr>
          <a:xfrm>
            <a:off x="640080" y="123444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10911535" cy="914400"/>
          </a:xfrm>
          <a:prstGeom prst="rect">
            <a:avLst/>
          </a:prstGeom>
          <a:noFill/>
        </p:spPr>
        <p:txBody>
          <a:bodyPr wrap="square">
            <a:spAutoFit/>
          </a:bodyPr>
          <a:lstStyle/>
          <a:p>
            <a:r>
              <a:rPr sz="1500" i="0">
                <a:solidFill>
                  <a:srgbClr val="5A6652"/>
                </a:solidFill>
                <a:latin typeface="Calibri"/>
              </a:rPr>
              <a:t>Durasi: 19.30–21.00 WIB   •   Tools: Google Colab, Python 3   •   Output: Peserta dapat menjalankan notebook di Colab dan memakai variabel, tipe data, list, serta dictionary untuk menyimpan data sederhana.</a:t>
            </a:r>
          </a:p>
        </p:txBody>
      </p:sp>
      <p:sp>
        <p:nvSpPr>
          <p:cNvPr id="8" name="TextBox 7"/>
          <p:cNvSpPr txBox="1"/>
          <p:nvPr/>
        </p:nvSpPr>
        <p:spPr>
          <a:xfrm>
            <a:off x="640080" y="1965960"/>
            <a:ext cx="9601200" cy="2743200"/>
          </a:xfrm>
          <a:prstGeom prst="rect">
            <a:avLst/>
          </a:prstGeom>
          <a:noFill/>
        </p:spPr>
        <p:txBody>
          <a:bodyPr wrap="square">
            <a:spAutoFit/>
          </a:bodyPr>
          <a:lstStyle/>
          <a:p>
            <a:pPr>
              <a:spcAft>
                <a:spcPts val="800"/>
              </a:spcAft>
            </a:pPr>
            <a:r>
              <a:rPr sz="1700" b="1">
                <a:solidFill>
                  <a:srgbClr val="7C9473"/>
                </a:solidFill>
              </a:rPr>
              <a:t>●  </a:t>
            </a:r>
            <a:r>
              <a:rPr sz="1700">
                <a:solidFill>
                  <a:srgbClr val="33422B"/>
                </a:solidFill>
                <a:latin typeface="Calibri"/>
              </a:rPr>
              <a:t>Tujuan belajar:</a:t>
            </a:r>
          </a:p>
          <a:p>
            <a:pPr>
              <a:spcAft>
                <a:spcPts val="800"/>
              </a:spcAft>
            </a:pPr>
            <a:r>
              <a:rPr sz="1700" b="1">
                <a:solidFill>
                  <a:srgbClr val="7C9473"/>
                </a:solidFill>
              </a:rPr>
              <a:t>●  </a:t>
            </a:r>
            <a:r>
              <a:rPr sz="1700">
                <a:solidFill>
                  <a:srgbClr val="33422B"/>
                </a:solidFill>
                <a:latin typeface="Calibri"/>
              </a:rPr>
              <a:t>    Memahami peran Data Analyst dan alur kerja dari data mentah sampai insight.</a:t>
            </a:r>
          </a:p>
          <a:p>
            <a:pPr>
              <a:spcAft>
                <a:spcPts val="800"/>
              </a:spcAft>
            </a:pPr>
            <a:r>
              <a:rPr sz="1700" b="1">
                <a:solidFill>
                  <a:srgbClr val="7C9473"/>
                </a:solidFill>
              </a:rPr>
              <a:t>●  </a:t>
            </a:r>
            <a:r>
              <a:rPr sz="1700">
                <a:solidFill>
                  <a:srgbClr val="33422B"/>
                </a:solidFill>
                <a:latin typeface="Calibri"/>
              </a:rPr>
              <a:t>    Menggunakan Google Colab: membuat cell, menjalankan kode, membaca error sederhana.</a:t>
            </a:r>
          </a:p>
          <a:p>
            <a:pPr>
              <a:spcAft>
                <a:spcPts val="800"/>
              </a:spcAft>
            </a:pPr>
            <a:r>
              <a:rPr sz="1700" b="1">
                <a:solidFill>
                  <a:srgbClr val="7C9473"/>
                </a:solidFill>
              </a:rPr>
              <a:t>●  </a:t>
            </a:r>
            <a:r>
              <a:rPr sz="1700">
                <a:solidFill>
                  <a:srgbClr val="33422B"/>
                </a:solidFill>
                <a:latin typeface="Calibri"/>
              </a:rPr>
              <a:t>    Menggunakan variabel, tipe data, print(), dan f-string.</a:t>
            </a:r>
          </a:p>
          <a:p>
            <a:pPr>
              <a:spcAft>
                <a:spcPts val="800"/>
              </a:spcAft>
            </a:pPr>
            <a:r>
              <a:rPr sz="1700" b="1">
                <a:solidFill>
                  <a:srgbClr val="7C9473"/>
                </a:solidFill>
              </a:rPr>
              <a:t>●  </a:t>
            </a:r>
            <a:r>
              <a:rPr sz="1700">
                <a:solidFill>
                  <a:srgbClr val="33422B"/>
                </a:solidFill>
                <a:latin typeface="Calibri"/>
              </a:rPr>
              <a:t>    Menggunakan operator aritmatika dan perbandingan dasar.</a:t>
            </a:r>
          </a:p>
          <a:p>
            <a:pPr>
              <a:spcAft>
                <a:spcPts val="800"/>
              </a:spcAft>
            </a:pPr>
            <a:r>
              <a:rPr sz="1700" b="1">
                <a:solidFill>
                  <a:srgbClr val="7C9473"/>
                </a:solidFill>
              </a:rPr>
              <a:t>●  </a:t>
            </a:r>
            <a:r>
              <a:rPr sz="1700">
                <a:solidFill>
                  <a:srgbClr val="33422B"/>
                </a:solidFill>
                <a:latin typeface="Calibri"/>
              </a:rPr>
              <a:t>    Menyimpan dan mengakses data dengan list dan dictionary.</a:t>
            </a:r>
          </a:p>
        </p:txBody>
      </p:sp>
      <p:sp>
        <p:nvSpPr>
          <p:cNvPr id="9" name="Rectangle 8"/>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bahan presentasi, detail lengkap ada di README.md</a:t>
            </a:r>
          </a:p>
        </p:txBody>
      </p:sp>
      <p:sp>
        <p:nvSpPr>
          <p:cNvPr id="11" name="TextBox 10"/>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3000" b="1">
                <a:solidFill>
                  <a:srgbClr val="33422B"/>
                </a:solidFill>
                <a:latin typeface="Poppins"/>
              </a:rPr>
              <a:t>Rundown Sesi Ini</a:t>
            </a:r>
          </a:p>
        </p:txBody>
      </p:sp>
      <p:sp>
        <p:nvSpPr>
          <p:cNvPr id="6" name="Rectangle 5"/>
          <p:cNvSpPr/>
          <p:nvPr/>
        </p:nvSpPr>
        <p:spPr>
          <a:xfrm>
            <a:off x="640080" y="123444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463040"/>
          <a:ext cx="10911535" cy="3200400"/>
        </p:xfrm>
        <a:graphic>
          <a:graphicData uri="http://schemas.openxmlformats.org/drawingml/2006/table">
            <a:tbl>
              <a:tblPr firstRow="1" bandRow="1">
                <a:tableStyleId>{5C22544A-7EE6-4342-B048-85BDC9FD1C3A}</a:tableStyleId>
              </a:tblPr>
              <a:tblGrid>
                <a:gridCol w="5455767"/>
                <a:gridCol w="5455768"/>
              </a:tblGrid>
              <a:tr h="457200">
                <a:tc>
                  <a:txBody>
                    <a:bodyPr/>
                    <a:lstStyle/>
                    <a:p>
                      <a:pPr>
                        <a:defRPr>
                          <a:latin typeface="Calibri"/>
                        </a:defRPr>
                      </a:pPr>
                      <a:r>
                        <a:rPr b="1" sz="1400">
                          <a:solidFill>
                            <a:srgbClr val="FFFFFF"/>
                          </a:solidFill>
                        </a:rPr>
                        <a:t>Waktu</a:t>
                      </a:r>
                    </a:p>
                  </a:txBody>
                  <a:tcPr marL="91440" marT="36576" marB="36576">
                    <a:solidFill>
                      <a:srgbClr val="33422B"/>
                    </a:solidFill>
                  </a:tcPr>
                </a:tc>
                <a:tc>
                  <a:txBody>
                    <a:bodyPr/>
                    <a:lstStyle/>
                    <a:p>
                      <a:pPr>
                        <a:defRPr>
                          <a:latin typeface="Calibri"/>
                        </a:defRPr>
                      </a:pPr>
                      <a:r>
                        <a:rPr b="1" sz="1400">
                          <a:solidFill>
                            <a:srgbClr val="FFFFFF"/>
                          </a:solidFill>
                        </a:rPr>
                        <a:t>Aktivitas</a:t>
                      </a:r>
                    </a:p>
                  </a:txBody>
                  <a:tcPr marL="91440" marT="36576" marB="36576">
                    <a:solidFill>
                      <a:srgbClr val="33422B"/>
                    </a:solidFill>
                  </a:tcPr>
                </a:tc>
              </a:tr>
              <a:tr h="457200">
                <a:tc>
                  <a:txBody>
                    <a:bodyPr/>
                    <a:lstStyle/>
                    <a:p>
                      <a:pPr>
                        <a:defRPr>
                          <a:latin typeface="Calibri"/>
                        </a:defRPr>
                      </a:pPr>
                      <a:r>
                        <a:rPr sz="1300">
                          <a:solidFill>
                            <a:srgbClr val="33422B"/>
                          </a:solidFill>
                        </a:rPr>
                        <a:t>19.30–19.40</a:t>
                      </a:r>
                    </a:p>
                  </a:txBody>
                  <a:tcPr marL="91440" marT="27432" marB="27432">
                    <a:solidFill>
                      <a:srgbClr val="FFFFFF"/>
                    </a:solidFill>
                  </a:tcPr>
                </a:tc>
                <a:tc>
                  <a:txBody>
                    <a:bodyPr/>
                    <a:lstStyle/>
                    <a:p>
                      <a:pPr>
                        <a:defRPr>
                          <a:latin typeface="Calibri"/>
                        </a:defRPr>
                      </a:pPr>
                      <a:r>
                        <a:rPr sz="1300">
                          <a:solidFill>
                            <a:srgbClr val="33422B"/>
                          </a:solidFill>
                        </a:rPr>
                        <a:t>Pembukaan, ice breaking: "data apa yang paling sering kalia…</a:t>
                      </a:r>
                    </a:p>
                  </a:txBody>
                  <a:tcPr marL="91440" marT="27432" marB="27432">
                    <a:solidFill>
                      <a:srgbClr val="FFFFFF"/>
                    </a:solidFill>
                  </a:tcPr>
                </a:tc>
              </a:tr>
              <a:tr h="457200">
                <a:tc>
                  <a:txBody>
                    <a:bodyPr/>
                    <a:lstStyle/>
                    <a:p>
                      <a:pPr>
                        <a:defRPr>
                          <a:latin typeface="Calibri"/>
                        </a:defRPr>
                      </a:pPr>
                      <a:r>
                        <a:rPr sz="1300">
                          <a:solidFill>
                            <a:srgbClr val="33422B"/>
                          </a:solidFill>
                        </a:rPr>
                        <a:t>19.40–19.55</a:t>
                      </a:r>
                    </a:p>
                  </a:txBody>
                  <a:tcPr marL="91440" marT="27432" marB="27432">
                    <a:solidFill>
                      <a:srgbClr val="E9EFE1"/>
                    </a:solidFill>
                  </a:tcPr>
                </a:tc>
                <a:tc>
                  <a:txBody>
                    <a:bodyPr/>
                    <a:lstStyle/>
                    <a:p>
                      <a:pPr>
                        <a:defRPr>
                          <a:latin typeface="Calibri"/>
                        </a:defRPr>
                      </a:pPr>
                      <a:r>
                        <a:rPr sz="1300">
                          <a:solidFill>
                            <a:srgbClr val="33422B"/>
                          </a:solidFill>
                        </a:rPr>
                        <a:t>Teori: apa itu Data Analyst, alur kerja, contoh dashboard</a:t>
                      </a:r>
                    </a:p>
                  </a:txBody>
                  <a:tcPr marL="91440" marT="27432" marB="27432">
                    <a:solidFill>
                      <a:srgbClr val="E9EFE1"/>
                    </a:solidFill>
                  </a:tcPr>
                </a:tc>
              </a:tr>
              <a:tr h="457200">
                <a:tc>
                  <a:txBody>
                    <a:bodyPr/>
                    <a:lstStyle/>
                    <a:p>
                      <a:pPr>
                        <a:defRPr>
                          <a:latin typeface="Calibri"/>
                        </a:defRPr>
                      </a:pPr>
                      <a:r>
                        <a:rPr sz="1300">
                          <a:solidFill>
                            <a:srgbClr val="33422B"/>
                          </a:solidFill>
                        </a:rPr>
                        <a:t>19.55–20.10</a:t>
                      </a:r>
                    </a:p>
                  </a:txBody>
                  <a:tcPr marL="91440" marT="27432" marB="27432">
                    <a:solidFill>
                      <a:srgbClr val="FFFFFF"/>
                    </a:solidFill>
                  </a:tcPr>
                </a:tc>
                <a:tc>
                  <a:txBody>
                    <a:bodyPr/>
                    <a:lstStyle/>
                    <a:p>
                      <a:pPr>
                        <a:defRPr>
                          <a:latin typeface="Calibri"/>
                        </a:defRPr>
                      </a:pPr>
                      <a:r>
                        <a:rPr sz="1300">
                          <a:solidFill>
                            <a:srgbClr val="33422B"/>
                          </a:solidFill>
                        </a:rPr>
                        <a:t>Teori + hands-on: Google Colab, cell, run, error sederhana</a:t>
                      </a:r>
                    </a:p>
                  </a:txBody>
                  <a:tcPr marL="91440" marT="27432" marB="27432">
                    <a:solidFill>
                      <a:srgbClr val="FFFFFF"/>
                    </a:solidFill>
                  </a:tcPr>
                </a:tc>
              </a:tr>
              <a:tr h="457200">
                <a:tc>
                  <a:txBody>
                    <a:bodyPr/>
                    <a:lstStyle/>
                    <a:p>
                      <a:pPr>
                        <a:defRPr>
                          <a:latin typeface="Calibri"/>
                        </a:defRPr>
                      </a:pPr>
                      <a:r>
                        <a:rPr sz="1300">
                          <a:solidFill>
                            <a:srgbClr val="33422B"/>
                          </a:solidFill>
                        </a:rPr>
                        <a:t>20.10–20.35</a:t>
                      </a:r>
                    </a:p>
                  </a:txBody>
                  <a:tcPr marL="91440" marT="27432" marB="27432">
                    <a:solidFill>
                      <a:srgbClr val="E9EFE1"/>
                    </a:solidFill>
                  </a:tcPr>
                </a:tc>
                <a:tc>
                  <a:txBody>
                    <a:bodyPr/>
                    <a:lstStyle/>
                    <a:p>
                      <a:pPr>
                        <a:defRPr>
                          <a:latin typeface="Calibri"/>
                        </a:defRPr>
                      </a:pPr>
                      <a:r>
                        <a:rPr sz="1300">
                          <a:solidFill>
                            <a:srgbClr val="33422B"/>
                          </a:solidFill>
                        </a:rPr>
                        <a:t>Teori + hands-on: variabel, tipe data, print, f-string, ope…</a:t>
                      </a:r>
                    </a:p>
                  </a:txBody>
                  <a:tcPr marL="91440" marT="27432" marB="27432">
                    <a:solidFill>
                      <a:srgbClr val="E9EFE1"/>
                    </a:solidFill>
                  </a:tcPr>
                </a:tc>
              </a:tr>
              <a:tr h="457200">
                <a:tc>
                  <a:txBody>
                    <a:bodyPr/>
                    <a:lstStyle/>
                    <a:p>
                      <a:pPr>
                        <a:defRPr>
                          <a:latin typeface="Calibri"/>
                        </a:defRPr>
                      </a:pPr>
                      <a:r>
                        <a:rPr sz="1300">
                          <a:solidFill>
                            <a:srgbClr val="33422B"/>
                          </a:solidFill>
                        </a:rPr>
                        <a:t>20.35–20.55</a:t>
                      </a:r>
                    </a:p>
                  </a:txBody>
                  <a:tcPr marL="91440" marT="27432" marB="27432">
                    <a:solidFill>
                      <a:srgbClr val="FFFFFF"/>
                    </a:solidFill>
                  </a:tcPr>
                </a:tc>
                <a:tc>
                  <a:txBody>
                    <a:bodyPr/>
                    <a:lstStyle/>
                    <a:p>
                      <a:pPr>
                        <a:defRPr>
                          <a:latin typeface="Calibri"/>
                        </a:defRPr>
                      </a:pPr>
                      <a:r>
                        <a:rPr sz="1300">
                          <a:solidFill>
                            <a:srgbClr val="33422B"/>
                          </a:solidFill>
                        </a:rPr>
                        <a:t>Teori + hands-on: list, dictionary, indexing</a:t>
                      </a:r>
                    </a:p>
                  </a:txBody>
                  <a:tcPr marL="91440" marT="27432" marB="27432">
                    <a:solidFill>
                      <a:srgbClr val="FFFFFF"/>
                    </a:solidFill>
                  </a:tcPr>
                </a:tc>
              </a:tr>
              <a:tr h="457200">
                <a:tc>
                  <a:txBody>
                    <a:bodyPr/>
                    <a:lstStyle/>
                    <a:p>
                      <a:pPr>
                        <a:defRPr>
                          <a:latin typeface="Calibri"/>
                        </a:defRPr>
                      </a:pPr>
                      <a:r>
                        <a:rPr sz="1300">
                          <a:solidFill>
                            <a:srgbClr val="33422B"/>
                          </a:solidFill>
                        </a:rPr>
                        <a:t>20.55–21.00</a:t>
                      </a:r>
                    </a:p>
                  </a:txBody>
                  <a:tcPr marL="91440" marT="27432" marB="27432">
                    <a:solidFill>
                      <a:srgbClr val="E9EFE1"/>
                    </a:solidFill>
                  </a:tcPr>
                </a:tc>
                <a:tc>
                  <a:txBody>
                    <a:bodyPr/>
                    <a:lstStyle/>
                    <a:p>
                      <a:pPr>
                        <a:defRPr>
                          <a:latin typeface="Calibri"/>
                        </a:defRPr>
                      </a:pPr>
                      <a:r>
                        <a:rPr sz="1300">
                          <a:solidFill>
                            <a:srgbClr val="33422B"/>
                          </a:solidFill>
                        </a:rPr>
                        <a:t>Rangkuman dan pengantar kuis 1</a:t>
                      </a:r>
                    </a:p>
                  </a:txBody>
                  <a:tcPr marL="91440" marT="27432" marB="27432">
                    <a:solidFill>
                      <a:srgbClr val="E9EFE1"/>
                    </a:solidFill>
                  </a:tcPr>
                </a:tc>
              </a:tr>
            </a:tbl>
          </a:graphicData>
        </a:graphic>
      </p:graphicFrame>
      <p:sp>
        <p:nvSpPr>
          <p:cNvPr id="8" name="Rectangle 7"/>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a:t>
            </a:r>
          </a:p>
        </p:txBody>
      </p:sp>
      <p:sp>
        <p:nvSpPr>
          <p:cNvPr id="10" name="TextBox 9"/>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Apa itu Data Analyst?</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11535" cy="914400"/>
          </a:xfrm>
          <a:prstGeom prst="rect">
            <a:avLst/>
          </a:prstGeom>
          <a:noFill/>
        </p:spPr>
        <p:txBody>
          <a:bodyPr wrap="square">
            <a:spAutoFit/>
          </a:bodyPr>
          <a:lstStyle/>
          <a:p>
            <a:r>
              <a:rPr sz="1700" i="0">
                <a:solidFill>
                  <a:srgbClr val="33422B"/>
                </a:solidFill>
                <a:latin typeface="Calibri"/>
              </a:rPr>
              <a:t>Data Analyst adalah orang yang mengubah data mentah menjadi informasi yang bisa dipakai untuk mengambil keputusan. Bayangkan seorang detektif: data adalah kumpulan petunjuk berserakan, dan tugas Data Analyst adalah meny…</a:t>
            </a:r>
          </a:p>
        </p:txBody>
      </p:sp>
      <p:sp>
        <p:nvSpPr>
          <p:cNvPr id="8" name="TextBox 7"/>
          <p:cNvSpPr txBox="1"/>
          <p:nvPr/>
        </p:nvSpPr>
        <p:spPr>
          <a:xfrm>
            <a:off x="640080" y="2194560"/>
            <a:ext cx="10911535"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Data mentah sendirian biasanya belum berguna — ribuan baris angka penjualan tidak langsung menjawab…</a:t>
            </a:r>
          </a:p>
          <a:p>
            <a:pPr>
              <a:spcAft>
                <a:spcPts val="800"/>
              </a:spcAft>
            </a:pPr>
            <a:r>
              <a:rPr sz="1600" b="1">
                <a:solidFill>
                  <a:srgbClr val="7C9473"/>
                </a:solidFill>
              </a:rPr>
              <a:t>●  </a:t>
            </a:r>
            <a:r>
              <a:rPr sz="1600">
                <a:solidFill>
                  <a:srgbClr val="33422B"/>
                </a:solidFill>
                <a:latin typeface="Calibri"/>
              </a:rPr>
              <a:t>Data Analyst mengolah data itu jadi insight: temuan yang punya makna, misalnya "penjualan kategori…</a:t>
            </a:r>
          </a:p>
          <a:p>
            <a:pPr>
              <a:spcAft>
                <a:spcPts val="800"/>
              </a:spcAft>
            </a:pPr>
            <a:r>
              <a:rPr sz="1600" b="1">
                <a:solidFill>
                  <a:srgbClr val="7C9473"/>
                </a:solidFill>
              </a:rPr>
              <a:t>●  </a:t>
            </a:r>
            <a:r>
              <a:rPr sz="1600">
                <a:solidFill>
                  <a:srgbClr val="33422B"/>
                </a:solidFill>
                <a:latin typeface="Calibri"/>
              </a:rPr>
              <a:t>Insight itu lalu dipakai orang lain (manajer, tim marketing) untuk mengambil keputusan.</a:t>
            </a:r>
          </a:p>
        </p:txBody>
      </p:sp>
      <p:sp>
        <p:nvSpPr>
          <p:cNvPr id="9" name="TextBox 8"/>
          <p:cNvSpPr txBox="1"/>
          <p:nvPr/>
        </p:nvSpPr>
        <p:spPr>
          <a:xfrm>
            <a:off x="640080" y="5989320"/>
            <a:ext cx="10911535" cy="914400"/>
          </a:xfrm>
          <a:prstGeom prst="rect">
            <a:avLst/>
          </a:prstGeom>
          <a:noFill/>
        </p:spPr>
        <p:txBody>
          <a:bodyPr wrap="square">
            <a:spAutoFit/>
          </a:bodyPr>
          <a:lstStyle/>
          <a:p>
            <a:r>
              <a:rPr sz="1300" i="1">
                <a:solidFill>
                  <a:srgbClr val="5A6652"/>
                </a:solidFill>
                <a:latin typeface="Calibri"/>
              </a:rPr>
              <a:t>🖼  Tambahkan gambar: contoh dashboard sederhana (grafik batang penjualan per kategori) dengan anotasi "ini yang dilihat orang lain", di sebelahnya tabel data me…</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Alur Kerja Data Analyst</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Pekerjaan Data Analyst secara umum mengikuti alur yang sama, apapun datanya:</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Pertanyaan — semua berawal dari pertanyaan bisnis, misalnya "kategori produk mana yang paling laku…</a:t>
            </a:r>
          </a:p>
          <a:p>
            <a:pPr>
              <a:spcAft>
                <a:spcPts val="800"/>
              </a:spcAft>
            </a:pPr>
            <a:r>
              <a:rPr sz="1600" b="1">
                <a:solidFill>
                  <a:srgbClr val="7C9473"/>
                </a:solidFill>
              </a:rPr>
              <a:t>●  </a:t>
            </a:r>
            <a:r>
              <a:rPr sz="1600">
                <a:solidFill>
                  <a:srgbClr val="33422B"/>
                </a:solidFill>
                <a:latin typeface="Calibri"/>
              </a:rPr>
              <a:t>Kumpulkan data — mengambil data yang relevan, misalnya file CSV penjualan.</a:t>
            </a:r>
          </a:p>
          <a:p>
            <a:pPr>
              <a:spcAft>
                <a:spcPts val="800"/>
              </a:spcAft>
            </a:pPr>
            <a:r>
              <a:rPr sz="1600" b="1">
                <a:solidFill>
                  <a:srgbClr val="7C9473"/>
                </a:solidFill>
              </a:rPr>
              <a:t>●  </a:t>
            </a:r>
            <a:r>
              <a:rPr sz="1600">
                <a:solidFill>
                  <a:srgbClr val="33422B"/>
                </a:solidFill>
                <a:latin typeface="Calibri"/>
              </a:rPr>
              <a:t>Bersihkan — data mentah sering berantakan (ada yang kosong, salah ketik, duplikat) — dibersihkan du…</a:t>
            </a:r>
          </a:p>
          <a:p>
            <a:pPr>
              <a:spcAft>
                <a:spcPts val="800"/>
              </a:spcAft>
            </a:pPr>
            <a:r>
              <a:rPr sz="1600" b="1">
                <a:solidFill>
                  <a:srgbClr val="7C9473"/>
                </a:solidFill>
              </a:rPr>
              <a:t>●  </a:t>
            </a:r>
            <a:r>
              <a:rPr sz="1600">
                <a:solidFill>
                  <a:srgbClr val="33422B"/>
                </a:solidFill>
                <a:latin typeface="Calibri"/>
              </a:rPr>
              <a:t>Analisis — menghitung, mengelompokkan, mencari pola dalam data yang sudah bersih.</a:t>
            </a:r>
          </a:p>
          <a:p>
            <a:pPr>
              <a:spcAft>
                <a:spcPts val="800"/>
              </a:spcAft>
            </a:pPr>
            <a:r>
              <a:rPr sz="1600" b="1">
                <a:solidFill>
                  <a:srgbClr val="7C9473"/>
                </a:solidFill>
              </a:rPr>
              <a:t>●  </a:t>
            </a:r>
            <a:r>
              <a:rPr sz="1600">
                <a:solidFill>
                  <a:srgbClr val="33422B"/>
                </a:solidFill>
                <a:latin typeface="Calibri"/>
              </a:rPr>
              <a:t>Visualisasi — mengubah angka jadi grafik supaya gampang dipahami orang lain.</a:t>
            </a:r>
          </a:p>
        </p:txBody>
      </p:sp>
      <p:sp>
        <p:nvSpPr>
          <p:cNvPr id="9" name="Rounded Rectangle 8"/>
          <p:cNvSpPr/>
          <p:nvPr/>
        </p:nvSpPr>
        <p:spPr>
          <a:xfrm>
            <a:off x="7071055" y="1417320"/>
            <a:ext cx="4480560" cy="594359"/>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Pertanyaan → Kumpulkan Data → Bersihkan → Analisis → Visualisasi → Rekomendasi</a:t>
            </a:r>
          </a:p>
        </p:txBody>
      </p:sp>
      <p:sp>
        <p:nvSpPr>
          <p:cNvPr id="10" name="TextBox 9"/>
          <p:cNvSpPr txBox="1"/>
          <p:nvPr/>
        </p:nvSpPr>
        <p:spPr>
          <a:xfrm>
            <a:off x="640080" y="5989320"/>
            <a:ext cx="10911535" cy="914400"/>
          </a:xfrm>
          <a:prstGeom prst="rect">
            <a:avLst/>
          </a:prstGeom>
          <a:noFill/>
        </p:spPr>
        <p:txBody>
          <a:bodyPr wrap="square">
            <a:spAutoFit/>
          </a:bodyPr>
          <a:lstStyle/>
          <a:p>
            <a:r>
              <a:rPr sz="1300" i="1">
                <a:solidFill>
                  <a:srgbClr val="5A6652"/>
                </a:solidFill>
                <a:latin typeface="Calibri"/>
              </a:rPr>
              <a:t>🖼  Tambahkan gambar: diagram alur 6 kotak di atas, dengan ikon sederhana di tiap tahap (kaca pembesar untuk "kumpulkan", sapu untuk "bersihkan", dst).</a:t>
            </a:r>
          </a:p>
        </p:txBody>
      </p:sp>
      <p:sp>
        <p:nvSpPr>
          <p:cNvPr id="11" name="Rectangle 10"/>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3" name="TextBox 12"/>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Apa itu Google Colab?</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11535" cy="914400"/>
          </a:xfrm>
          <a:prstGeom prst="rect">
            <a:avLst/>
          </a:prstGeom>
          <a:noFill/>
        </p:spPr>
        <p:txBody>
          <a:bodyPr wrap="square">
            <a:spAutoFit/>
          </a:bodyPr>
          <a:lstStyle/>
          <a:p>
            <a:r>
              <a:rPr sz="1700" i="0">
                <a:solidFill>
                  <a:srgbClr val="33422B"/>
                </a:solidFill>
                <a:latin typeface="Calibri"/>
              </a:rPr>
              <a:t>Google Colab adalah tempat menulis dan menjalankan kode Python langsung dari browser, gratis, tanpa perlu instalasi apa pun di laptop. Semua kode berjalan di server Google, hasilnya ditampilkan balik ke browser kita.</a:t>
            </a:r>
          </a:p>
        </p:txBody>
      </p:sp>
      <p:sp>
        <p:nvSpPr>
          <p:cNvPr id="8" name="TextBox 7"/>
          <p:cNvSpPr txBox="1"/>
          <p:nvPr/>
        </p:nvSpPr>
        <p:spPr>
          <a:xfrm>
            <a:off x="640080" y="2194560"/>
            <a:ext cx="10911535"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Analoginya seperti Google Docs, tapi isinya kode, bukan tulisan — bisa dibuka dari laptop mana saja…</a:t>
            </a:r>
          </a:p>
          <a:p>
            <a:pPr>
              <a:spcAft>
                <a:spcPts val="800"/>
              </a:spcAft>
            </a:pPr>
            <a:r>
              <a:rPr sz="1600" b="1">
                <a:solidFill>
                  <a:srgbClr val="7C9473"/>
                </a:solidFill>
              </a:rPr>
              <a:t>●  </a:t>
            </a:r>
            <a:r>
              <a:rPr sz="1600">
                <a:solidFill>
                  <a:srgbClr val="33422B"/>
                </a:solidFill>
                <a:latin typeface="Calibri"/>
              </a:rPr>
              <a:t>Colab menyimpan kerjaan otomatis ke Google Drive.</a:t>
            </a:r>
          </a:p>
          <a:p>
            <a:pPr>
              <a:spcAft>
                <a:spcPts val="800"/>
              </a:spcAft>
            </a:pPr>
            <a:r>
              <a:rPr sz="1600" b="1">
                <a:solidFill>
                  <a:srgbClr val="7C9473"/>
                </a:solidFill>
              </a:rPr>
              <a:t>●  </a:t>
            </a:r>
            <a:r>
              <a:rPr sz="1600">
                <a:solidFill>
                  <a:srgbClr val="33422B"/>
                </a:solidFill>
                <a:latin typeface="Calibri"/>
              </a:rPr>
              <a:t>Karena tidak perlu instalasi, Colab dipakai dari pertemuan 1 sampai 5 supaya semua peserta bisa lan…</a:t>
            </a:r>
          </a:p>
        </p:txBody>
      </p:sp>
      <p:sp>
        <p:nvSpPr>
          <p:cNvPr id="9" name="Rectangle 8"/>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1" name="TextBox 10"/>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Cell: Blok Kode di Colab</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Notebook Colab tersusun dari cell — kotak-kotak kecil yang masing-masing bisa diisi kode atau teks.</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Code cell — tempat menulis kode Python, dijalankan dengan tombol ▶ di sebelah kiri cell, atau short…</a:t>
            </a:r>
          </a:p>
          <a:p>
            <a:pPr>
              <a:spcAft>
                <a:spcPts val="800"/>
              </a:spcAft>
            </a:pPr>
            <a:r>
              <a:rPr sz="1600" b="1">
                <a:solidFill>
                  <a:srgbClr val="7C9473"/>
                </a:solidFill>
              </a:rPr>
              <a:t>●  </a:t>
            </a:r>
            <a:r>
              <a:rPr sz="1600">
                <a:solidFill>
                  <a:srgbClr val="33422B"/>
                </a:solidFill>
                <a:latin typeface="Calibri"/>
              </a:rPr>
              <a:t>Text cell — tempat menulis catatan/penjelasan dalam format Markdown, tidak dieksekusi sebagai kode.</a:t>
            </a:r>
          </a:p>
          <a:p>
            <a:pPr>
              <a:spcAft>
                <a:spcPts val="800"/>
              </a:spcAft>
            </a:pPr>
            <a:r>
              <a:rPr sz="1600" b="1">
                <a:solidFill>
                  <a:srgbClr val="7C9473"/>
                </a:solidFill>
              </a:rPr>
              <a:t>●  </a:t>
            </a:r>
            <a:r>
              <a:rPr sz="1600">
                <a:solidFill>
                  <a:srgbClr val="33422B"/>
                </a:solidFill>
                <a:latin typeface="Calibri"/>
              </a:rPr>
              <a:t>Cell dijalankan satu per satu, urutannya bisa diatur bebas — tapi hasil dari cell sebelumnya tetap…</a:t>
            </a:r>
          </a:p>
          <a:p>
            <a:pPr>
              <a:spcAft>
                <a:spcPts val="800"/>
              </a:spcAft>
            </a:pPr>
            <a:r>
              <a:rPr sz="1600" b="1">
                <a:solidFill>
                  <a:srgbClr val="7C9473"/>
                </a:solidFill>
              </a:rPr>
              <a:t>●  </a:t>
            </a:r>
            <a:r>
              <a:rPr sz="1600">
                <a:solidFill>
                  <a:srgbClr val="33422B"/>
                </a:solidFill>
                <a:latin typeface="Calibri"/>
              </a:rPr>
              <a:t># di awal baris membuat baris itu jadi komentar — catatan untuk manusia, diabaikan Python saat dija…</a:t>
            </a:r>
          </a:p>
          <a:p>
            <a:pPr>
              <a:spcAft>
                <a:spcPts val="800"/>
              </a:spcAft>
            </a:pPr>
            <a:r>
              <a:rPr sz="1600" b="1">
                <a:solidFill>
                  <a:srgbClr val="7C9473"/>
                </a:solidFill>
              </a:rPr>
              <a:t>●  </a:t>
            </a:r>
            <a:r>
              <a:rPr sz="1600">
                <a:solidFill>
                  <a:srgbClr val="33422B"/>
                </a:solidFill>
                <a:latin typeface="Calibri"/>
              </a:rPr>
              <a:t>print(...) menampilkan teks/nilai ke layar output, tepat di bawah cell.</a:t>
            </a:r>
          </a:p>
        </p:txBody>
      </p:sp>
      <p:sp>
        <p:nvSpPr>
          <p:cNvPr id="9" name="Rounded Rectangle 8"/>
          <p:cNvSpPr/>
          <p:nvPr/>
        </p:nvSpPr>
        <p:spPr>
          <a:xfrm>
            <a:off x="7071055" y="1417320"/>
            <a:ext cx="4480560" cy="914400"/>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 Ini komentar, tidak dieksekusi sebagai kode</a:t>
            </a:r>
          </a:p>
          <a:p>
            <a:r>
              <a:rPr sz="1300">
                <a:solidFill>
                  <a:srgbClr val="DCEFD1"/>
                </a:solidFill>
                <a:latin typeface="Consolas"/>
              </a:rPr>
              <a:t>print("Halo, Data Analyst!")</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Membaca Error Sederhana</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Error itu wajar dan sering terjadi — bagian penting belajar coding adalah belajar membaca pesan error, bukan menghindarinya.</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Python membaca kode dari atas ke bawah. Kalau memakai variabel yang belum pernah dibuat, muncul Nam…</a:t>
            </a:r>
          </a:p>
          <a:p>
            <a:pPr>
              <a:spcAft>
                <a:spcPts val="800"/>
              </a:spcAft>
            </a:pPr>
            <a:r>
              <a:rPr sz="1600" b="1">
                <a:solidFill>
                  <a:srgbClr val="7C9473"/>
                </a:solidFill>
              </a:rPr>
              <a:t>●  </a:t>
            </a:r>
            <a:r>
              <a:rPr sz="1600">
                <a:solidFill>
                  <a:srgbClr val="33422B"/>
                </a:solidFill>
                <a:latin typeface="Calibri"/>
              </a:rPr>
              <a:t>Pesan error di Colab biasanya menyebutkan jenis error (NameError, SyntaxError, dst) dan baris berap…</a:t>
            </a:r>
          </a:p>
        </p:txBody>
      </p:sp>
      <p:sp>
        <p:nvSpPr>
          <p:cNvPr id="9" name="Rounded Rectangle 8"/>
          <p:cNvSpPr/>
          <p:nvPr/>
        </p:nvSpPr>
        <p:spPr>
          <a:xfrm>
            <a:off x="7071055" y="1417320"/>
            <a:ext cx="4480560" cy="914400"/>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print(nama_pelanggan)</a:t>
            </a:r>
          </a:p>
          <a:p>
            <a:r>
              <a:rPr sz="1300">
                <a:solidFill>
                  <a:srgbClr val="DCEFD1"/>
                </a:solidFill>
                <a:latin typeface="Consolas"/>
              </a:rPr>
              <a:t>NameError: name 'nama_pelanggan' is not defined</a:t>
            </a:r>
          </a:p>
        </p:txBody>
      </p:sp>
      <p:sp>
        <p:nvSpPr>
          <p:cNvPr id="10" name="TextBox 9"/>
          <p:cNvSpPr txBox="1"/>
          <p:nvPr/>
        </p:nvSpPr>
        <p:spPr>
          <a:xfrm>
            <a:off x="640080" y="5989320"/>
            <a:ext cx="10911535" cy="914400"/>
          </a:xfrm>
          <a:prstGeom prst="rect">
            <a:avLst/>
          </a:prstGeom>
          <a:noFill/>
        </p:spPr>
        <p:txBody>
          <a:bodyPr wrap="square">
            <a:spAutoFit/>
          </a:bodyPr>
          <a:lstStyle/>
          <a:p>
            <a:r>
              <a:rPr sz="1300" i="1">
                <a:solidFill>
                  <a:srgbClr val="5A6652"/>
                </a:solidFill>
                <a:latin typeface="Calibri"/>
              </a:rPr>
              <a:t>🖼  Tambahkan gambar: tangkapan layar pesan error Colab dengan anotasi panah menunjuk ke jenis error dan nomor baris.</a:t>
            </a:r>
          </a:p>
        </p:txBody>
      </p:sp>
      <p:sp>
        <p:nvSpPr>
          <p:cNvPr id="11" name="Rectangle 10"/>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3" name="TextBox 12"/>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Variabel dan Tipe Data</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Variabel adalah nama yang dipakai untuk menyimpan sebuah nilai, supaya nilai itu bisa dipanggil lagi tanpa menulis ulang.</a:t>
            </a:r>
          </a:p>
        </p:txBody>
      </p:sp>
      <p:graphicFrame>
        <p:nvGraphicFramePr>
          <p:cNvPr id="8" name="Table 7"/>
          <p:cNvGraphicFramePr>
            <a:graphicFrameLocks noGrp="1"/>
          </p:cNvGraphicFramePr>
          <p:nvPr/>
        </p:nvGraphicFramePr>
        <p:xfrm>
          <a:off x="640080" y="2194560"/>
          <a:ext cx="6766560" cy="2286000"/>
        </p:xfrm>
        <a:graphic>
          <a:graphicData uri="http://schemas.openxmlformats.org/drawingml/2006/table">
            <a:tbl>
              <a:tblPr firstRow="1" bandRow="1">
                <a:tableStyleId>{5C22544A-7EE6-4342-B048-85BDC9FD1C3A}</a:tableStyleId>
              </a:tblPr>
              <a:tblGrid>
                <a:gridCol w="2255520"/>
                <a:gridCol w="2255520"/>
                <a:gridCol w="2255520"/>
              </a:tblGrid>
              <a:tr h="457200">
                <a:tc>
                  <a:txBody>
                    <a:bodyPr/>
                    <a:lstStyle/>
                    <a:p>
                      <a:pPr>
                        <a:defRPr>
                          <a:latin typeface="Calibri"/>
                        </a:defRPr>
                      </a:pPr>
                      <a:r>
                        <a:rPr b="1" sz="1400">
                          <a:solidFill>
                            <a:srgbClr val="FFFFFF"/>
                          </a:solidFill>
                        </a:rPr>
                        <a:t>Tipe</a:t>
                      </a:r>
                    </a:p>
                  </a:txBody>
                  <a:tcPr marL="91440" marT="36576" marB="36576">
                    <a:solidFill>
                      <a:srgbClr val="33422B"/>
                    </a:solidFill>
                  </a:tcPr>
                </a:tc>
                <a:tc>
                  <a:txBody>
                    <a:bodyPr/>
                    <a:lstStyle/>
                    <a:p>
                      <a:pPr>
                        <a:defRPr>
                          <a:latin typeface="Calibri"/>
                        </a:defRPr>
                      </a:pPr>
                      <a:r>
                        <a:rPr b="1" sz="1400">
                          <a:solidFill>
                            <a:srgbClr val="FFFFFF"/>
                          </a:solidFill>
                        </a:rPr>
                        <a:t>Contoh</a:t>
                      </a:r>
                    </a:p>
                  </a:txBody>
                  <a:tcPr marL="91440" marT="36576" marB="36576">
                    <a:solidFill>
                      <a:srgbClr val="33422B"/>
                    </a:solidFill>
                  </a:tcPr>
                </a:tc>
                <a:tc>
                  <a:txBody>
                    <a:bodyPr/>
                    <a:lstStyle/>
                    <a:p>
                      <a:pPr>
                        <a:defRPr>
                          <a:latin typeface="Calibri"/>
                        </a:defRPr>
                      </a:pPr>
                      <a:r>
                        <a:rPr b="1" sz="1400">
                          <a:solidFill>
                            <a:srgbClr val="FFFFFF"/>
                          </a:solidFill>
                        </a:rPr>
                        <a:t>Keterangan</a:t>
                      </a:r>
                    </a:p>
                  </a:txBody>
                  <a:tcPr marL="91440" marT="36576" marB="36576">
                    <a:solidFill>
                      <a:srgbClr val="33422B"/>
                    </a:solidFill>
                  </a:tcPr>
                </a:tc>
              </a:tr>
              <a:tr h="457200">
                <a:tc>
                  <a:txBody>
                    <a:bodyPr/>
                    <a:lstStyle/>
                    <a:p>
                      <a:pPr>
                        <a:defRPr>
                          <a:latin typeface="Calibri"/>
                        </a:defRPr>
                      </a:pPr>
                      <a:r>
                        <a:rPr sz="1300">
                          <a:solidFill>
                            <a:srgbClr val="33422B"/>
                          </a:solidFill>
                        </a:rPr>
                        <a:t>str</a:t>
                      </a:r>
                    </a:p>
                  </a:txBody>
                  <a:tcPr marL="91440" marT="27432" marB="27432">
                    <a:solidFill>
                      <a:srgbClr val="FFFFFF"/>
                    </a:solidFill>
                  </a:tcPr>
                </a:tc>
                <a:tc>
                  <a:txBody>
                    <a:bodyPr/>
                    <a:lstStyle/>
                    <a:p>
                      <a:pPr>
                        <a:defRPr>
                          <a:latin typeface="Calibri"/>
                        </a:defRPr>
                      </a:pPr>
                      <a:r>
                        <a:rPr sz="1300">
                          <a:solidFill>
                            <a:srgbClr val="33422B"/>
                          </a:solidFill>
                        </a:rPr>
                        <a:t>"Alya"</a:t>
                      </a:r>
                    </a:p>
                  </a:txBody>
                  <a:tcPr marL="91440" marT="27432" marB="27432">
                    <a:solidFill>
                      <a:srgbClr val="FFFFFF"/>
                    </a:solidFill>
                  </a:tcPr>
                </a:tc>
                <a:tc>
                  <a:txBody>
                    <a:bodyPr/>
                    <a:lstStyle/>
                    <a:p>
                      <a:pPr>
                        <a:defRPr>
                          <a:latin typeface="Calibri"/>
                        </a:defRPr>
                      </a:pPr>
                      <a:r>
                        <a:rPr sz="1300">
                          <a:solidFill>
                            <a:srgbClr val="33422B"/>
                          </a:solidFill>
                        </a:rPr>
                        <a:t>Teks, diapit tanda kutip</a:t>
                      </a:r>
                    </a:p>
                  </a:txBody>
                  <a:tcPr marL="91440" marT="27432" marB="27432">
                    <a:solidFill>
                      <a:srgbClr val="FFFFFF"/>
                    </a:solidFill>
                  </a:tcPr>
                </a:tc>
              </a:tr>
              <a:tr h="457200">
                <a:tc>
                  <a:txBody>
                    <a:bodyPr/>
                    <a:lstStyle/>
                    <a:p>
                      <a:pPr>
                        <a:defRPr>
                          <a:latin typeface="Calibri"/>
                        </a:defRPr>
                      </a:pPr>
                      <a:r>
                        <a:rPr sz="1300">
                          <a:solidFill>
                            <a:srgbClr val="33422B"/>
                          </a:solidFill>
                        </a:rPr>
                        <a:t>int</a:t>
                      </a:r>
                    </a:p>
                  </a:txBody>
                  <a:tcPr marL="91440" marT="27432" marB="27432">
                    <a:solidFill>
                      <a:srgbClr val="E9EFE1"/>
                    </a:solidFill>
                  </a:tcPr>
                </a:tc>
                <a:tc>
                  <a:txBody>
                    <a:bodyPr/>
                    <a:lstStyle/>
                    <a:p>
                      <a:pPr>
                        <a:defRPr>
                          <a:latin typeface="Calibri"/>
                        </a:defRPr>
                      </a:pPr>
                      <a:r>
                        <a:rPr sz="1300">
                          <a:solidFill>
                            <a:srgbClr val="33422B"/>
                          </a:solidFill>
                        </a:rPr>
                        <a:t>25</a:t>
                      </a:r>
                    </a:p>
                  </a:txBody>
                  <a:tcPr marL="91440" marT="27432" marB="27432">
                    <a:solidFill>
                      <a:srgbClr val="E9EFE1"/>
                    </a:solidFill>
                  </a:tcPr>
                </a:tc>
                <a:tc>
                  <a:txBody>
                    <a:bodyPr/>
                    <a:lstStyle/>
                    <a:p>
                      <a:pPr>
                        <a:defRPr>
                          <a:latin typeface="Calibri"/>
                        </a:defRPr>
                      </a:pPr>
                      <a:r>
                        <a:rPr sz="1300">
                          <a:solidFill>
                            <a:srgbClr val="33422B"/>
                          </a:solidFill>
                        </a:rPr>
                        <a:t>Bilangan bulat</a:t>
                      </a:r>
                    </a:p>
                  </a:txBody>
                  <a:tcPr marL="91440" marT="27432" marB="27432">
                    <a:solidFill>
                      <a:srgbClr val="E9EFE1"/>
                    </a:solidFill>
                  </a:tcPr>
                </a:tc>
              </a:tr>
              <a:tr h="457200">
                <a:tc>
                  <a:txBody>
                    <a:bodyPr/>
                    <a:lstStyle/>
                    <a:p>
                      <a:pPr>
                        <a:defRPr>
                          <a:latin typeface="Calibri"/>
                        </a:defRPr>
                      </a:pPr>
                      <a:r>
                        <a:rPr sz="1300">
                          <a:solidFill>
                            <a:srgbClr val="33422B"/>
                          </a:solidFill>
                        </a:rPr>
                        <a:t>float</a:t>
                      </a:r>
                    </a:p>
                  </a:txBody>
                  <a:tcPr marL="91440" marT="27432" marB="27432">
                    <a:solidFill>
                      <a:srgbClr val="FFFFFF"/>
                    </a:solidFill>
                  </a:tcPr>
                </a:tc>
                <a:tc>
                  <a:txBody>
                    <a:bodyPr/>
                    <a:lstStyle/>
                    <a:p>
                      <a:pPr>
                        <a:defRPr>
                          <a:latin typeface="Calibri"/>
                        </a:defRPr>
                      </a:pPr>
                      <a:r>
                        <a:rPr sz="1300">
                          <a:solidFill>
                            <a:srgbClr val="33422B"/>
                          </a:solidFill>
                        </a:rPr>
                        <a:t>87.5</a:t>
                      </a:r>
                    </a:p>
                  </a:txBody>
                  <a:tcPr marL="91440" marT="27432" marB="27432">
                    <a:solidFill>
                      <a:srgbClr val="FFFFFF"/>
                    </a:solidFill>
                  </a:tcPr>
                </a:tc>
                <a:tc>
                  <a:txBody>
                    <a:bodyPr/>
                    <a:lstStyle/>
                    <a:p>
                      <a:pPr>
                        <a:defRPr>
                          <a:latin typeface="Calibri"/>
                        </a:defRPr>
                      </a:pPr>
                      <a:r>
                        <a:rPr sz="1300">
                          <a:solidFill>
                            <a:srgbClr val="33422B"/>
                          </a:solidFill>
                        </a:rPr>
                        <a:t>Bilangan desimal</a:t>
                      </a:r>
                    </a:p>
                  </a:txBody>
                  <a:tcPr marL="91440" marT="27432" marB="27432">
                    <a:solidFill>
                      <a:srgbClr val="FFFFFF"/>
                    </a:solidFill>
                  </a:tcPr>
                </a:tc>
              </a:tr>
              <a:tr h="457200">
                <a:tc>
                  <a:txBody>
                    <a:bodyPr/>
                    <a:lstStyle/>
                    <a:p>
                      <a:pPr>
                        <a:defRPr>
                          <a:latin typeface="Calibri"/>
                        </a:defRPr>
                      </a:pPr>
                      <a:r>
                        <a:rPr sz="1300">
                          <a:solidFill>
                            <a:srgbClr val="33422B"/>
                          </a:solidFill>
                        </a:rPr>
                        <a:t>bool</a:t>
                      </a:r>
                    </a:p>
                  </a:txBody>
                  <a:tcPr marL="91440" marT="27432" marB="27432">
                    <a:solidFill>
                      <a:srgbClr val="E9EFE1"/>
                    </a:solidFill>
                  </a:tcPr>
                </a:tc>
                <a:tc>
                  <a:txBody>
                    <a:bodyPr/>
                    <a:lstStyle/>
                    <a:p>
                      <a:pPr>
                        <a:defRPr>
                          <a:latin typeface="Calibri"/>
                        </a:defRPr>
                      </a:pPr>
                      <a:r>
                        <a:rPr sz="1300">
                          <a:solidFill>
                            <a:srgbClr val="33422B"/>
                          </a:solidFill>
                        </a:rPr>
                        <a:t>True / False</a:t>
                      </a:r>
                    </a:p>
                  </a:txBody>
                  <a:tcPr marL="91440" marT="27432" marB="27432">
                    <a:solidFill>
                      <a:srgbClr val="E9EFE1"/>
                    </a:solidFill>
                  </a:tcPr>
                </a:tc>
                <a:tc>
                  <a:txBody>
                    <a:bodyPr/>
                    <a:lstStyle/>
                    <a:p>
                      <a:pPr>
                        <a:defRPr>
                          <a:latin typeface="Calibri"/>
                        </a:defRPr>
                      </a:pPr>
                      <a:r>
                        <a:rPr sz="1300">
                          <a:solidFill>
                            <a:srgbClr val="33422B"/>
                          </a:solidFill>
                        </a:rPr>
                        <a:t>Benar atau salah</a:t>
                      </a:r>
                    </a:p>
                  </a:txBody>
                  <a:tcPr marL="91440" marT="27432" marB="27432">
                    <a:solidFill>
                      <a:srgbClr val="E9EFE1"/>
                    </a:solidFill>
                  </a:tcPr>
                </a:tc>
              </a:tr>
            </a:tbl>
          </a:graphicData>
        </a:graphic>
      </p:graphicFrame>
      <p:sp>
        <p:nvSpPr>
          <p:cNvPr id="9" name="Rounded Rectangle 8"/>
          <p:cNvSpPr/>
          <p:nvPr/>
        </p:nvSpPr>
        <p:spPr>
          <a:xfrm>
            <a:off x="7071055" y="1417320"/>
            <a:ext cx="4480560" cy="1554480"/>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nama = "Alya"</a:t>
            </a:r>
          </a:p>
          <a:p>
            <a:r>
              <a:rPr sz="1300">
                <a:solidFill>
                  <a:srgbClr val="DCEFD1"/>
                </a:solidFill>
                <a:latin typeface="Consolas"/>
              </a:rPr>
              <a:t>jumlah_pesanan = 25</a:t>
            </a:r>
          </a:p>
          <a:p>
            <a:r>
              <a:rPr sz="1300">
                <a:solidFill>
                  <a:srgbClr val="DCEFD1"/>
                </a:solidFill>
                <a:latin typeface="Consolas"/>
              </a:rPr>
              <a:t>rata_rata_nilai = 87.5</a:t>
            </a:r>
          </a:p>
          <a:p>
            <a:r>
              <a:rPr sz="1300">
                <a:solidFill>
                  <a:srgbClr val="DCEFD1"/>
                </a:solidFill>
                <a:latin typeface="Consolas"/>
              </a:rPr>
              <a:t>aktif = True</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print() dan f-string</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print() menampilkan nilai ke layar. Untuk menggabungkan teks dan variabel dalam satu kalimat, cara paling praktis adalah f-string.</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Huruf f sebelum tanda kutip menandai string itu sebagai f-string.</a:t>
            </a:r>
          </a:p>
          <a:p>
            <a:pPr>
              <a:spcAft>
                <a:spcPts val="800"/>
              </a:spcAft>
            </a:pPr>
            <a:r>
              <a:rPr sz="1600" b="1">
                <a:solidFill>
                  <a:srgbClr val="7C9473"/>
                </a:solidFill>
              </a:rPr>
              <a:t>●  </a:t>
            </a:r>
            <a:r>
              <a:rPr sz="1600">
                <a:solidFill>
                  <a:srgbClr val="33422B"/>
                </a:solidFill>
                <a:latin typeface="Calibri"/>
              </a:rPr>
              <a:t>Bagian di dalam { } otomatis diganti dengan nilai variabelnya saat dijalankan.</a:t>
            </a:r>
          </a:p>
          <a:p>
            <a:pPr>
              <a:spcAft>
                <a:spcPts val="800"/>
              </a:spcAft>
            </a:pPr>
            <a:r>
              <a:rPr sz="1600" b="1">
                <a:solidFill>
                  <a:srgbClr val="7C9473"/>
                </a:solidFill>
              </a:rPr>
              <a:t>●  </a:t>
            </a:r>
            <a:r>
              <a:rPr sz="1600">
                <a:solidFill>
                  <a:srgbClr val="33422B"/>
                </a:solidFill>
                <a:latin typeface="Calibri"/>
              </a:rPr>
              <a:t>Tanpa f-string, harus digabung manual pakai + dan konversi tipe data secara eksplisit — jauh lebih…</a:t>
            </a:r>
          </a:p>
        </p:txBody>
      </p:sp>
      <p:sp>
        <p:nvSpPr>
          <p:cNvPr id="9" name="Rounded Rectangle 8"/>
          <p:cNvSpPr/>
          <p:nvPr/>
        </p:nvSpPr>
        <p:spPr>
          <a:xfrm>
            <a:off x="7071055" y="1417320"/>
            <a:ext cx="4480560" cy="1234439"/>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nama = "Alya"</a:t>
            </a:r>
          </a:p>
          <a:p>
            <a:r>
              <a:rPr sz="1300">
                <a:solidFill>
                  <a:srgbClr val="DCEFD1"/>
                </a:solidFill>
                <a:latin typeface="Consolas"/>
              </a:rPr>
              <a:t>jumlah_pesanan = 25</a:t>
            </a:r>
          </a:p>
          <a:p>
            <a:r>
              <a:rPr sz="1300">
                <a:solidFill>
                  <a:srgbClr val="DCEFD1"/>
                </a:solidFill>
                <a:latin typeface="Consolas"/>
              </a:rPr>
              <a:t>print(f"{nama} memiliki {jumlah_pesanan} pesanan.")</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Operator Dasar</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Operator dipakai untuk melakukan operasi terhadap nilai/variabel.</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Operator aritmatika: + - * / seperti matematika biasa, dengan urutan operasi yang sama (perkalian/p…</a:t>
            </a:r>
          </a:p>
          <a:p>
            <a:pPr>
              <a:spcAft>
                <a:spcPts val="800"/>
              </a:spcAft>
            </a:pPr>
            <a:r>
              <a:rPr sz="1600" b="1">
                <a:solidFill>
                  <a:srgbClr val="7C9473"/>
                </a:solidFill>
              </a:rPr>
              <a:t>●  </a:t>
            </a:r>
            <a:r>
              <a:rPr sz="1600">
                <a:solidFill>
                  <a:srgbClr val="33422B"/>
                </a:solidFill>
                <a:latin typeface="Calibri"/>
              </a:rPr>
              <a:t>Operator perbandingan: &gt; &lt; &gt;= &lt;= == != menghasilkan True atau False — nanti dipakai untuk mengambil…</a:t>
            </a:r>
          </a:p>
        </p:txBody>
      </p:sp>
      <p:sp>
        <p:nvSpPr>
          <p:cNvPr id="9" name="Rounded Rectangle 8"/>
          <p:cNvSpPr/>
          <p:nvPr/>
        </p:nvSpPr>
        <p:spPr>
          <a:xfrm>
            <a:off x="7071055" y="1417320"/>
            <a:ext cx="4480560" cy="1554480"/>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harga = 50000</a:t>
            </a:r>
          </a:p>
          <a:p>
            <a:r>
              <a:rPr sz="1300">
                <a:solidFill>
                  <a:srgbClr val="DCEFD1"/>
                </a:solidFill>
                <a:latin typeface="Consolas"/>
              </a:rPr>
              <a:t>jumlah = 3</a:t>
            </a:r>
          </a:p>
          <a:p>
            <a:r>
              <a:rPr sz="1300">
                <a:solidFill>
                  <a:srgbClr val="DCEFD1"/>
                </a:solidFill>
                <a:latin typeface="Consolas"/>
              </a:rPr>
              <a:t>total = harga * jumlah      # 150000, operator aritmatika</a:t>
            </a:r>
          </a:p>
          <a:p>
            <a:r>
              <a:rPr sz="1300">
                <a:solidFill>
                  <a:srgbClr val="DCEFD1"/>
                </a:solidFill>
                <a:latin typeface="Consolas"/>
              </a:rPr>
              <a:t>diskon_berlaku = total &gt; 100000   # True, operator perbandingan</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List: Menyimpan Data Berurutan</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List dipakai untuk menyimpan sekumpulan data yang urutannya penting, semuanya biasanya sejenis.</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List ditulis dengan tanda kurung siku [ ], tiap item dipisah koma.</a:t>
            </a:r>
          </a:p>
          <a:p>
            <a:pPr>
              <a:spcAft>
                <a:spcPts val="800"/>
              </a:spcAft>
            </a:pPr>
            <a:r>
              <a:rPr sz="1600" b="1">
                <a:solidFill>
                  <a:srgbClr val="7C9473"/>
                </a:solidFill>
              </a:rPr>
              <a:t>●  </a:t>
            </a:r>
            <a:r>
              <a:rPr sz="1600">
                <a:solidFill>
                  <a:srgbClr val="33422B"/>
                </a:solidFill>
                <a:latin typeface="Calibri"/>
              </a:rPr>
              <a:t>Tiap item punya posisi/index, dimulai dari 0 (bukan 1) — jadi kategori[0] adalah item pertama, kate…</a:t>
            </a:r>
          </a:p>
          <a:p>
            <a:pPr>
              <a:spcAft>
                <a:spcPts val="800"/>
              </a:spcAft>
            </a:pPr>
            <a:r>
              <a:rPr sz="1600" b="1">
                <a:solidFill>
                  <a:srgbClr val="7C9473"/>
                </a:solidFill>
              </a:rPr>
              <a:t>●  </a:t>
            </a:r>
            <a:r>
              <a:rPr sz="1600">
                <a:solidFill>
                  <a:srgbClr val="33422B"/>
                </a:solidFill>
                <a:latin typeface="Calibri"/>
              </a:rPr>
              <a:t>Analoginya seperti rak sepatu bernomor: rak nomor 0 berisi barang pertama, bukan rak nomor 1.</a:t>
            </a:r>
          </a:p>
        </p:txBody>
      </p:sp>
      <p:sp>
        <p:nvSpPr>
          <p:cNvPr id="9" name="Rounded Rectangle 8"/>
          <p:cNvSpPr/>
          <p:nvPr/>
        </p:nvSpPr>
        <p:spPr>
          <a:xfrm>
            <a:off x="7071055" y="1417320"/>
            <a:ext cx="4480560" cy="1234439"/>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kategori = ["Elektronik", "Fashion", "Makanan"]</a:t>
            </a:r>
          </a:p>
          <a:p>
            <a:r>
              <a:rPr sz="1300">
                <a:solidFill>
                  <a:srgbClr val="DCEFD1"/>
                </a:solidFill>
                <a:latin typeface="Consolas"/>
              </a:rPr>
              <a:t>print(kategori[0])   # "Elektronik"</a:t>
            </a:r>
          </a:p>
          <a:p>
            <a:r>
              <a:rPr sz="1300">
                <a:solidFill>
                  <a:srgbClr val="DCEFD1"/>
                </a:solidFill>
                <a:latin typeface="Consolas"/>
              </a:rPr>
              <a:t>print(kategori[1])   # "Fashion"</a:t>
            </a:r>
          </a:p>
        </p:txBody>
      </p:sp>
      <p:sp>
        <p:nvSpPr>
          <p:cNvPr id="10" name="TextBox 9"/>
          <p:cNvSpPr txBox="1"/>
          <p:nvPr/>
        </p:nvSpPr>
        <p:spPr>
          <a:xfrm>
            <a:off x="640080" y="5989320"/>
            <a:ext cx="10911535" cy="914400"/>
          </a:xfrm>
          <a:prstGeom prst="rect">
            <a:avLst/>
          </a:prstGeom>
          <a:noFill/>
        </p:spPr>
        <p:txBody>
          <a:bodyPr wrap="square">
            <a:spAutoFit/>
          </a:bodyPr>
          <a:lstStyle/>
          <a:p>
            <a:r>
              <a:rPr sz="1300" i="1">
                <a:solidFill>
                  <a:srgbClr val="5A6652"/>
                </a:solidFill>
                <a:latin typeface="Calibri"/>
              </a:rPr>
              <a:t>🖼  Tambahkan gambar: ilustrasi rak dengan 3 kotak berlabel index 0, 1, 2 berisi "Elektronik", "Fashion", "Makanan".</a:t>
            </a:r>
          </a:p>
        </p:txBody>
      </p:sp>
      <p:sp>
        <p:nvSpPr>
          <p:cNvPr id="11" name="Rectangle 10"/>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3" name="TextBox 12"/>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Dictionary: Menyimpan Data Berpasangan</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6766560" cy="914400"/>
          </a:xfrm>
          <a:prstGeom prst="rect">
            <a:avLst/>
          </a:prstGeom>
          <a:noFill/>
        </p:spPr>
        <p:txBody>
          <a:bodyPr wrap="square">
            <a:spAutoFit/>
          </a:bodyPr>
          <a:lstStyle/>
          <a:p>
            <a:r>
              <a:rPr sz="1700" i="0">
                <a:solidFill>
                  <a:srgbClr val="33422B"/>
                </a:solidFill>
                <a:latin typeface="Calibri"/>
              </a:rPr>
              <a:t>Dictionary dipakai untuk menyimpan data yang setiap nilainya punya nama/label sendiri (disebut key), bukan sekadar urutan.</a:t>
            </a:r>
          </a:p>
        </p:txBody>
      </p:sp>
      <p:sp>
        <p:nvSpPr>
          <p:cNvPr id="8" name="TextBox 7"/>
          <p:cNvSpPr txBox="1"/>
          <p:nvPr/>
        </p:nvSpPr>
        <p:spPr>
          <a:xfrm>
            <a:off x="640080" y="2194560"/>
            <a:ext cx="6766560"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Dictionary ditulis dengan kurung kurawal { }, tiap pasangan ditulis key: value.</a:t>
            </a:r>
          </a:p>
          <a:p>
            <a:pPr>
              <a:spcAft>
                <a:spcPts val="800"/>
              </a:spcAft>
            </a:pPr>
            <a:r>
              <a:rPr sz="1600" b="1">
                <a:solidFill>
                  <a:srgbClr val="7C9473"/>
                </a:solidFill>
              </a:rPr>
              <a:t>●  </a:t>
            </a:r>
            <a:r>
              <a:rPr sz="1600">
                <a:solidFill>
                  <a:srgbClr val="33422B"/>
                </a:solidFill>
                <a:latin typeface="Calibri"/>
              </a:rPr>
              <a:t>Mengambil nilai dilakukan lewat nama key-nya, bukan lewat posisi angka seperti list: produk["harga"…</a:t>
            </a:r>
          </a:p>
          <a:p>
            <a:pPr>
              <a:spcAft>
                <a:spcPts val="800"/>
              </a:spcAft>
            </a:pPr>
            <a:r>
              <a:rPr sz="1600" b="1">
                <a:solidFill>
                  <a:srgbClr val="7C9473"/>
                </a:solidFill>
              </a:rPr>
              <a:t>●  </a:t>
            </a:r>
            <a:r>
              <a:rPr sz="1600">
                <a:solidFill>
                  <a:srgbClr val="33422B"/>
                </a:solidFill>
                <a:latin typeface="Calibri"/>
              </a:rPr>
              <a:t>Analoginya seperti KTP: tiap kolom punya label jelas ("Nama", "Alamat"), kita ambil datanya berdasa…</a:t>
            </a:r>
          </a:p>
        </p:txBody>
      </p:sp>
      <p:sp>
        <p:nvSpPr>
          <p:cNvPr id="9" name="Rounded Rectangle 8"/>
          <p:cNvSpPr/>
          <p:nvPr/>
        </p:nvSpPr>
        <p:spPr>
          <a:xfrm>
            <a:off x="7071055" y="1417320"/>
            <a:ext cx="4480560" cy="1234439"/>
          </a:xfrm>
          <a:prstGeom prst="roundRect">
            <a:avLst>
              <a:gd name="adj" fmla="val 6000"/>
            </a:avLst>
          </a:prstGeom>
          <a:solidFill>
            <a:srgbClr val="223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109728" bIns="109728"/>
          <a:lstStyle/>
          <a:p>
            <a:pPr algn="ctr"/>
            <a:r>
              <a:rPr sz="1300">
                <a:solidFill>
                  <a:srgbClr val="DCEFD1"/>
                </a:solidFill>
                <a:latin typeface="Consolas"/>
              </a:rPr>
              <a:t>produk = {"nama": "Headset", "harga": 250000, "stok": 12}</a:t>
            </a:r>
          </a:p>
          <a:p>
            <a:r>
              <a:rPr sz="1300">
                <a:solidFill>
                  <a:srgbClr val="DCEFD1"/>
                </a:solidFill>
                <a:latin typeface="Consolas"/>
              </a:rPr>
              <a:t>print(produk["nama"])    # "Headset"</a:t>
            </a:r>
          </a:p>
          <a:p>
            <a:r>
              <a:rPr sz="1300">
                <a:solidFill>
                  <a:srgbClr val="DCEFD1"/>
                </a:solidFill>
                <a:latin typeface="Consolas"/>
              </a:rPr>
              <a:t>print(produk["harga"])   # 250000</a:t>
            </a:r>
          </a:p>
        </p:txBody>
      </p:sp>
      <p:sp>
        <p:nvSpPr>
          <p:cNvPr id="10" name="Rectangle 9"/>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2" name="TextBox 11"/>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TEORI — 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Kapan Pakai List, Kapan Pakai Dictionary?</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11535" cy="2743200"/>
          </a:xfrm>
          <a:prstGeom prst="rect">
            <a:avLst/>
          </a:prstGeom>
          <a:noFill/>
        </p:spPr>
        <p:txBody>
          <a:bodyPr wrap="square">
            <a:spAutoFit/>
          </a:bodyPr>
          <a:lstStyle/>
          <a:p>
            <a:pPr>
              <a:spcAft>
                <a:spcPts val="800"/>
              </a:spcAft>
            </a:pPr>
            <a:r>
              <a:rPr sz="1600" b="1">
                <a:solidFill>
                  <a:srgbClr val="7C9473"/>
                </a:solidFill>
              </a:rPr>
              <a:t>●  </a:t>
            </a:r>
            <a:r>
              <a:rPr sz="1600">
                <a:solidFill>
                  <a:srgbClr val="33422B"/>
                </a:solidFill>
                <a:latin typeface="Calibri"/>
              </a:rPr>
              <a:t>Pakai list kalau data berupa kumpulan hal sejenis dan urutannya penting — misalnya daftar nama kate…</a:t>
            </a:r>
          </a:p>
          <a:p>
            <a:pPr>
              <a:spcAft>
                <a:spcPts val="800"/>
              </a:spcAft>
            </a:pPr>
            <a:r>
              <a:rPr sz="1600" b="1">
                <a:solidFill>
                  <a:srgbClr val="7C9473"/>
                </a:solidFill>
              </a:rPr>
              <a:t>●  </a:t>
            </a:r>
            <a:r>
              <a:rPr sz="1600">
                <a:solidFill>
                  <a:srgbClr val="33422B"/>
                </a:solidFill>
                <a:latin typeface="Calibri"/>
              </a:rPr>
              <a:t>Pakai dictionary kalau satu data punya beberapa atribut berbeda yang masing-masing perlu nama jelas…</a:t>
            </a:r>
          </a:p>
          <a:p>
            <a:pPr>
              <a:spcAft>
                <a:spcPts val="800"/>
              </a:spcAft>
            </a:pPr>
            <a:r>
              <a:rPr sz="1600" b="1">
                <a:solidFill>
                  <a:srgbClr val="7C9473"/>
                </a:solidFill>
              </a:rPr>
              <a:t>●  </a:t>
            </a:r>
            <a:r>
              <a:rPr sz="1600">
                <a:solidFill>
                  <a:srgbClr val="33422B"/>
                </a:solidFill>
                <a:latin typeface="Calibri"/>
              </a:rPr>
              <a:t>Nanti di pertemuan 3, kita akan lihat bahwa tabel data (DataFrame di Pandas) sebenarnya gabungan da…</a:t>
            </a:r>
          </a:p>
        </p:txBody>
      </p:sp>
      <p:sp>
        <p:nvSpPr>
          <p:cNvPr id="8" name="Rectangle 7"/>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Pertemuan 1 — Kenalan dengan Data Analyst &amp; Python Dasar</a:t>
            </a:r>
          </a:p>
        </p:txBody>
      </p:sp>
      <p:sp>
        <p:nvSpPr>
          <p:cNvPr id="10" name="TextBox 9"/>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7C9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11535" cy="320040"/>
          </a:xfrm>
          <a:prstGeom prst="rect">
            <a:avLst/>
          </a:prstGeom>
          <a:noFill/>
        </p:spPr>
        <p:txBody>
          <a:bodyPr wrap="none">
            <a:spAutoFit/>
          </a:bodyPr>
          <a:lstStyle/>
          <a:p>
            <a:r>
              <a:rPr sz="1300" b="1">
                <a:solidFill>
                  <a:srgbClr val="7C9473"/>
                </a:solidFill>
                <a:latin typeface="Calibri"/>
              </a:rPr>
              <a:t>PERTEMUAN 1 — KENALAN DENGAN DATA ANALYST &amp; PYTHON DASAR</a:t>
            </a:r>
          </a:p>
        </p:txBody>
      </p:sp>
      <p:sp>
        <p:nvSpPr>
          <p:cNvPr id="5" name="TextBox 4"/>
          <p:cNvSpPr txBox="1"/>
          <p:nvPr/>
        </p:nvSpPr>
        <p:spPr>
          <a:xfrm>
            <a:off x="640080" y="566928"/>
            <a:ext cx="10911535" cy="914400"/>
          </a:xfrm>
          <a:prstGeom prst="rect">
            <a:avLst/>
          </a:prstGeom>
          <a:noFill/>
        </p:spPr>
        <p:txBody>
          <a:bodyPr wrap="square">
            <a:spAutoFit/>
          </a:bodyPr>
          <a:lstStyle/>
          <a:p>
            <a:r>
              <a:rPr sz="2700" b="1">
                <a:solidFill>
                  <a:srgbClr val="33422B"/>
                </a:solidFill>
                <a:latin typeface="Poppins"/>
              </a:rPr>
              <a:t>Rangkuman &amp; Istilah Penting</a:t>
            </a:r>
          </a:p>
        </p:txBody>
      </p:sp>
      <p:sp>
        <p:nvSpPr>
          <p:cNvPr id="6" name="Rectangle 5"/>
          <p:cNvSpPr/>
          <p:nvPr/>
        </p:nvSpPr>
        <p:spPr>
          <a:xfrm>
            <a:off x="640080" y="1188720"/>
            <a:ext cx="1005840" cy="381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11535" cy="914400"/>
          </a:xfrm>
          <a:prstGeom prst="rect">
            <a:avLst/>
          </a:prstGeom>
          <a:noFill/>
        </p:spPr>
        <p:txBody>
          <a:bodyPr wrap="square">
            <a:spAutoFit/>
          </a:bodyPr>
          <a:lstStyle/>
          <a:p>
            <a:r>
              <a:rPr sz="1600" i="0">
                <a:solidFill>
                  <a:srgbClr val="33422B"/>
                </a:solidFill>
                <a:latin typeface="Calibri"/>
              </a:rPr>
              <a:t>Data Analyst mengikuti alur pertanyaan → kumpulkan data → bersihkan → analisis → visualisasi → rekomendasi, dengan Python sebagai alat bantu, bukan tujuan akhir. Python menyimpan data dalam variabel; list dipakai untuk urutan data, dictionary dipakai untuk pasangan key: value. Minggu depan kita membuat program yang bi…</a:t>
            </a:r>
          </a:p>
        </p:txBody>
      </p:sp>
      <p:graphicFrame>
        <p:nvGraphicFramePr>
          <p:cNvPr id="8" name="Table 7"/>
          <p:cNvGraphicFramePr>
            <a:graphicFrameLocks noGrp="1"/>
          </p:cNvGraphicFramePr>
          <p:nvPr/>
        </p:nvGraphicFramePr>
        <p:xfrm>
          <a:off x="640080" y="2514600"/>
          <a:ext cx="10911535" cy="3200400"/>
        </p:xfrm>
        <a:graphic>
          <a:graphicData uri="http://schemas.openxmlformats.org/drawingml/2006/table">
            <a:tbl>
              <a:tblPr firstRow="1" bandRow="1">
                <a:tableStyleId>{5C22544A-7EE6-4342-B048-85BDC9FD1C3A}</a:tableStyleId>
              </a:tblPr>
              <a:tblGrid>
                <a:gridCol w="5455767"/>
                <a:gridCol w="5455768"/>
              </a:tblGrid>
              <a:tr h="457200">
                <a:tc>
                  <a:txBody>
                    <a:bodyPr/>
                    <a:lstStyle/>
                    <a:p>
                      <a:pPr>
                        <a:defRPr>
                          <a:latin typeface="Calibri"/>
                        </a:defRPr>
                      </a:pPr>
                      <a:r>
                        <a:rPr b="1" sz="1400">
                          <a:solidFill>
                            <a:srgbClr val="FFFFFF"/>
                          </a:solidFill>
                        </a:rPr>
                        <a:t>Istilah</a:t>
                      </a:r>
                    </a:p>
                  </a:txBody>
                  <a:tcPr marL="91440" marT="36576" marB="36576">
                    <a:solidFill>
                      <a:srgbClr val="33422B"/>
                    </a:solidFill>
                  </a:tcPr>
                </a:tc>
                <a:tc>
                  <a:txBody>
                    <a:bodyPr/>
                    <a:lstStyle/>
                    <a:p>
                      <a:pPr>
                        <a:defRPr>
                          <a:latin typeface="Calibri"/>
                        </a:defRPr>
                      </a:pPr>
                      <a:r>
                        <a:rPr b="1" sz="1400">
                          <a:solidFill>
                            <a:srgbClr val="FFFFFF"/>
                          </a:solidFill>
                        </a:rPr>
                        <a:t>Artinya</a:t>
                      </a:r>
                    </a:p>
                  </a:txBody>
                  <a:tcPr marL="91440" marT="36576" marB="36576">
                    <a:solidFill>
                      <a:srgbClr val="33422B"/>
                    </a:solidFill>
                  </a:tcPr>
                </a:tc>
              </a:tr>
              <a:tr h="457200">
                <a:tc>
                  <a:txBody>
                    <a:bodyPr/>
                    <a:lstStyle/>
                    <a:p>
                      <a:pPr>
                        <a:defRPr>
                          <a:latin typeface="Calibri"/>
                        </a:defRPr>
                      </a:pPr>
                      <a:r>
                        <a:rPr sz="1300">
                          <a:solidFill>
                            <a:srgbClr val="33422B"/>
                          </a:solidFill>
                        </a:rPr>
                        <a:t>Data Analyst</a:t>
                      </a:r>
                    </a:p>
                  </a:txBody>
                  <a:tcPr marL="91440" marT="27432" marB="27432">
                    <a:solidFill>
                      <a:srgbClr val="FFFFFF"/>
                    </a:solidFill>
                  </a:tcPr>
                </a:tc>
                <a:tc>
                  <a:txBody>
                    <a:bodyPr/>
                    <a:lstStyle/>
                    <a:p>
                      <a:pPr>
                        <a:defRPr>
                          <a:latin typeface="Calibri"/>
                        </a:defRPr>
                      </a:pPr>
                      <a:r>
                        <a:rPr sz="1300">
                          <a:solidFill>
                            <a:srgbClr val="33422B"/>
                          </a:solidFill>
                        </a:rPr>
                        <a:t>Orang yang mengubah data mentah menjadi insight untuk penga…</a:t>
                      </a:r>
                    </a:p>
                  </a:txBody>
                  <a:tcPr marL="91440" marT="27432" marB="27432">
                    <a:solidFill>
                      <a:srgbClr val="FFFFFF"/>
                    </a:solidFill>
                  </a:tcPr>
                </a:tc>
              </a:tr>
              <a:tr h="457200">
                <a:tc>
                  <a:txBody>
                    <a:bodyPr/>
                    <a:lstStyle/>
                    <a:p>
                      <a:pPr>
                        <a:defRPr>
                          <a:latin typeface="Calibri"/>
                        </a:defRPr>
                      </a:pPr>
                      <a:r>
                        <a:rPr sz="1300">
                          <a:solidFill>
                            <a:srgbClr val="33422B"/>
                          </a:solidFill>
                        </a:rPr>
                        <a:t>Insight</a:t>
                      </a:r>
                    </a:p>
                  </a:txBody>
                  <a:tcPr marL="91440" marT="27432" marB="27432">
                    <a:solidFill>
                      <a:srgbClr val="E9EFE1"/>
                    </a:solidFill>
                  </a:tcPr>
                </a:tc>
                <a:tc>
                  <a:txBody>
                    <a:bodyPr/>
                    <a:lstStyle/>
                    <a:p>
                      <a:pPr>
                        <a:defRPr>
                          <a:latin typeface="Calibri"/>
                        </a:defRPr>
                      </a:pPr>
                      <a:r>
                        <a:rPr sz="1300">
                          <a:solidFill>
                            <a:srgbClr val="33422B"/>
                          </a:solidFill>
                        </a:rPr>
                        <a:t>Temuan bermakna hasil olahan data, bukan sekadar angka ment…</a:t>
                      </a:r>
                    </a:p>
                  </a:txBody>
                  <a:tcPr marL="91440" marT="27432" marB="27432">
                    <a:solidFill>
                      <a:srgbClr val="E9EFE1"/>
                    </a:solidFill>
                  </a:tcPr>
                </a:tc>
              </a:tr>
              <a:tr h="457200">
                <a:tc>
                  <a:txBody>
                    <a:bodyPr/>
                    <a:lstStyle/>
                    <a:p>
                      <a:pPr>
                        <a:defRPr>
                          <a:latin typeface="Calibri"/>
                        </a:defRPr>
                      </a:pPr>
                      <a:r>
                        <a:rPr sz="1300">
                          <a:solidFill>
                            <a:srgbClr val="33422B"/>
                          </a:solidFill>
                        </a:rPr>
                        <a:t>Google Colab</a:t>
                      </a:r>
                    </a:p>
                  </a:txBody>
                  <a:tcPr marL="91440" marT="27432" marB="27432">
                    <a:solidFill>
                      <a:srgbClr val="FFFFFF"/>
                    </a:solidFill>
                  </a:tcPr>
                </a:tc>
                <a:tc>
                  <a:txBody>
                    <a:bodyPr/>
                    <a:lstStyle/>
                    <a:p>
                      <a:pPr>
                        <a:defRPr>
                          <a:latin typeface="Calibri"/>
                        </a:defRPr>
                      </a:pPr>
                      <a:r>
                        <a:rPr sz="1300">
                          <a:solidFill>
                            <a:srgbClr val="33422B"/>
                          </a:solidFill>
                        </a:rPr>
                        <a:t>Layanan notebook Python berbasis browser dari Google, tanpa…</a:t>
                      </a:r>
                    </a:p>
                  </a:txBody>
                  <a:tcPr marL="91440" marT="27432" marB="27432">
                    <a:solidFill>
                      <a:srgbClr val="FFFFFF"/>
                    </a:solidFill>
                  </a:tcPr>
                </a:tc>
              </a:tr>
              <a:tr h="457200">
                <a:tc>
                  <a:txBody>
                    <a:bodyPr/>
                    <a:lstStyle/>
                    <a:p>
                      <a:pPr>
                        <a:defRPr>
                          <a:latin typeface="Calibri"/>
                        </a:defRPr>
                      </a:pPr>
                      <a:r>
                        <a:rPr sz="1300">
                          <a:solidFill>
                            <a:srgbClr val="33422B"/>
                          </a:solidFill>
                        </a:rPr>
                        <a:t>Cell</a:t>
                      </a:r>
                    </a:p>
                  </a:txBody>
                  <a:tcPr marL="91440" marT="27432" marB="27432">
                    <a:solidFill>
                      <a:srgbClr val="E9EFE1"/>
                    </a:solidFill>
                  </a:tcPr>
                </a:tc>
                <a:tc>
                  <a:txBody>
                    <a:bodyPr/>
                    <a:lstStyle/>
                    <a:p>
                      <a:pPr>
                        <a:defRPr>
                          <a:latin typeface="Calibri"/>
                        </a:defRPr>
                      </a:pPr>
                      <a:r>
                        <a:rPr sz="1300">
                          <a:solidFill>
                            <a:srgbClr val="33422B"/>
                          </a:solidFill>
                        </a:rPr>
                        <a:t>Blok kode atau teks di dalam notebook Colab</a:t>
                      </a:r>
                    </a:p>
                  </a:txBody>
                  <a:tcPr marL="91440" marT="27432" marB="27432">
                    <a:solidFill>
                      <a:srgbClr val="E9EFE1"/>
                    </a:solidFill>
                  </a:tcPr>
                </a:tc>
              </a:tr>
              <a:tr h="457200">
                <a:tc>
                  <a:txBody>
                    <a:bodyPr/>
                    <a:lstStyle/>
                    <a:p>
                      <a:pPr>
                        <a:defRPr>
                          <a:latin typeface="Calibri"/>
                        </a:defRPr>
                      </a:pPr>
                      <a:r>
                        <a:rPr sz="1300">
                          <a:solidFill>
                            <a:srgbClr val="33422B"/>
                          </a:solidFill>
                        </a:rPr>
                        <a:t>Variabel</a:t>
                      </a:r>
                    </a:p>
                  </a:txBody>
                  <a:tcPr marL="91440" marT="27432" marB="27432">
                    <a:solidFill>
                      <a:srgbClr val="FFFFFF"/>
                    </a:solidFill>
                  </a:tcPr>
                </a:tc>
                <a:tc>
                  <a:txBody>
                    <a:bodyPr/>
                    <a:lstStyle/>
                    <a:p>
                      <a:pPr>
                        <a:defRPr>
                          <a:latin typeface="Calibri"/>
                        </a:defRPr>
                      </a:pPr>
                      <a:r>
                        <a:rPr sz="1300">
                          <a:solidFill>
                            <a:srgbClr val="33422B"/>
                          </a:solidFill>
                        </a:rPr>
                        <a:t>Nama yang dipakai untuk menyimpan sebuah nilai</a:t>
                      </a:r>
                    </a:p>
                  </a:txBody>
                  <a:tcPr marL="91440" marT="27432" marB="27432">
                    <a:solidFill>
                      <a:srgbClr val="FFFFFF"/>
                    </a:solidFill>
                  </a:tcPr>
                </a:tc>
              </a:tr>
              <a:tr h="457200">
                <a:tc>
                  <a:txBody>
                    <a:bodyPr/>
                    <a:lstStyle/>
                    <a:p>
                      <a:pPr>
                        <a:defRPr>
                          <a:latin typeface="Calibri"/>
                        </a:defRPr>
                      </a:pPr>
                      <a:r>
                        <a:rPr sz="1300">
                          <a:solidFill>
                            <a:srgbClr val="33422B"/>
                          </a:solidFill>
                        </a:rPr>
                        <a:t>f-string</a:t>
                      </a:r>
                    </a:p>
                  </a:txBody>
                  <a:tcPr marL="91440" marT="27432" marB="27432">
                    <a:solidFill>
                      <a:srgbClr val="E9EFE1"/>
                    </a:solidFill>
                  </a:tcPr>
                </a:tc>
                <a:tc>
                  <a:txBody>
                    <a:bodyPr/>
                    <a:lstStyle/>
                    <a:p>
                      <a:pPr>
                        <a:defRPr>
                          <a:latin typeface="Calibri"/>
                        </a:defRPr>
                      </a:pPr>
                      <a:r>
                        <a:rPr sz="1300">
                          <a:solidFill>
                            <a:srgbClr val="33422B"/>
                          </a:solidFill>
                        </a:rPr>
                        <a:t>Cara menyisipkan variabel ke dalam teks memakai f"..." dan…</a:t>
                      </a:r>
                    </a:p>
                  </a:txBody>
                  <a:tcPr marL="91440" marT="27432" marB="27432">
                    <a:solidFill>
                      <a:srgbClr val="E9EFE1"/>
                    </a:solidFill>
                  </a:tcPr>
                </a:tc>
              </a:tr>
            </a:tbl>
          </a:graphicData>
        </a:graphic>
      </p:graphicFrame>
      <p:sp>
        <p:nvSpPr>
          <p:cNvPr id="9" name="Rectangle 8"/>
          <p:cNvSpPr/>
          <p:nvPr/>
        </p:nvSpPr>
        <p:spPr>
          <a:xfrm>
            <a:off x="640080" y="6355080"/>
            <a:ext cx="10911535" cy="12700"/>
          </a:xfrm>
          <a:prstGeom prst="rect">
            <a:avLst/>
          </a:prstGeom>
          <a:solidFill>
            <a:srgbClr val="C9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37376"/>
            <a:ext cx="10362895" cy="274320"/>
          </a:xfrm>
          <a:prstGeom prst="rect">
            <a:avLst/>
          </a:prstGeom>
          <a:noFill/>
        </p:spPr>
        <p:txBody>
          <a:bodyPr wrap="none">
            <a:spAutoFit/>
          </a:bodyPr>
          <a:lstStyle/>
          <a:p>
            <a:r>
              <a:rPr sz="1100">
                <a:solidFill>
                  <a:srgbClr val="5A6652"/>
                </a:solidFill>
                <a:latin typeface="Calibri"/>
              </a:rPr>
              <a:t>Data Analyst UNSIKA — detail lengkap: README.md pertemuan ini</a:t>
            </a:r>
          </a:p>
        </p:txBody>
      </p:sp>
      <p:sp>
        <p:nvSpPr>
          <p:cNvPr id="11" name="TextBox 10"/>
          <p:cNvSpPr txBox="1"/>
          <p:nvPr/>
        </p:nvSpPr>
        <p:spPr>
          <a:xfrm>
            <a:off x="11185855" y="6437376"/>
            <a:ext cx="457200" cy="274320"/>
          </a:xfrm>
          <a:prstGeom prst="rect">
            <a:avLst/>
          </a:prstGeom>
          <a:noFill/>
        </p:spPr>
        <p:txBody>
          <a:bodyPr wrap="none">
            <a:spAutoFit/>
          </a:bodyPr>
          <a:lstStyle/>
          <a:p>
            <a:pPr algn="r"/>
            <a:r>
              <a:rPr sz="1100" b="1">
                <a:solidFill>
                  <a:srgbClr val="C9A66B"/>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